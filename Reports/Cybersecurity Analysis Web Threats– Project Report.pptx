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7" d="100"/>
          <a:sy n="107" d="100"/>
        </p:scale>
        <p:origin x="384" y="2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135201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6.png"/><Relationship Id="rId7"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5.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1.png"/><Relationship Id="rId7" Type="http://schemas.openxmlformats.org/officeDocument/2006/relationships/image" Target="../media/image25.png"/><Relationship Id="rId12" Type="http://schemas.openxmlformats.org/officeDocument/2006/relationships/image" Target="../media/image30.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24.png"/><Relationship Id="rId11" Type="http://schemas.openxmlformats.org/officeDocument/2006/relationships/image" Target="../media/image29.png"/><Relationship Id="rId5" Type="http://schemas.openxmlformats.org/officeDocument/2006/relationships/image" Target="../media/image23.png"/><Relationship Id="rId10" Type="http://schemas.openxmlformats.org/officeDocument/2006/relationships/image" Target="../media/image28.png"/><Relationship Id="rId4" Type="http://schemas.openxmlformats.org/officeDocument/2006/relationships/image" Target="../media/image22.png"/><Relationship Id="rId9" Type="http://schemas.openxmlformats.org/officeDocument/2006/relationships/image" Target="../media/image27.png"/></Relationships>
</file>

<file path=ppt/slides/_rels/slide6.xml.rels><?xml version="1.0" encoding="UTF-8" standalone="yes"?>
<Relationships xmlns="http://schemas.openxmlformats.org/package/2006/relationships"><Relationship Id="rId3" Type="http://schemas.openxmlformats.org/officeDocument/2006/relationships/image" Target="../media/image31.png"/><Relationship Id="rId7" Type="http://schemas.openxmlformats.org/officeDocument/2006/relationships/image" Target="../media/image34.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33.png"/><Relationship Id="rId4" Type="http://schemas.openxmlformats.org/officeDocument/2006/relationships/image" Target="../media/image32.png"/></Relationships>
</file>

<file path=ppt/slides/_rels/slide7.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 Id="rId9" Type="http://schemas.openxmlformats.org/officeDocument/2006/relationships/image" Target="../media/image41.png"/></Relationships>
</file>

<file path=ppt/slides/_rels/slide8.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42.png"/><Relationship Id="rId7" Type="http://schemas.openxmlformats.org/officeDocument/2006/relationships/image" Target="../media/image45.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36.png"/></Relationships>
</file>

<file path=ppt/slides/_rels/slide9.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image" Target="../media/image47.png"/><Relationship Id="rId7" Type="http://schemas.openxmlformats.org/officeDocument/2006/relationships/image" Target="../media/image50.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36.png"/></Relationships>
</file>

<file path=ppt/slides/_rels/slide10.xml.rels><?xml version="1.0" encoding="UTF-8" standalone="yes"?>
<Relationships xmlns="http://schemas.openxmlformats.org/package/2006/relationships"><Relationship Id="rId3" Type="http://schemas.openxmlformats.org/officeDocument/2006/relationships/image" Target="../media/image52.png"/><Relationship Id="rId7" Type="http://schemas.openxmlformats.org/officeDocument/2006/relationships/image" Target="../media/image55.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image" Target="../media/image36.png"/></Relationships>
</file>

<file path=ppt/slides/_rels/slide11.xml.rels><?xml version="1.0" encoding="UTF-8" standalone="yes"?>
<Relationships xmlns="http://schemas.openxmlformats.org/package/2006/relationships"><Relationship Id="rId3" Type="http://schemas.openxmlformats.org/officeDocument/2006/relationships/image" Target="../media/image56.png"/><Relationship Id="rId7" Type="http://schemas.openxmlformats.org/officeDocument/2006/relationships/image" Target="../media/image60.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7.png"/></Relationships>
</file>

<file path=ppt/slides/_rels/slide12.xml.rels><?xml version="1.0" encoding="UTF-8" standalone="yes"?>
<Relationships xmlns="http://schemas.openxmlformats.org/package/2006/relationships"><Relationship Id="rId8" Type="http://schemas.openxmlformats.org/officeDocument/2006/relationships/image" Target="../media/image66.png"/><Relationship Id="rId3" Type="http://schemas.openxmlformats.org/officeDocument/2006/relationships/image" Target="../media/image61.png"/><Relationship Id="rId7" Type="http://schemas.openxmlformats.org/officeDocument/2006/relationships/image" Target="../media/image65.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64.png"/><Relationship Id="rId5" Type="http://schemas.openxmlformats.org/officeDocument/2006/relationships/image" Target="../media/image63.png"/><Relationship Id="rId4" Type="http://schemas.openxmlformats.org/officeDocument/2006/relationships/image" Target="../media/image62.png"/><Relationship Id="rId9" Type="http://schemas.openxmlformats.org/officeDocument/2006/relationships/image" Target="../media/image67.png"/></Relationships>
</file>

<file path=ppt/slides/_rels/slide13.xml.rels><?xml version="1.0" encoding="UTF-8" standalone="yes"?>
<Relationships xmlns="http://schemas.openxmlformats.org/package/2006/relationships"><Relationship Id="rId8" Type="http://schemas.openxmlformats.org/officeDocument/2006/relationships/image" Target="../media/image73.png"/><Relationship Id="rId13" Type="http://schemas.openxmlformats.org/officeDocument/2006/relationships/image" Target="../media/image78.png"/><Relationship Id="rId3" Type="http://schemas.openxmlformats.org/officeDocument/2006/relationships/image" Target="../media/image68.png"/><Relationship Id="rId7" Type="http://schemas.openxmlformats.org/officeDocument/2006/relationships/image" Target="../media/image72.png"/><Relationship Id="rId12" Type="http://schemas.openxmlformats.org/officeDocument/2006/relationships/image" Target="../media/image77.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71.png"/><Relationship Id="rId11" Type="http://schemas.openxmlformats.org/officeDocument/2006/relationships/image" Target="../media/image76.png"/><Relationship Id="rId5" Type="http://schemas.openxmlformats.org/officeDocument/2006/relationships/image" Target="../media/image70.png"/><Relationship Id="rId10" Type="http://schemas.openxmlformats.org/officeDocument/2006/relationships/image" Target="../media/image75.png"/><Relationship Id="rId4" Type="http://schemas.openxmlformats.org/officeDocument/2006/relationships/image" Target="../media/image69.png"/><Relationship Id="rId9" Type="http://schemas.openxmlformats.org/officeDocument/2006/relationships/image" Target="../media/image74.png"/><Relationship Id="rId14" Type="http://schemas.openxmlformats.org/officeDocument/2006/relationships/image" Target="../media/image79.png"/></Relationships>
</file>

<file path=ppt/slides/_rels/slide14.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120"/>
          </a:solidFill>
          <a:ln/>
        </p:spPr>
      </p:sp>
      <p:sp>
        <p:nvSpPr>
          <p:cNvPr id="3" name="Shape 1"/>
          <p:cNvSpPr/>
          <p:nvPr/>
        </p:nvSpPr>
        <p:spPr>
          <a:xfrm>
            <a:off x="0" y="-708215"/>
            <a:ext cx="12191695" cy="6858000"/>
          </a:xfrm>
          <a:prstGeom prst="rect">
            <a:avLst/>
          </a:prstGeom>
          <a:solidFill>
            <a:srgbClr val="0B1120"/>
          </a:solidFill>
          <a:ln/>
        </p:spPr>
      </p:sp>
      <p:sp>
        <p:nvSpPr>
          <p:cNvPr id="4" name="Shape 2"/>
          <p:cNvSpPr/>
          <p:nvPr/>
        </p:nvSpPr>
        <p:spPr>
          <a:xfrm>
            <a:off x="1218895" y="0"/>
            <a:ext cx="9144" cy="6858000"/>
          </a:xfrm>
          <a:prstGeom prst="rect">
            <a:avLst/>
          </a:prstGeom>
          <a:solidFill>
            <a:srgbClr val="FFFFFF">
              <a:alpha val="3000"/>
            </a:srgbClr>
          </a:solidFill>
          <a:ln/>
        </p:spPr>
      </p:sp>
      <p:sp>
        <p:nvSpPr>
          <p:cNvPr id="5" name="Shape 3"/>
          <p:cNvSpPr/>
          <p:nvPr/>
        </p:nvSpPr>
        <p:spPr>
          <a:xfrm>
            <a:off x="3657600" y="0"/>
            <a:ext cx="9144" cy="6858000"/>
          </a:xfrm>
          <a:prstGeom prst="rect">
            <a:avLst/>
          </a:prstGeom>
          <a:solidFill>
            <a:srgbClr val="FFFFFF">
              <a:alpha val="3000"/>
            </a:srgbClr>
          </a:solidFill>
          <a:ln/>
        </p:spPr>
      </p:sp>
      <p:sp>
        <p:nvSpPr>
          <p:cNvPr id="6" name="Shape 4"/>
          <p:cNvSpPr/>
          <p:nvPr/>
        </p:nvSpPr>
        <p:spPr>
          <a:xfrm>
            <a:off x="6096305" y="0"/>
            <a:ext cx="9144" cy="6858000"/>
          </a:xfrm>
          <a:prstGeom prst="rect">
            <a:avLst/>
          </a:prstGeom>
          <a:solidFill>
            <a:srgbClr val="FFFFFF">
              <a:alpha val="3000"/>
            </a:srgbClr>
          </a:solidFill>
          <a:ln/>
        </p:spPr>
      </p:sp>
      <p:sp>
        <p:nvSpPr>
          <p:cNvPr id="7" name="Shape 5"/>
          <p:cNvSpPr/>
          <p:nvPr/>
        </p:nvSpPr>
        <p:spPr>
          <a:xfrm>
            <a:off x="8534095" y="0"/>
            <a:ext cx="9144" cy="6858000"/>
          </a:xfrm>
          <a:prstGeom prst="rect">
            <a:avLst/>
          </a:prstGeom>
          <a:solidFill>
            <a:srgbClr val="FFFFFF">
              <a:alpha val="3000"/>
            </a:srgbClr>
          </a:solidFill>
          <a:ln/>
        </p:spPr>
      </p:sp>
      <p:sp>
        <p:nvSpPr>
          <p:cNvPr id="8" name="Shape 6"/>
          <p:cNvSpPr/>
          <p:nvPr/>
        </p:nvSpPr>
        <p:spPr>
          <a:xfrm>
            <a:off x="10972800" y="0"/>
            <a:ext cx="9144" cy="6858000"/>
          </a:xfrm>
          <a:prstGeom prst="rect">
            <a:avLst/>
          </a:prstGeom>
          <a:solidFill>
            <a:srgbClr val="FFFFFF">
              <a:alpha val="3000"/>
            </a:srgbClr>
          </a:solidFill>
          <a:ln/>
        </p:spPr>
      </p:sp>
      <p:sp>
        <p:nvSpPr>
          <p:cNvPr id="9" name="Shape 7"/>
          <p:cNvSpPr/>
          <p:nvPr/>
        </p:nvSpPr>
        <p:spPr>
          <a:xfrm>
            <a:off x="0" y="1371600"/>
            <a:ext cx="12191695" cy="9144"/>
          </a:xfrm>
          <a:prstGeom prst="rect">
            <a:avLst/>
          </a:prstGeom>
          <a:solidFill>
            <a:srgbClr val="FFFFFF">
              <a:alpha val="3000"/>
            </a:srgbClr>
          </a:solidFill>
          <a:ln/>
        </p:spPr>
      </p:sp>
      <p:sp>
        <p:nvSpPr>
          <p:cNvPr id="10" name="Shape 8"/>
          <p:cNvSpPr/>
          <p:nvPr/>
        </p:nvSpPr>
        <p:spPr>
          <a:xfrm>
            <a:off x="0" y="2743200"/>
            <a:ext cx="12191695" cy="9144"/>
          </a:xfrm>
          <a:prstGeom prst="rect">
            <a:avLst/>
          </a:prstGeom>
          <a:solidFill>
            <a:srgbClr val="FFFFFF">
              <a:alpha val="3000"/>
            </a:srgbClr>
          </a:solidFill>
          <a:ln/>
        </p:spPr>
      </p:sp>
      <p:sp>
        <p:nvSpPr>
          <p:cNvPr id="11" name="Shape 9"/>
          <p:cNvSpPr/>
          <p:nvPr/>
        </p:nvSpPr>
        <p:spPr>
          <a:xfrm>
            <a:off x="0" y="4114800"/>
            <a:ext cx="12191695" cy="9144"/>
          </a:xfrm>
          <a:prstGeom prst="rect">
            <a:avLst/>
          </a:prstGeom>
          <a:solidFill>
            <a:srgbClr val="FFFFFF">
              <a:alpha val="3000"/>
            </a:srgbClr>
          </a:solidFill>
          <a:ln/>
        </p:spPr>
      </p:sp>
      <p:sp>
        <p:nvSpPr>
          <p:cNvPr id="12" name="Shape 10"/>
          <p:cNvSpPr/>
          <p:nvPr/>
        </p:nvSpPr>
        <p:spPr>
          <a:xfrm>
            <a:off x="0" y="5486400"/>
            <a:ext cx="12191695" cy="9144"/>
          </a:xfrm>
          <a:prstGeom prst="rect">
            <a:avLst/>
          </a:prstGeom>
          <a:solidFill>
            <a:srgbClr val="FFFFFF">
              <a:alpha val="3000"/>
            </a:srgbClr>
          </a:solidFill>
          <a:ln/>
        </p:spPr>
      </p:sp>
      <p:sp>
        <p:nvSpPr>
          <p:cNvPr id="13" name="Shape 11"/>
          <p:cNvSpPr/>
          <p:nvPr/>
        </p:nvSpPr>
        <p:spPr>
          <a:xfrm>
            <a:off x="6001207" y="-952805"/>
            <a:ext cx="7619695" cy="7619695"/>
          </a:xfrm>
          <a:prstGeom prst="ellipse">
            <a:avLst/>
          </a:prstGeom>
          <a:noFill/>
          <a:ln w="25400">
            <a:solidFill>
              <a:srgbClr val="38BDF8">
                <a:alpha val="10000"/>
              </a:srgbClr>
            </a:solidFill>
            <a:prstDash val="solid"/>
          </a:ln>
        </p:spPr>
      </p:sp>
      <p:sp>
        <p:nvSpPr>
          <p:cNvPr id="14" name="Shape 12"/>
          <p:cNvSpPr/>
          <p:nvPr/>
        </p:nvSpPr>
        <p:spPr>
          <a:xfrm>
            <a:off x="7905902" y="952805"/>
            <a:ext cx="3810305" cy="3810305"/>
          </a:xfrm>
          <a:prstGeom prst="ellipse">
            <a:avLst/>
          </a:prstGeom>
          <a:noFill/>
          <a:ln w="12700">
            <a:solidFill>
              <a:srgbClr val="38BDF8">
                <a:alpha val="20000"/>
              </a:srgbClr>
            </a:solidFill>
            <a:prstDash val="solid"/>
          </a:ln>
        </p:spPr>
      </p:sp>
      <p:sp>
        <p:nvSpPr>
          <p:cNvPr id="15" name="Shape 13"/>
          <p:cNvSpPr/>
          <p:nvPr/>
        </p:nvSpPr>
        <p:spPr>
          <a:xfrm>
            <a:off x="8858707" y="1904695"/>
            <a:ext cx="1904695" cy="1904695"/>
          </a:xfrm>
          <a:prstGeom prst="ellipse">
            <a:avLst/>
          </a:prstGeom>
          <a:noFill/>
          <a:ln w="50800">
            <a:solidFill>
              <a:srgbClr val="38BDF8">
                <a:alpha val="10000"/>
              </a:srgbClr>
            </a:solidFill>
            <a:prstDash val="solid"/>
          </a:ln>
        </p:spPr>
      </p:sp>
      <p:sp>
        <p:nvSpPr>
          <p:cNvPr id="16" name="Shape 14"/>
          <p:cNvSpPr/>
          <p:nvPr/>
        </p:nvSpPr>
        <p:spPr>
          <a:xfrm>
            <a:off x="9743846" y="2809951"/>
            <a:ext cx="114300" cy="114300"/>
          </a:xfrm>
          <a:prstGeom prst="ellipse">
            <a:avLst/>
          </a:prstGeom>
          <a:solidFill>
            <a:srgbClr val="38BDF8"/>
          </a:solidFill>
          <a:ln/>
          <a:effectLst>
            <a:outerShdw blurRad="139700" dist="12700" dir="16200000" algn="bl" rotWithShape="0">
              <a:srgbClr val="38BDF8">
                <a:alpha val="60000"/>
              </a:srgbClr>
            </a:outerShdw>
          </a:effectLst>
        </p:spPr>
      </p:sp>
      <p:sp>
        <p:nvSpPr>
          <p:cNvPr id="17" name="Shape 15"/>
          <p:cNvSpPr/>
          <p:nvPr/>
        </p:nvSpPr>
        <p:spPr>
          <a:xfrm>
            <a:off x="7877556" y="1429207"/>
            <a:ext cx="75895" cy="75895"/>
          </a:xfrm>
          <a:prstGeom prst="ellipse">
            <a:avLst/>
          </a:prstGeom>
          <a:solidFill>
            <a:srgbClr val="64748B"/>
          </a:solidFill>
          <a:ln/>
        </p:spPr>
      </p:sp>
      <p:sp>
        <p:nvSpPr>
          <p:cNvPr id="18" name="Shape 16"/>
          <p:cNvSpPr/>
          <p:nvPr/>
        </p:nvSpPr>
        <p:spPr>
          <a:xfrm>
            <a:off x="11182198" y="4286707"/>
            <a:ext cx="57607" cy="57607"/>
          </a:xfrm>
          <a:prstGeom prst="ellipse">
            <a:avLst/>
          </a:prstGeom>
          <a:solidFill>
            <a:srgbClr val="64748B"/>
          </a:solidFill>
          <a:ln/>
        </p:spPr>
      </p:sp>
      <p:sp>
        <p:nvSpPr>
          <p:cNvPr id="19" name="Shape 17"/>
          <p:cNvSpPr/>
          <p:nvPr/>
        </p:nvSpPr>
        <p:spPr>
          <a:xfrm>
            <a:off x="12115800" y="0"/>
            <a:ext cx="75895" cy="6858000"/>
          </a:xfrm>
          <a:prstGeom prst="rect">
            <a:avLst/>
          </a:prstGeom>
          <a:solidFill>
            <a:srgbClr val="2563EB"/>
          </a:solidFill>
          <a:ln/>
        </p:spPr>
      </p:sp>
      <p:sp>
        <p:nvSpPr>
          <p:cNvPr id="20" name="Shape 18"/>
          <p:cNvSpPr/>
          <p:nvPr/>
        </p:nvSpPr>
        <p:spPr>
          <a:xfrm>
            <a:off x="12068251" y="0"/>
            <a:ext cx="9144" cy="6858000"/>
          </a:xfrm>
          <a:prstGeom prst="rect">
            <a:avLst/>
          </a:prstGeom>
          <a:solidFill>
            <a:srgbClr val="374151"/>
          </a:solidFill>
          <a:ln/>
        </p:spPr>
      </p:sp>
      <p:sp>
        <p:nvSpPr>
          <p:cNvPr id="21" name="Shape 19"/>
          <p:cNvSpPr/>
          <p:nvPr/>
        </p:nvSpPr>
        <p:spPr>
          <a:xfrm>
            <a:off x="914400" y="461772"/>
            <a:ext cx="304495" cy="304495"/>
          </a:xfrm>
          <a:prstGeom prst="roundRect">
            <a:avLst>
              <a:gd name="adj" fmla="val 37538"/>
            </a:avLst>
          </a:prstGeom>
          <a:solidFill>
            <a:srgbClr val="1E3A8A"/>
          </a:solidFill>
          <a:ln w="12700">
            <a:solidFill>
              <a:srgbClr val="1D4ED8"/>
            </a:solidFill>
            <a:prstDash val="solid"/>
          </a:ln>
        </p:spPr>
      </p:sp>
      <p:pic>
        <p:nvPicPr>
          <p:cNvPr id="22" name="Image 0" descr="preencoded.png"/>
          <p:cNvPicPr>
            <a:picLocks noChangeAspect="1"/>
          </p:cNvPicPr>
          <p:nvPr/>
        </p:nvPicPr>
        <p:blipFill>
          <a:blip r:embed="rId3"/>
          <a:srcRect/>
          <a:stretch/>
        </p:blipFill>
        <p:spPr>
          <a:xfrm>
            <a:off x="990295" y="538582"/>
            <a:ext cx="152705" cy="152705"/>
          </a:xfrm>
          <a:prstGeom prst="rect">
            <a:avLst/>
          </a:prstGeom>
        </p:spPr>
      </p:pic>
      <p:sp>
        <p:nvSpPr>
          <p:cNvPr id="23" name="Shape 20"/>
          <p:cNvSpPr/>
          <p:nvPr/>
        </p:nvSpPr>
        <p:spPr>
          <a:xfrm>
            <a:off x="914400" y="3595421"/>
            <a:ext cx="761695" cy="57607"/>
          </a:xfrm>
          <a:prstGeom prst="roundRect">
            <a:avLst>
              <a:gd name="adj" fmla="val 1058205"/>
            </a:avLst>
          </a:prstGeom>
          <a:solidFill>
            <a:srgbClr val="38BDF8"/>
          </a:solidFill>
          <a:ln/>
        </p:spPr>
      </p:sp>
      <p:sp>
        <p:nvSpPr>
          <p:cNvPr id="24" name="Text 21"/>
          <p:cNvSpPr txBox="1"/>
          <p:nvPr/>
        </p:nvSpPr>
        <p:spPr>
          <a:xfrm>
            <a:off x="1333195" y="528523"/>
            <a:ext cx="1481328" cy="162763"/>
          </a:xfrm>
          <a:prstGeom prst="rect">
            <a:avLst/>
          </a:prstGeom>
          <a:noFill/>
          <a:ln/>
        </p:spPr>
        <p:txBody>
          <a:bodyPr wrap="square" lIns="0" tIns="0" rIns="0" bIns="0" rtlCol="0" anchor="ctr"/>
          <a:lstStyle/>
          <a:p>
            <a:pPr marL="0" indent="0" algn="l">
              <a:buNone/>
            </a:pPr>
            <a:r>
              <a:rPr lang="en-US" sz="1000" b="1" dirty="0">
                <a:solidFill>
                  <a:srgbClr val="93C5FD"/>
                </a:solidFill>
                <a:latin typeface="Inter" pitchFamily="34" charset="0"/>
                <a:ea typeface="Inter" pitchFamily="34" charset="-122"/>
                <a:cs typeface="Inter" pitchFamily="34" charset="-120"/>
              </a:rPr>
              <a:t>PROJECT REPORT</a:t>
            </a:r>
            <a:endParaRPr lang="en-US" sz="1000" dirty="0"/>
          </a:p>
        </p:txBody>
      </p:sp>
      <p:sp>
        <p:nvSpPr>
          <p:cNvPr id="25" name="Text 22"/>
          <p:cNvSpPr txBox="1"/>
          <p:nvPr/>
        </p:nvSpPr>
        <p:spPr>
          <a:xfrm>
            <a:off x="914400" y="1061618"/>
            <a:ext cx="6658661" cy="2162556"/>
          </a:xfrm>
          <a:prstGeom prst="rect">
            <a:avLst/>
          </a:prstGeom>
          <a:noFill/>
          <a:ln/>
        </p:spPr>
        <p:txBody>
          <a:bodyPr wrap="square" lIns="0" tIns="0" rIns="0" bIns="0" rtlCol="0" anchor="ctr"/>
          <a:lstStyle/>
          <a:p>
            <a:pPr marL="0" indent="0" algn="l">
              <a:buNone/>
            </a:pPr>
            <a:r>
              <a:rPr lang="en-US" sz="4500" b="1" dirty="0">
                <a:solidFill>
                  <a:srgbClr val="FFFFFF"/>
                </a:solidFill>
                <a:latin typeface="Space Grotesk" pitchFamily="34" charset="0"/>
                <a:ea typeface="Space Grotesk" pitchFamily="34" charset="-122"/>
                <a:cs typeface="Space Grotesk" pitchFamily="34" charset="-120"/>
              </a:rPr>
              <a:t>Cybersecurity Analysis: Suspicious Web Threat Interactions</a:t>
            </a:r>
            <a:endParaRPr lang="en-US" sz="4500" dirty="0"/>
          </a:p>
        </p:txBody>
      </p:sp>
      <p:sp>
        <p:nvSpPr>
          <p:cNvPr id="26" name="Text 23"/>
          <p:cNvSpPr txBox="1"/>
          <p:nvPr/>
        </p:nvSpPr>
        <p:spPr>
          <a:xfrm>
            <a:off x="914400" y="3967582"/>
            <a:ext cx="5982005" cy="581558"/>
          </a:xfrm>
          <a:prstGeom prst="rect">
            <a:avLst/>
          </a:prstGeom>
          <a:noFill/>
          <a:ln/>
        </p:spPr>
        <p:txBody>
          <a:bodyPr wrap="square" lIns="0" tIns="0" rIns="0" bIns="0" rtlCol="0" anchor="ctr"/>
          <a:lstStyle/>
          <a:p>
            <a:pPr marL="0" indent="0" algn="l">
              <a:buNone/>
            </a:pPr>
            <a:r>
              <a:rPr lang="en-US" sz="1800" dirty="0">
                <a:solidFill>
                  <a:srgbClr val="D1D5DB"/>
                </a:solidFill>
                <a:latin typeface="Inter" pitchFamily="34" charset="0"/>
                <a:ea typeface="Inter" pitchFamily="34" charset="-122"/>
                <a:cs typeface="Inter" pitchFamily="34" charset="-120"/>
              </a:rPr>
              <a:t>A structured data analytics project identifying high-risk traffic patterns using SQL and AWS CloudWatch logs.</a:t>
            </a:r>
            <a:endParaRPr lang="en-US" sz="1800" dirty="0"/>
          </a:p>
        </p:txBody>
      </p:sp>
      <p:pic>
        <p:nvPicPr>
          <p:cNvPr id="27" name="Image 1" descr="preencoded.png"/>
          <p:cNvPicPr>
            <a:picLocks noChangeAspect="1"/>
          </p:cNvPicPr>
          <p:nvPr/>
        </p:nvPicPr>
        <p:blipFill>
          <a:blip r:embed="rId4"/>
          <a:srcRect/>
          <a:stretch/>
        </p:blipFill>
        <p:spPr>
          <a:xfrm>
            <a:off x="914400" y="5248656"/>
            <a:ext cx="190195" cy="190195"/>
          </a:xfrm>
          <a:prstGeom prst="rect">
            <a:avLst/>
          </a:prstGeom>
        </p:spPr>
      </p:pic>
      <p:sp>
        <p:nvSpPr>
          <p:cNvPr id="28" name="Text 24"/>
          <p:cNvSpPr txBox="1"/>
          <p:nvPr/>
        </p:nvSpPr>
        <p:spPr>
          <a:xfrm>
            <a:off x="1257300" y="5176418"/>
            <a:ext cx="619963" cy="143561"/>
          </a:xfrm>
          <a:prstGeom prst="rect">
            <a:avLst/>
          </a:prstGeom>
          <a:noFill/>
          <a:ln/>
        </p:spPr>
        <p:txBody>
          <a:bodyPr wrap="square" lIns="0" tIns="0" rIns="0" bIns="0" rtlCol="0" anchor="ctr"/>
          <a:lstStyle/>
          <a:p>
            <a:pPr marL="0" indent="0" algn="l">
              <a:buNone/>
            </a:pPr>
            <a:r>
              <a:rPr lang="en-US" sz="900" b="1" dirty="0">
                <a:solidFill>
                  <a:srgbClr val="6B7280"/>
                </a:solidFill>
                <a:latin typeface="Inter" pitchFamily="34" charset="0"/>
                <a:ea typeface="Inter" pitchFamily="34" charset="-122"/>
                <a:cs typeface="Inter" pitchFamily="34" charset="-120"/>
              </a:rPr>
              <a:t>AUTHOR</a:t>
            </a:r>
            <a:endParaRPr lang="en-US" sz="900" dirty="0"/>
          </a:p>
        </p:txBody>
      </p:sp>
      <p:sp>
        <p:nvSpPr>
          <p:cNvPr id="29" name="Text 25"/>
          <p:cNvSpPr txBox="1"/>
          <p:nvPr/>
        </p:nvSpPr>
        <p:spPr>
          <a:xfrm>
            <a:off x="1257300" y="5395874"/>
            <a:ext cx="1843430" cy="200254"/>
          </a:xfrm>
          <a:prstGeom prst="rect">
            <a:avLst/>
          </a:prstGeom>
          <a:noFill/>
          <a:ln/>
        </p:spPr>
        <p:txBody>
          <a:bodyPr wrap="square" lIns="0" tIns="0" rIns="0" bIns="0" rtlCol="0" anchor="ctr"/>
          <a:lstStyle/>
          <a:p>
            <a:pPr marL="0" indent="0" algn="l">
              <a:buNone/>
            </a:pPr>
            <a:r>
              <a:rPr lang="en-US" sz="1300" dirty="0">
                <a:solidFill>
                  <a:srgbClr val="FFFFFF"/>
                </a:solidFill>
                <a:latin typeface="Inter" pitchFamily="34" charset="0"/>
                <a:ea typeface="Inter" pitchFamily="34" charset="-122"/>
                <a:cs typeface="Inter" pitchFamily="34" charset="-120"/>
              </a:rPr>
              <a:t>Pratik </a:t>
            </a:r>
            <a:r>
              <a:rPr lang="en-US" sz="1300" dirty="0" err="1">
                <a:solidFill>
                  <a:srgbClr val="FFFFFF"/>
                </a:solidFill>
                <a:latin typeface="Inter" pitchFamily="34" charset="0"/>
                <a:ea typeface="Inter" pitchFamily="34" charset="-122"/>
                <a:cs typeface="Inter" pitchFamily="34" charset="-120"/>
              </a:rPr>
              <a:t>Sagar|Data</a:t>
            </a:r>
            <a:r>
              <a:rPr lang="en-US" sz="1300" dirty="0">
                <a:solidFill>
                  <a:srgbClr val="FFFFFF"/>
                </a:solidFill>
                <a:latin typeface="Inter" pitchFamily="34" charset="0"/>
                <a:ea typeface="Inter" pitchFamily="34" charset="-122"/>
                <a:cs typeface="Inter" pitchFamily="34" charset="-120"/>
              </a:rPr>
              <a:t> Analytics Intern</a:t>
            </a:r>
            <a:endParaRPr lang="en-US" sz="1300" dirty="0"/>
          </a:p>
        </p:txBody>
      </p:sp>
      <p:pic>
        <p:nvPicPr>
          <p:cNvPr id="33" name="Image 3" descr="preencoded.png"/>
          <p:cNvPicPr>
            <a:picLocks noChangeAspect="1"/>
          </p:cNvPicPr>
          <p:nvPr/>
        </p:nvPicPr>
        <p:blipFill>
          <a:blip r:embed="rId5"/>
          <a:srcRect/>
          <a:stretch/>
        </p:blipFill>
        <p:spPr>
          <a:xfrm>
            <a:off x="914400" y="6010351"/>
            <a:ext cx="190195" cy="190195"/>
          </a:xfrm>
          <a:prstGeom prst="rect">
            <a:avLst/>
          </a:prstGeom>
        </p:spPr>
      </p:pic>
      <p:sp>
        <p:nvSpPr>
          <p:cNvPr id="34" name="Text 28"/>
          <p:cNvSpPr txBox="1"/>
          <p:nvPr/>
        </p:nvSpPr>
        <p:spPr>
          <a:xfrm>
            <a:off x="1257300" y="5939028"/>
            <a:ext cx="962863" cy="143561"/>
          </a:xfrm>
          <a:prstGeom prst="rect">
            <a:avLst/>
          </a:prstGeom>
          <a:noFill/>
          <a:ln/>
        </p:spPr>
        <p:txBody>
          <a:bodyPr wrap="square" lIns="0" tIns="0" rIns="0" bIns="0" rtlCol="0" anchor="ctr"/>
          <a:lstStyle/>
          <a:p>
            <a:pPr marL="0" indent="0" algn="l">
              <a:buNone/>
            </a:pPr>
            <a:r>
              <a:rPr lang="en-US" sz="900" b="1" dirty="0">
                <a:solidFill>
                  <a:srgbClr val="6B7280"/>
                </a:solidFill>
                <a:latin typeface="Inter" pitchFamily="34" charset="0"/>
                <a:ea typeface="Inter" pitchFamily="34" charset="-122"/>
                <a:cs typeface="Inter" pitchFamily="34" charset="-120"/>
              </a:rPr>
              <a:t>DATA SOURCE</a:t>
            </a:r>
            <a:endParaRPr lang="en-US" sz="900" dirty="0"/>
          </a:p>
        </p:txBody>
      </p:sp>
      <p:sp>
        <p:nvSpPr>
          <p:cNvPr id="35" name="Text 29"/>
          <p:cNvSpPr txBox="1"/>
          <p:nvPr/>
        </p:nvSpPr>
        <p:spPr>
          <a:xfrm>
            <a:off x="1257300" y="6157570"/>
            <a:ext cx="2015338" cy="200254"/>
          </a:xfrm>
          <a:prstGeom prst="rect">
            <a:avLst/>
          </a:prstGeom>
          <a:noFill/>
          <a:ln/>
        </p:spPr>
        <p:txBody>
          <a:bodyPr wrap="square" lIns="0" tIns="0" rIns="0" bIns="0" rtlCol="0" anchor="ctr"/>
          <a:lstStyle/>
          <a:p>
            <a:pPr marL="0" indent="0" algn="l">
              <a:buNone/>
            </a:pPr>
            <a:r>
              <a:rPr lang="en-US" sz="1300" dirty="0">
                <a:solidFill>
                  <a:srgbClr val="FFFFFF"/>
                </a:solidFill>
                <a:latin typeface="Inter" pitchFamily="34" charset="0"/>
                <a:ea typeface="Inter" pitchFamily="34" charset="-122"/>
                <a:cs typeface="Inter" pitchFamily="34" charset="-120"/>
              </a:rPr>
              <a:t>AWS CloudWatch Logs</a:t>
            </a:r>
            <a:endParaRPr lang="en-US" sz="1300" dirty="0"/>
          </a:p>
        </p:txBody>
      </p:sp>
      <p:pic>
        <p:nvPicPr>
          <p:cNvPr id="36" name="Image 4" descr="preencoded.png"/>
          <p:cNvPicPr>
            <a:picLocks noChangeAspect="1"/>
          </p:cNvPicPr>
          <p:nvPr/>
        </p:nvPicPr>
        <p:blipFill>
          <a:blip r:embed="rId6"/>
          <a:srcRect l="-1282" r="-1282"/>
          <a:stretch/>
        </p:blipFill>
        <p:spPr>
          <a:xfrm>
            <a:off x="4876495" y="5302136"/>
            <a:ext cx="219456" cy="190195"/>
          </a:xfrm>
          <a:prstGeom prst="rect">
            <a:avLst/>
          </a:prstGeom>
        </p:spPr>
      </p:pic>
      <p:sp>
        <p:nvSpPr>
          <p:cNvPr id="37" name="Text 30"/>
          <p:cNvSpPr txBox="1"/>
          <p:nvPr/>
        </p:nvSpPr>
        <p:spPr>
          <a:xfrm>
            <a:off x="5248656" y="5230813"/>
            <a:ext cx="648310" cy="143561"/>
          </a:xfrm>
          <a:prstGeom prst="rect">
            <a:avLst/>
          </a:prstGeom>
          <a:noFill/>
          <a:ln/>
        </p:spPr>
        <p:txBody>
          <a:bodyPr wrap="square" lIns="0" tIns="0" rIns="0" bIns="0" rtlCol="0" anchor="ctr"/>
          <a:lstStyle/>
          <a:p>
            <a:pPr marL="0" indent="0" algn="l">
              <a:buNone/>
            </a:pPr>
            <a:r>
              <a:rPr lang="en-US" sz="900" b="1" dirty="0">
                <a:solidFill>
                  <a:srgbClr val="6B7280"/>
                </a:solidFill>
                <a:latin typeface="Inter" pitchFamily="34" charset="0"/>
                <a:ea typeface="Inter" pitchFamily="34" charset="-122"/>
                <a:cs typeface="Inter" pitchFamily="34" charset="-120"/>
              </a:rPr>
              <a:t>TOOLING</a:t>
            </a:r>
            <a:endParaRPr lang="en-US" sz="900" dirty="0"/>
          </a:p>
        </p:txBody>
      </p:sp>
      <p:sp>
        <p:nvSpPr>
          <p:cNvPr id="38" name="Text 31"/>
          <p:cNvSpPr txBox="1"/>
          <p:nvPr/>
        </p:nvSpPr>
        <p:spPr>
          <a:xfrm>
            <a:off x="5248656" y="5449355"/>
            <a:ext cx="2262226" cy="200254"/>
          </a:xfrm>
          <a:prstGeom prst="rect">
            <a:avLst/>
          </a:prstGeom>
          <a:noFill/>
          <a:ln/>
        </p:spPr>
        <p:txBody>
          <a:bodyPr wrap="square" lIns="0" tIns="0" rIns="0" bIns="0" rtlCol="0" anchor="ctr"/>
          <a:lstStyle/>
          <a:p>
            <a:pPr marL="0" indent="0" algn="l">
              <a:buNone/>
            </a:pPr>
            <a:r>
              <a:rPr lang="en-US" sz="1300" dirty="0">
                <a:solidFill>
                  <a:srgbClr val="FFFFFF"/>
                </a:solidFill>
                <a:latin typeface="Inter" pitchFamily="34" charset="0"/>
                <a:ea typeface="Inter" pitchFamily="34" charset="-122"/>
                <a:cs typeface="Inter" pitchFamily="34" charset="-120"/>
              </a:rPr>
              <a:t>MySQL Workbench &amp; SQL</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120"/>
          </a:solidFill>
          <a:ln/>
        </p:spPr>
      </p:sp>
      <p:sp>
        <p:nvSpPr>
          <p:cNvPr id="3" name="Shape 1"/>
          <p:cNvSpPr/>
          <p:nvPr/>
        </p:nvSpPr>
        <p:spPr>
          <a:xfrm>
            <a:off x="0" y="0"/>
            <a:ext cx="12191695" cy="6858000"/>
          </a:xfrm>
          <a:prstGeom prst="rect">
            <a:avLst/>
          </a:prstGeom>
          <a:solidFill>
            <a:srgbClr val="0B1120"/>
          </a:solidFill>
          <a:ln/>
        </p:spPr>
      </p:sp>
      <p:sp>
        <p:nvSpPr>
          <p:cNvPr id="4" name="Shape 2"/>
          <p:cNvSpPr/>
          <p:nvPr/>
        </p:nvSpPr>
        <p:spPr>
          <a:xfrm>
            <a:off x="975665" y="0"/>
            <a:ext cx="9144" cy="6858000"/>
          </a:xfrm>
          <a:prstGeom prst="rect">
            <a:avLst/>
          </a:prstGeom>
          <a:solidFill>
            <a:srgbClr val="FFFFFF">
              <a:alpha val="5000"/>
            </a:srgbClr>
          </a:solidFill>
          <a:ln/>
        </p:spPr>
      </p:sp>
      <p:sp>
        <p:nvSpPr>
          <p:cNvPr id="5" name="Shape 3"/>
          <p:cNvSpPr/>
          <p:nvPr/>
        </p:nvSpPr>
        <p:spPr>
          <a:xfrm>
            <a:off x="11216945" y="0"/>
            <a:ext cx="9144" cy="6858000"/>
          </a:xfrm>
          <a:prstGeom prst="rect">
            <a:avLst/>
          </a:prstGeom>
          <a:solidFill>
            <a:srgbClr val="FFFFFF">
              <a:alpha val="5000"/>
            </a:srgbClr>
          </a:solidFill>
          <a:ln/>
        </p:spPr>
      </p:sp>
      <p:sp>
        <p:nvSpPr>
          <p:cNvPr id="6" name="Shape 4"/>
          <p:cNvSpPr/>
          <p:nvPr/>
        </p:nvSpPr>
        <p:spPr>
          <a:xfrm>
            <a:off x="0" y="1028700"/>
            <a:ext cx="12191695" cy="9144"/>
          </a:xfrm>
          <a:prstGeom prst="rect">
            <a:avLst/>
          </a:prstGeom>
          <a:solidFill>
            <a:srgbClr val="FFFFFF">
              <a:alpha val="5000"/>
            </a:srgbClr>
          </a:solidFill>
          <a:ln/>
        </p:spPr>
      </p:sp>
      <p:sp>
        <p:nvSpPr>
          <p:cNvPr id="7" name="Shape 5"/>
          <p:cNvSpPr/>
          <p:nvPr/>
        </p:nvSpPr>
        <p:spPr>
          <a:xfrm>
            <a:off x="0" y="6163056"/>
            <a:ext cx="12191695" cy="9144"/>
          </a:xfrm>
          <a:prstGeom prst="rect">
            <a:avLst/>
          </a:prstGeom>
          <a:solidFill>
            <a:srgbClr val="FFFFFF">
              <a:alpha val="5000"/>
            </a:srgbClr>
          </a:solidFill>
          <a:ln/>
        </p:spPr>
      </p:sp>
      <p:sp>
        <p:nvSpPr>
          <p:cNvPr id="8" name="Shape 6"/>
          <p:cNvSpPr/>
          <p:nvPr/>
        </p:nvSpPr>
        <p:spPr>
          <a:xfrm>
            <a:off x="8534095" y="0"/>
            <a:ext cx="3657600" cy="3657600"/>
          </a:xfrm>
          <a:prstGeom prst="roundRect">
            <a:avLst>
              <a:gd name="adj" fmla="val 25000"/>
            </a:avLst>
          </a:prstGeom>
          <a:solidFill>
            <a:srgbClr val="1E3A8A">
              <a:alpha val="10000"/>
            </a:srgbClr>
          </a:solidFill>
          <a:ln/>
        </p:spPr>
      </p:sp>
      <p:sp>
        <p:nvSpPr>
          <p:cNvPr id="9" name="Text 7"/>
          <p:cNvSpPr txBox="1"/>
          <p:nvPr/>
        </p:nvSpPr>
        <p:spPr>
          <a:xfrm>
            <a:off x="10763926" y="6334352"/>
            <a:ext cx="638251" cy="133502"/>
          </a:xfrm>
          <a:prstGeom prst="rect">
            <a:avLst/>
          </a:prstGeom>
          <a:noFill/>
          <a:ln/>
        </p:spPr>
        <p:txBody>
          <a:bodyPr wrap="square" lIns="0" tIns="0" rIns="0" bIns="0" rtlCol="0" anchor="ctr"/>
          <a:lstStyle/>
          <a:p>
            <a:pPr marL="0" indent="0" algn="l">
              <a:buNone/>
            </a:pPr>
            <a:r>
              <a:rPr lang="en-US" sz="900" dirty="0">
                <a:solidFill>
                  <a:srgbClr val="6B7280"/>
                </a:solidFill>
                <a:latin typeface="ui-monospace" pitchFamily="34" charset="0"/>
                <a:ea typeface="ui-monospace" pitchFamily="34" charset="-122"/>
                <a:cs typeface="ui-monospace" pitchFamily="34" charset="-120"/>
              </a:rPr>
              <a:t>SLIDE 02</a:t>
            </a:r>
            <a:endParaRPr lang="en-US" sz="900" dirty="0"/>
          </a:p>
        </p:txBody>
      </p:sp>
      <p:sp>
        <p:nvSpPr>
          <p:cNvPr id="12" name="Shape 10"/>
          <p:cNvSpPr/>
          <p:nvPr/>
        </p:nvSpPr>
        <p:spPr>
          <a:xfrm>
            <a:off x="609905" y="1485900"/>
            <a:ext cx="10972800" cy="9144"/>
          </a:xfrm>
          <a:prstGeom prst="rect">
            <a:avLst/>
          </a:prstGeom>
          <a:solidFill>
            <a:srgbClr val="1F2937"/>
          </a:solidFill>
          <a:ln/>
        </p:spPr>
      </p:sp>
      <p:pic>
        <p:nvPicPr>
          <p:cNvPr id="13" name="Image 0" descr="preencoded.png"/>
          <p:cNvPicPr>
            <a:picLocks noChangeAspect="1"/>
          </p:cNvPicPr>
          <p:nvPr/>
        </p:nvPicPr>
        <p:blipFill>
          <a:blip r:embed="rId3"/>
          <a:srcRect l="-2512" r="-2512"/>
          <a:stretch/>
        </p:blipFill>
        <p:spPr>
          <a:xfrm>
            <a:off x="609905" y="466344"/>
            <a:ext cx="105156" cy="133502"/>
          </a:xfrm>
          <a:prstGeom prst="rect">
            <a:avLst/>
          </a:prstGeom>
        </p:spPr>
      </p:pic>
      <p:sp>
        <p:nvSpPr>
          <p:cNvPr id="14" name="Shape 11"/>
          <p:cNvSpPr/>
          <p:nvPr/>
        </p:nvSpPr>
        <p:spPr>
          <a:xfrm>
            <a:off x="11391595" y="1181405"/>
            <a:ext cx="75895" cy="75895"/>
          </a:xfrm>
          <a:prstGeom prst="roundRect">
            <a:avLst>
              <a:gd name="adj" fmla="val 1204822"/>
            </a:avLst>
          </a:prstGeom>
          <a:solidFill>
            <a:srgbClr val="374151"/>
          </a:solidFill>
          <a:ln/>
        </p:spPr>
      </p:sp>
      <p:sp>
        <p:nvSpPr>
          <p:cNvPr id="15" name="Shape 12"/>
          <p:cNvSpPr/>
          <p:nvPr/>
        </p:nvSpPr>
        <p:spPr>
          <a:xfrm>
            <a:off x="11505895" y="1181405"/>
            <a:ext cx="75895" cy="75895"/>
          </a:xfrm>
          <a:prstGeom prst="roundRect">
            <a:avLst>
              <a:gd name="adj" fmla="val 1204822"/>
            </a:avLst>
          </a:prstGeom>
          <a:solidFill>
            <a:srgbClr val="374151"/>
          </a:solidFill>
          <a:ln/>
        </p:spPr>
      </p:sp>
      <p:sp>
        <p:nvSpPr>
          <p:cNvPr id="16" name="Text 13"/>
          <p:cNvSpPr txBox="1"/>
          <p:nvPr/>
        </p:nvSpPr>
        <p:spPr>
          <a:xfrm>
            <a:off x="828446" y="457200"/>
            <a:ext cx="1448410" cy="143561"/>
          </a:xfrm>
          <a:prstGeom prst="rect">
            <a:avLst/>
          </a:prstGeom>
          <a:noFill/>
          <a:ln/>
        </p:spPr>
        <p:txBody>
          <a:bodyPr wrap="square" lIns="0" tIns="0" rIns="0" bIns="0" rtlCol="0" anchor="ctr"/>
          <a:lstStyle/>
          <a:p>
            <a:pPr marL="0" indent="0" algn="l">
              <a:buNone/>
            </a:pPr>
            <a:r>
              <a:rPr lang="en-US" sz="900" b="1" dirty="0">
                <a:solidFill>
                  <a:srgbClr val="FFFFFF"/>
                </a:solidFill>
                <a:latin typeface="Inter" pitchFamily="34" charset="0"/>
                <a:ea typeface="Inter" pitchFamily="34" charset="-122"/>
                <a:cs typeface="Inter" pitchFamily="34" charset="-120"/>
              </a:rPr>
              <a:t>PROJECT OVERVIEW</a:t>
            </a:r>
            <a:endParaRPr lang="en-US" sz="900" dirty="0"/>
          </a:p>
        </p:txBody>
      </p:sp>
      <p:sp>
        <p:nvSpPr>
          <p:cNvPr id="17" name="Text 14"/>
          <p:cNvSpPr txBox="1"/>
          <p:nvPr/>
        </p:nvSpPr>
        <p:spPr>
          <a:xfrm>
            <a:off x="609905" y="676656"/>
            <a:ext cx="4696358" cy="581558"/>
          </a:xfrm>
          <a:prstGeom prst="rect">
            <a:avLst/>
          </a:prstGeom>
          <a:noFill/>
          <a:ln/>
        </p:spPr>
        <p:txBody>
          <a:bodyPr wrap="square" lIns="0" tIns="0" rIns="0" bIns="0" rtlCol="0" anchor="ctr"/>
          <a:lstStyle/>
          <a:p>
            <a:pPr marL="0" indent="0" algn="l">
              <a:buNone/>
            </a:pPr>
            <a:r>
              <a:rPr lang="en-US" sz="3600" b="1" dirty="0">
                <a:solidFill>
                  <a:srgbClr val="FFFFFF"/>
                </a:solidFill>
                <a:latin typeface="Space Grotesk" pitchFamily="34" charset="0"/>
                <a:ea typeface="Space Grotesk" pitchFamily="34" charset="-122"/>
                <a:cs typeface="Space Grotesk" pitchFamily="34" charset="-120"/>
              </a:rPr>
              <a:t>Executive Summary</a:t>
            </a:r>
            <a:endParaRPr lang="en-US" sz="3600" dirty="0"/>
          </a:p>
        </p:txBody>
      </p:sp>
      <p:sp>
        <p:nvSpPr>
          <p:cNvPr id="18" name="Text 15"/>
          <p:cNvSpPr txBox="1"/>
          <p:nvPr/>
        </p:nvSpPr>
        <p:spPr>
          <a:xfrm>
            <a:off x="9670694" y="961949"/>
            <a:ext cx="2015338" cy="162763"/>
          </a:xfrm>
          <a:prstGeom prst="rect">
            <a:avLst/>
          </a:prstGeom>
          <a:noFill/>
          <a:ln/>
        </p:spPr>
        <p:txBody>
          <a:bodyPr wrap="square" lIns="0" tIns="0" rIns="0" bIns="0" rtlCol="0" anchor="ctr"/>
          <a:lstStyle/>
          <a:p>
            <a:pPr marL="0" indent="0" algn="r">
              <a:buNone/>
            </a:pPr>
            <a:r>
              <a:rPr lang="en-US" sz="1000" dirty="0">
                <a:solidFill>
                  <a:srgbClr val="9CA3AF"/>
                </a:solidFill>
                <a:latin typeface="Inter" pitchFamily="34" charset="0"/>
                <a:ea typeface="Inter" pitchFamily="34" charset="-122"/>
                <a:cs typeface="Inter" pitchFamily="34" charset="-120"/>
              </a:rPr>
              <a:t>Cybersecurity Analysis Report</a:t>
            </a:r>
            <a:endParaRPr lang="en-US" sz="1000" dirty="0"/>
          </a:p>
        </p:txBody>
      </p:sp>
      <p:sp>
        <p:nvSpPr>
          <p:cNvPr id="19" name="Shape 16"/>
          <p:cNvSpPr/>
          <p:nvPr/>
        </p:nvSpPr>
        <p:spPr>
          <a:xfrm>
            <a:off x="609905" y="1952244"/>
            <a:ext cx="5333695" cy="1923898"/>
          </a:xfrm>
          <a:prstGeom prst="roundRect">
            <a:avLst>
              <a:gd name="adj" fmla="val 2823"/>
            </a:avLst>
          </a:prstGeom>
          <a:solidFill>
            <a:srgbClr val="1E293B">
              <a:alpha val="40000"/>
            </a:srgbClr>
          </a:solidFill>
          <a:ln w="12700">
            <a:solidFill>
              <a:srgbClr val="38BDF8">
                <a:alpha val="20000"/>
              </a:srgbClr>
            </a:solidFill>
            <a:prstDash val="solid"/>
          </a:ln>
        </p:spPr>
      </p:sp>
      <p:sp>
        <p:nvSpPr>
          <p:cNvPr id="20" name="Shape 17"/>
          <p:cNvSpPr/>
          <p:nvPr/>
        </p:nvSpPr>
        <p:spPr>
          <a:xfrm>
            <a:off x="923544" y="2266798"/>
            <a:ext cx="533095" cy="533095"/>
          </a:xfrm>
          <a:prstGeom prst="roundRect">
            <a:avLst>
              <a:gd name="adj" fmla="val 24504"/>
            </a:avLst>
          </a:prstGeom>
          <a:noFill/>
          <a:ln w="12700">
            <a:solidFill>
              <a:srgbClr val="E5E7EB"/>
            </a:solidFill>
            <a:prstDash val="solid"/>
          </a:ln>
        </p:spPr>
      </p:sp>
      <p:pic>
        <p:nvPicPr>
          <p:cNvPr id="21" name="Image 1" descr="preencoded.png"/>
          <p:cNvPicPr>
            <a:picLocks noChangeAspect="1"/>
          </p:cNvPicPr>
          <p:nvPr/>
        </p:nvPicPr>
        <p:blipFill>
          <a:blip r:embed="rId4"/>
          <a:srcRect l="-80" r="-80"/>
          <a:stretch/>
        </p:blipFill>
        <p:spPr>
          <a:xfrm>
            <a:off x="1047902" y="2419502"/>
            <a:ext cx="286207" cy="228600"/>
          </a:xfrm>
          <a:prstGeom prst="rect">
            <a:avLst/>
          </a:prstGeom>
        </p:spPr>
      </p:pic>
      <p:sp>
        <p:nvSpPr>
          <p:cNvPr id="22" name="Text 18"/>
          <p:cNvSpPr txBox="1"/>
          <p:nvPr/>
        </p:nvSpPr>
        <p:spPr>
          <a:xfrm>
            <a:off x="1686154" y="2276856"/>
            <a:ext cx="886054" cy="247802"/>
          </a:xfrm>
          <a:prstGeom prst="rect">
            <a:avLst/>
          </a:prstGeom>
          <a:noFill/>
          <a:ln/>
        </p:spPr>
        <p:txBody>
          <a:bodyPr wrap="square" lIns="0" tIns="0" rIns="0" bIns="0" rtlCol="0" anchor="ctr"/>
          <a:lstStyle/>
          <a:p>
            <a:pPr marL="0" indent="0" algn="l">
              <a:buNone/>
            </a:pPr>
            <a:r>
              <a:rPr lang="en-US" sz="1500" b="1" dirty="0">
                <a:solidFill>
                  <a:srgbClr val="FFFFFF"/>
                </a:solidFill>
                <a:latin typeface="Space Grotesk" pitchFamily="34" charset="0"/>
                <a:ea typeface="Space Grotesk" pitchFamily="34" charset="-122"/>
                <a:cs typeface="Space Grotesk" pitchFamily="34" charset="-120"/>
              </a:rPr>
              <a:t>Context</a:t>
            </a:r>
            <a:endParaRPr lang="en-US" sz="1500" dirty="0"/>
          </a:p>
        </p:txBody>
      </p:sp>
      <p:sp>
        <p:nvSpPr>
          <p:cNvPr id="23" name="Text 19"/>
          <p:cNvSpPr txBox="1"/>
          <p:nvPr/>
        </p:nvSpPr>
        <p:spPr>
          <a:xfrm>
            <a:off x="1686154" y="2667305"/>
            <a:ext cx="3853282" cy="819302"/>
          </a:xfrm>
          <a:prstGeom prst="rect">
            <a:avLst/>
          </a:prstGeom>
          <a:noFill/>
          <a:ln/>
        </p:spPr>
        <p:txBody>
          <a:bodyPr wrap="square" lIns="0" tIns="0" rIns="0" bIns="0" rtlCol="0" anchor="ctr"/>
          <a:lstStyle/>
          <a:p>
            <a:pPr marL="0" indent="0" algn="l">
              <a:buNone/>
            </a:pPr>
            <a:r>
              <a:rPr lang="en-US" sz="1000" dirty="0">
                <a:solidFill>
                  <a:srgbClr val="D1D5DB"/>
                </a:solidFill>
                <a:latin typeface="Inter" pitchFamily="34" charset="0"/>
                <a:ea typeface="Inter" pitchFamily="34" charset="-122"/>
                <a:cs typeface="Inter" pitchFamily="34" charset="-120"/>
              </a:rPr>
              <a:t>With the rapid growth of cloud-based applications, cybersecurity threats have become more frequent and complex. Organizations now rely heavily on real-time traffic monitoring systems.</a:t>
            </a:r>
            <a:endParaRPr lang="en-US" sz="1000" dirty="0"/>
          </a:p>
        </p:txBody>
      </p:sp>
      <p:sp>
        <p:nvSpPr>
          <p:cNvPr id="24" name="Shape 20"/>
          <p:cNvSpPr/>
          <p:nvPr/>
        </p:nvSpPr>
        <p:spPr>
          <a:xfrm>
            <a:off x="6248095" y="1952244"/>
            <a:ext cx="5333695" cy="1923898"/>
          </a:xfrm>
          <a:prstGeom prst="roundRect">
            <a:avLst>
              <a:gd name="adj" fmla="val 2823"/>
            </a:avLst>
          </a:prstGeom>
          <a:solidFill>
            <a:srgbClr val="1E293B">
              <a:alpha val="40000"/>
            </a:srgbClr>
          </a:solidFill>
          <a:ln w="12700">
            <a:solidFill>
              <a:srgbClr val="38BDF8">
                <a:alpha val="20000"/>
              </a:srgbClr>
            </a:solidFill>
            <a:prstDash val="solid"/>
          </a:ln>
        </p:spPr>
      </p:sp>
      <p:sp>
        <p:nvSpPr>
          <p:cNvPr id="25" name="Shape 21"/>
          <p:cNvSpPr/>
          <p:nvPr/>
        </p:nvSpPr>
        <p:spPr>
          <a:xfrm>
            <a:off x="6562649" y="2266798"/>
            <a:ext cx="533095" cy="533095"/>
          </a:xfrm>
          <a:prstGeom prst="roundRect">
            <a:avLst>
              <a:gd name="adj" fmla="val 24504"/>
            </a:avLst>
          </a:prstGeom>
          <a:noFill/>
          <a:ln w="12700">
            <a:solidFill>
              <a:srgbClr val="E5E7EB"/>
            </a:solidFill>
            <a:prstDash val="solid"/>
          </a:ln>
        </p:spPr>
      </p:sp>
      <p:pic>
        <p:nvPicPr>
          <p:cNvPr id="26" name="Image 2" descr="preencoded.png"/>
          <p:cNvPicPr>
            <a:picLocks noChangeAspect="1"/>
          </p:cNvPicPr>
          <p:nvPr/>
        </p:nvPicPr>
        <p:blipFill>
          <a:blip r:embed="rId5"/>
          <a:srcRect/>
          <a:stretch/>
        </p:blipFill>
        <p:spPr>
          <a:xfrm>
            <a:off x="6715354" y="2419502"/>
            <a:ext cx="228600" cy="228600"/>
          </a:xfrm>
          <a:prstGeom prst="rect">
            <a:avLst/>
          </a:prstGeom>
        </p:spPr>
      </p:pic>
      <p:sp>
        <p:nvSpPr>
          <p:cNvPr id="27" name="Text 22"/>
          <p:cNvSpPr txBox="1"/>
          <p:nvPr/>
        </p:nvSpPr>
        <p:spPr>
          <a:xfrm>
            <a:off x="7324344" y="2276856"/>
            <a:ext cx="1429207" cy="247802"/>
          </a:xfrm>
          <a:prstGeom prst="rect">
            <a:avLst/>
          </a:prstGeom>
          <a:noFill/>
          <a:ln/>
        </p:spPr>
        <p:txBody>
          <a:bodyPr wrap="square" lIns="0" tIns="0" rIns="0" bIns="0" rtlCol="0" anchor="ctr"/>
          <a:lstStyle/>
          <a:p>
            <a:pPr marL="0" indent="0" algn="l">
              <a:buNone/>
            </a:pPr>
            <a:r>
              <a:rPr lang="en-US" sz="1500" b="1" dirty="0">
                <a:solidFill>
                  <a:srgbClr val="FFFFFF"/>
                </a:solidFill>
                <a:latin typeface="Space Grotesk" pitchFamily="34" charset="0"/>
                <a:ea typeface="Space Grotesk" pitchFamily="34" charset="-122"/>
                <a:cs typeface="Space Grotesk" pitchFamily="34" charset="-120"/>
              </a:rPr>
              <a:t>Project Scope</a:t>
            </a:r>
            <a:endParaRPr lang="en-US" sz="1500" dirty="0"/>
          </a:p>
        </p:txBody>
      </p:sp>
      <p:sp>
        <p:nvSpPr>
          <p:cNvPr id="28" name="Text 23"/>
          <p:cNvSpPr txBox="1"/>
          <p:nvPr/>
        </p:nvSpPr>
        <p:spPr>
          <a:xfrm>
            <a:off x="7324344" y="2667305"/>
            <a:ext cx="3758184" cy="819302"/>
          </a:xfrm>
          <a:prstGeom prst="rect">
            <a:avLst/>
          </a:prstGeom>
          <a:noFill/>
          <a:ln/>
        </p:spPr>
        <p:txBody>
          <a:bodyPr wrap="square" lIns="0" tIns="0" rIns="0" bIns="0" rtlCol="0" anchor="ctr"/>
          <a:lstStyle/>
          <a:p>
            <a:pPr marL="0" indent="0" algn="l">
              <a:buNone/>
            </a:pPr>
            <a:r>
              <a:rPr lang="en-US" sz="1000" dirty="0">
                <a:solidFill>
                  <a:srgbClr val="D1D5DB"/>
                </a:solidFill>
                <a:latin typeface="Inter" pitchFamily="34" charset="0"/>
                <a:ea typeface="Inter" pitchFamily="34" charset="-122"/>
                <a:cs typeface="Inter" pitchFamily="34" charset="-120"/>
              </a:rPr>
              <a:t>Focuses on analyzing web traffic logs collected via AWS CloudWatch to identify suspicious web interactions using SQL-based data analytics techniques rather than machine learning models.</a:t>
            </a:r>
            <a:endParaRPr lang="en-US" sz="1000" dirty="0"/>
          </a:p>
        </p:txBody>
      </p:sp>
      <p:sp>
        <p:nvSpPr>
          <p:cNvPr id="29" name="Shape 24"/>
          <p:cNvSpPr/>
          <p:nvPr/>
        </p:nvSpPr>
        <p:spPr>
          <a:xfrm>
            <a:off x="609905" y="4176979"/>
            <a:ext cx="5333695" cy="1923898"/>
          </a:xfrm>
          <a:prstGeom prst="roundRect">
            <a:avLst>
              <a:gd name="adj" fmla="val 2823"/>
            </a:avLst>
          </a:prstGeom>
          <a:solidFill>
            <a:srgbClr val="1E293B">
              <a:alpha val="40000"/>
            </a:srgbClr>
          </a:solidFill>
          <a:ln w="12700">
            <a:solidFill>
              <a:srgbClr val="38BDF8">
                <a:alpha val="20000"/>
              </a:srgbClr>
            </a:solidFill>
            <a:prstDash val="solid"/>
          </a:ln>
        </p:spPr>
      </p:sp>
      <p:sp>
        <p:nvSpPr>
          <p:cNvPr id="30" name="Shape 25"/>
          <p:cNvSpPr/>
          <p:nvPr/>
        </p:nvSpPr>
        <p:spPr>
          <a:xfrm>
            <a:off x="923544" y="4490618"/>
            <a:ext cx="533095" cy="533095"/>
          </a:xfrm>
          <a:prstGeom prst="roundRect">
            <a:avLst>
              <a:gd name="adj" fmla="val 24504"/>
            </a:avLst>
          </a:prstGeom>
          <a:noFill/>
          <a:ln w="12700">
            <a:solidFill>
              <a:srgbClr val="E5E7EB"/>
            </a:solidFill>
            <a:prstDash val="solid"/>
          </a:ln>
        </p:spPr>
      </p:sp>
      <p:pic>
        <p:nvPicPr>
          <p:cNvPr id="31" name="Image 3" descr="preencoded.png"/>
          <p:cNvPicPr>
            <a:picLocks noChangeAspect="1"/>
          </p:cNvPicPr>
          <p:nvPr/>
        </p:nvPicPr>
        <p:blipFill>
          <a:blip r:embed="rId6"/>
          <a:srcRect l="-57" r="-57"/>
          <a:stretch/>
        </p:blipFill>
        <p:spPr>
          <a:xfrm>
            <a:off x="1090879" y="4643323"/>
            <a:ext cx="200254" cy="228600"/>
          </a:xfrm>
          <a:prstGeom prst="rect">
            <a:avLst/>
          </a:prstGeom>
        </p:spPr>
      </p:pic>
      <p:sp>
        <p:nvSpPr>
          <p:cNvPr id="32" name="Text 26"/>
          <p:cNvSpPr txBox="1"/>
          <p:nvPr/>
        </p:nvSpPr>
        <p:spPr>
          <a:xfrm>
            <a:off x="1686154" y="4500677"/>
            <a:ext cx="2009851" cy="247802"/>
          </a:xfrm>
          <a:prstGeom prst="rect">
            <a:avLst/>
          </a:prstGeom>
          <a:noFill/>
          <a:ln/>
        </p:spPr>
        <p:txBody>
          <a:bodyPr wrap="square" lIns="0" tIns="0" rIns="0" bIns="0" rtlCol="0" anchor="ctr"/>
          <a:lstStyle/>
          <a:p>
            <a:pPr marL="0" indent="0" algn="l">
              <a:buNone/>
            </a:pPr>
            <a:r>
              <a:rPr lang="en-US" sz="1500" b="1" dirty="0">
                <a:solidFill>
                  <a:srgbClr val="FFFFFF"/>
                </a:solidFill>
                <a:latin typeface="Space Grotesk" pitchFamily="34" charset="0"/>
                <a:ea typeface="Space Grotesk" pitchFamily="34" charset="-122"/>
                <a:cs typeface="Space Grotesk" pitchFamily="34" charset="-120"/>
              </a:rPr>
              <a:t>Analytical Approach</a:t>
            </a:r>
            <a:endParaRPr lang="en-US" sz="1500" dirty="0"/>
          </a:p>
        </p:txBody>
      </p:sp>
      <p:sp>
        <p:nvSpPr>
          <p:cNvPr id="33" name="Text 27"/>
          <p:cNvSpPr txBox="1"/>
          <p:nvPr/>
        </p:nvSpPr>
        <p:spPr>
          <a:xfrm>
            <a:off x="1686154" y="4891126"/>
            <a:ext cx="3633826" cy="819302"/>
          </a:xfrm>
          <a:prstGeom prst="rect">
            <a:avLst/>
          </a:prstGeom>
          <a:noFill/>
          <a:ln/>
        </p:spPr>
        <p:txBody>
          <a:bodyPr wrap="square" lIns="0" tIns="0" rIns="0" bIns="0" rtlCol="0" anchor="ctr"/>
          <a:lstStyle/>
          <a:p>
            <a:pPr marL="0" indent="0" algn="l">
              <a:buNone/>
            </a:pPr>
            <a:r>
              <a:rPr lang="en-US" sz="1000" dirty="0">
                <a:solidFill>
                  <a:srgbClr val="D1D5DB"/>
                </a:solidFill>
                <a:latin typeface="Inter" pitchFamily="34" charset="0"/>
                <a:ea typeface="Inter" pitchFamily="34" charset="-122"/>
                <a:cs typeface="Inter" pitchFamily="34" charset="-120"/>
              </a:rPr>
              <a:t>Emphasizes structured query analysis, exploratory data analysis (EDA), and logical reasoning using MySQL Workbench. Includes rigorous data cleaning and feature engineering.</a:t>
            </a:r>
            <a:endParaRPr lang="en-US" sz="1000" dirty="0"/>
          </a:p>
        </p:txBody>
      </p:sp>
      <p:sp>
        <p:nvSpPr>
          <p:cNvPr id="34" name="Shape 28"/>
          <p:cNvSpPr/>
          <p:nvPr/>
        </p:nvSpPr>
        <p:spPr>
          <a:xfrm>
            <a:off x="6248095" y="4176979"/>
            <a:ext cx="5333695" cy="1923898"/>
          </a:xfrm>
          <a:prstGeom prst="roundRect">
            <a:avLst>
              <a:gd name="adj" fmla="val 2823"/>
            </a:avLst>
          </a:prstGeom>
          <a:solidFill>
            <a:srgbClr val="1E293B">
              <a:alpha val="40000"/>
            </a:srgbClr>
          </a:solidFill>
          <a:ln w="12700">
            <a:solidFill>
              <a:srgbClr val="38BDF8">
                <a:alpha val="20000"/>
              </a:srgbClr>
            </a:solidFill>
            <a:prstDash val="solid"/>
          </a:ln>
        </p:spPr>
      </p:sp>
      <p:sp>
        <p:nvSpPr>
          <p:cNvPr id="35" name="Shape 29"/>
          <p:cNvSpPr/>
          <p:nvPr/>
        </p:nvSpPr>
        <p:spPr>
          <a:xfrm>
            <a:off x="6562649" y="4490618"/>
            <a:ext cx="533095" cy="533095"/>
          </a:xfrm>
          <a:prstGeom prst="roundRect">
            <a:avLst>
              <a:gd name="adj" fmla="val 24504"/>
            </a:avLst>
          </a:prstGeom>
          <a:noFill/>
          <a:ln w="12700">
            <a:solidFill>
              <a:srgbClr val="E5E7EB"/>
            </a:solidFill>
            <a:prstDash val="solid"/>
          </a:ln>
        </p:spPr>
      </p:sp>
      <p:pic>
        <p:nvPicPr>
          <p:cNvPr id="36" name="Image 4" descr="preencoded.png"/>
          <p:cNvPicPr>
            <a:picLocks noChangeAspect="1"/>
          </p:cNvPicPr>
          <p:nvPr/>
        </p:nvPicPr>
        <p:blipFill>
          <a:blip r:embed="rId7"/>
          <a:srcRect/>
          <a:stretch/>
        </p:blipFill>
        <p:spPr>
          <a:xfrm>
            <a:off x="6715354" y="4643323"/>
            <a:ext cx="228600" cy="228600"/>
          </a:xfrm>
          <a:prstGeom prst="rect">
            <a:avLst/>
          </a:prstGeom>
        </p:spPr>
      </p:pic>
      <p:sp>
        <p:nvSpPr>
          <p:cNvPr id="37" name="Text 30"/>
          <p:cNvSpPr txBox="1"/>
          <p:nvPr/>
        </p:nvSpPr>
        <p:spPr>
          <a:xfrm>
            <a:off x="7324344" y="4500677"/>
            <a:ext cx="1467612" cy="247802"/>
          </a:xfrm>
          <a:prstGeom prst="rect">
            <a:avLst/>
          </a:prstGeom>
          <a:noFill/>
          <a:ln/>
        </p:spPr>
        <p:txBody>
          <a:bodyPr wrap="square" lIns="0" tIns="0" rIns="0" bIns="0" rtlCol="0" anchor="ctr"/>
          <a:lstStyle/>
          <a:p>
            <a:pPr marL="0" indent="0" algn="l">
              <a:buNone/>
            </a:pPr>
            <a:r>
              <a:rPr lang="en-US" sz="1500" b="1" dirty="0">
                <a:solidFill>
                  <a:srgbClr val="FFFFFF"/>
                </a:solidFill>
                <a:latin typeface="Space Grotesk" pitchFamily="34" charset="0"/>
                <a:ea typeface="Space Grotesk" pitchFamily="34" charset="-122"/>
                <a:cs typeface="Space Grotesk" pitchFamily="34" charset="-120"/>
              </a:rPr>
              <a:t>Key Outcomes</a:t>
            </a:r>
            <a:endParaRPr lang="en-US" sz="1500" dirty="0"/>
          </a:p>
        </p:txBody>
      </p:sp>
      <p:sp>
        <p:nvSpPr>
          <p:cNvPr id="38" name="Text 31"/>
          <p:cNvSpPr txBox="1"/>
          <p:nvPr/>
        </p:nvSpPr>
        <p:spPr>
          <a:xfrm>
            <a:off x="7324344" y="4891126"/>
            <a:ext cx="3986784" cy="819302"/>
          </a:xfrm>
          <a:prstGeom prst="rect">
            <a:avLst/>
          </a:prstGeom>
          <a:noFill/>
          <a:ln/>
        </p:spPr>
        <p:txBody>
          <a:bodyPr wrap="square" lIns="0" tIns="0" rIns="0" bIns="0" rtlCol="0" anchor="ctr"/>
          <a:lstStyle/>
          <a:p>
            <a:pPr marL="0" indent="0" algn="l">
              <a:buNone/>
            </a:pPr>
            <a:r>
              <a:rPr lang="en-US" sz="1000" dirty="0">
                <a:solidFill>
                  <a:srgbClr val="D1D5DB"/>
                </a:solidFill>
                <a:latin typeface="Inter" pitchFamily="34" charset="0"/>
                <a:ea typeface="Inter" pitchFamily="34" charset="-122"/>
                <a:cs typeface="Inter" pitchFamily="34" charset="-120"/>
              </a:rPr>
              <a:t>Successfully identified high-risk traffic behaviors, geographic hotspots, and port usage trends. Delivered transparent and explainable insights valuable for security teams and decision-makers.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120"/>
          </a:solidFill>
          <a:ln/>
        </p:spPr>
      </p:sp>
      <p:sp>
        <p:nvSpPr>
          <p:cNvPr id="3" name="Shape 1"/>
          <p:cNvSpPr/>
          <p:nvPr/>
        </p:nvSpPr>
        <p:spPr>
          <a:xfrm>
            <a:off x="0" y="0"/>
            <a:ext cx="12191695" cy="6858000"/>
          </a:xfrm>
          <a:prstGeom prst="rect">
            <a:avLst/>
          </a:prstGeom>
          <a:solidFill>
            <a:srgbClr val="0B1120"/>
          </a:solidFill>
          <a:ln/>
        </p:spPr>
      </p:sp>
      <p:sp>
        <p:nvSpPr>
          <p:cNvPr id="4" name="Shape 2"/>
          <p:cNvSpPr/>
          <p:nvPr/>
        </p:nvSpPr>
        <p:spPr>
          <a:xfrm>
            <a:off x="975665" y="0"/>
            <a:ext cx="9144" cy="6858000"/>
          </a:xfrm>
          <a:prstGeom prst="rect">
            <a:avLst/>
          </a:prstGeom>
          <a:solidFill>
            <a:srgbClr val="FFFFFF">
              <a:alpha val="5000"/>
            </a:srgbClr>
          </a:solidFill>
          <a:ln/>
        </p:spPr>
      </p:sp>
      <p:sp>
        <p:nvSpPr>
          <p:cNvPr id="5" name="Shape 3"/>
          <p:cNvSpPr/>
          <p:nvPr/>
        </p:nvSpPr>
        <p:spPr>
          <a:xfrm>
            <a:off x="11216945" y="0"/>
            <a:ext cx="9144" cy="6858000"/>
          </a:xfrm>
          <a:prstGeom prst="rect">
            <a:avLst/>
          </a:prstGeom>
          <a:solidFill>
            <a:srgbClr val="FFFFFF">
              <a:alpha val="5000"/>
            </a:srgbClr>
          </a:solidFill>
          <a:ln/>
        </p:spPr>
      </p:sp>
      <p:sp>
        <p:nvSpPr>
          <p:cNvPr id="6" name="Shape 4"/>
          <p:cNvSpPr/>
          <p:nvPr/>
        </p:nvSpPr>
        <p:spPr>
          <a:xfrm>
            <a:off x="0" y="1028700"/>
            <a:ext cx="12191695" cy="9144"/>
          </a:xfrm>
          <a:prstGeom prst="rect">
            <a:avLst/>
          </a:prstGeom>
          <a:solidFill>
            <a:srgbClr val="FFFFFF">
              <a:alpha val="5000"/>
            </a:srgbClr>
          </a:solidFill>
          <a:ln/>
        </p:spPr>
      </p:sp>
      <p:sp>
        <p:nvSpPr>
          <p:cNvPr id="7" name="Shape 5"/>
          <p:cNvSpPr/>
          <p:nvPr/>
        </p:nvSpPr>
        <p:spPr>
          <a:xfrm>
            <a:off x="0" y="6163056"/>
            <a:ext cx="12191695" cy="9144"/>
          </a:xfrm>
          <a:prstGeom prst="rect">
            <a:avLst/>
          </a:prstGeom>
          <a:solidFill>
            <a:srgbClr val="FFFFFF">
              <a:alpha val="5000"/>
            </a:srgbClr>
          </a:solidFill>
          <a:ln/>
        </p:spPr>
      </p:sp>
      <p:sp>
        <p:nvSpPr>
          <p:cNvPr id="8" name="Shape 6"/>
          <p:cNvSpPr/>
          <p:nvPr/>
        </p:nvSpPr>
        <p:spPr>
          <a:xfrm>
            <a:off x="8534095" y="0"/>
            <a:ext cx="3657600" cy="3657600"/>
          </a:xfrm>
          <a:prstGeom prst="roundRect">
            <a:avLst>
              <a:gd name="adj" fmla="val 25000"/>
            </a:avLst>
          </a:prstGeom>
          <a:solidFill>
            <a:srgbClr val="1E3A8A">
              <a:alpha val="10000"/>
            </a:srgbClr>
          </a:solidFill>
          <a:ln/>
        </p:spPr>
      </p:sp>
      <p:sp>
        <p:nvSpPr>
          <p:cNvPr id="9" name="Text 7"/>
          <p:cNvSpPr txBox="1"/>
          <p:nvPr/>
        </p:nvSpPr>
        <p:spPr>
          <a:xfrm>
            <a:off x="10901082" y="6316425"/>
            <a:ext cx="638251" cy="133502"/>
          </a:xfrm>
          <a:prstGeom prst="rect">
            <a:avLst/>
          </a:prstGeom>
          <a:noFill/>
          <a:ln/>
        </p:spPr>
        <p:txBody>
          <a:bodyPr wrap="square" lIns="0" tIns="0" rIns="0" bIns="0" rtlCol="0" anchor="ctr"/>
          <a:lstStyle/>
          <a:p>
            <a:pPr marL="0" indent="0" algn="l">
              <a:buNone/>
            </a:pPr>
            <a:r>
              <a:rPr lang="en-US" sz="900" dirty="0">
                <a:solidFill>
                  <a:srgbClr val="6B7280"/>
                </a:solidFill>
                <a:latin typeface="ui-monospace" pitchFamily="34" charset="0"/>
                <a:ea typeface="ui-monospace" pitchFamily="34" charset="-122"/>
                <a:cs typeface="ui-monospace" pitchFamily="34" charset="-120"/>
              </a:rPr>
              <a:t>SLIDE 03</a:t>
            </a:r>
            <a:endParaRPr lang="en-US" sz="900" dirty="0"/>
          </a:p>
        </p:txBody>
      </p:sp>
      <p:sp>
        <p:nvSpPr>
          <p:cNvPr id="12" name="Shape 10"/>
          <p:cNvSpPr/>
          <p:nvPr/>
        </p:nvSpPr>
        <p:spPr>
          <a:xfrm>
            <a:off x="609905" y="1485900"/>
            <a:ext cx="10972800" cy="9144"/>
          </a:xfrm>
          <a:prstGeom prst="rect">
            <a:avLst/>
          </a:prstGeom>
          <a:solidFill>
            <a:srgbClr val="1F2937"/>
          </a:solidFill>
          <a:ln/>
        </p:spPr>
      </p:sp>
      <p:pic>
        <p:nvPicPr>
          <p:cNvPr id="13" name="Image 0" descr="preencoded.png"/>
          <p:cNvPicPr>
            <a:picLocks noChangeAspect="1"/>
          </p:cNvPicPr>
          <p:nvPr/>
        </p:nvPicPr>
        <p:blipFill>
          <a:blip r:embed="rId3"/>
          <a:srcRect/>
          <a:stretch/>
        </p:blipFill>
        <p:spPr>
          <a:xfrm>
            <a:off x="609905" y="466344"/>
            <a:ext cx="133502" cy="133502"/>
          </a:xfrm>
          <a:prstGeom prst="rect">
            <a:avLst/>
          </a:prstGeom>
        </p:spPr>
      </p:pic>
      <p:sp>
        <p:nvSpPr>
          <p:cNvPr id="14" name="Shape 11"/>
          <p:cNvSpPr/>
          <p:nvPr/>
        </p:nvSpPr>
        <p:spPr>
          <a:xfrm>
            <a:off x="11277295" y="1181405"/>
            <a:ext cx="75895" cy="75895"/>
          </a:xfrm>
          <a:prstGeom prst="roundRect">
            <a:avLst>
              <a:gd name="adj" fmla="val 1204822"/>
            </a:avLst>
          </a:prstGeom>
          <a:solidFill>
            <a:srgbClr val="374151"/>
          </a:solidFill>
          <a:ln/>
        </p:spPr>
      </p:sp>
      <p:sp>
        <p:nvSpPr>
          <p:cNvPr id="15" name="Shape 12"/>
          <p:cNvSpPr/>
          <p:nvPr/>
        </p:nvSpPr>
        <p:spPr>
          <a:xfrm>
            <a:off x="11505895" y="1181405"/>
            <a:ext cx="75895" cy="75895"/>
          </a:xfrm>
          <a:prstGeom prst="roundRect">
            <a:avLst>
              <a:gd name="adj" fmla="val 1204822"/>
            </a:avLst>
          </a:prstGeom>
          <a:solidFill>
            <a:srgbClr val="374151"/>
          </a:solidFill>
          <a:ln/>
        </p:spPr>
      </p:sp>
      <p:sp>
        <p:nvSpPr>
          <p:cNvPr id="16" name="Text 13"/>
          <p:cNvSpPr txBox="1"/>
          <p:nvPr/>
        </p:nvSpPr>
        <p:spPr>
          <a:xfrm>
            <a:off x="857707" y="457200"/>
            <a:ext cx="1334110" cy="143561"/>
          </a:xfrm>
          <a:prstGeom prst="rect">
            <a:avLst/>
          </a:prstGeom>
          <a:noFill/>
          <a:ln/>
        </p:spPr>
        <p:txBody>
          <a:bodyPr wrap="square" lIns="0" tIns="0" rIns="0" bIns="0" rtlCol="0" anchor="ctr"/>
          <a:lstStyle/>
          <a:p>
            <a:pPr marL="0" indent="0" algn="l">
              <a:buNone/>
            </a:pPr>
            <a:r>
              <a:rPr lang="en-US" sz="900" b="1" dirty="0">
                <a:solidFill>
                  <a:srgbClr val="FFFFFF"/>
                </a:solidFill>
                <a:latin typeface="Inter" pitchFamily="34" charset="0"/>
                <a:ea typeface="Inter" pitchFamily="34" charset="-122"/>
                <a:cs typeface="Inter" pitchFamily="34" charset="-120"/>
              </a:rPr>
              <a:t>STRATEGIC GOALS</a:t>
            </a:r>
            <a:endParaRPr lang="en-US" sz="900" dirty="0"/>
          </a:p>
        </p:txBody>
      </p:sp>
      <p:sp>
        <p:nvSpPr>
          <p:cNvPr id="17" name="Text 14"/>
          <p:cNvSpPr txBox="1"/>
          <p:nvPr/>
        </p:nvSpPr>
        <p:spPr>
          <a:xfrm>
            <a:off x="609905" y="676656"/>
            <a:ext cx="4372661" cy="581558"/>
          </a:xfrm>
          <a:prstGeom prst="rect">
            <a:avLst/>
          </a:prstGeom>
          <a:noFill/>
          <a:ln/>
        </p:spPr>
        <p:txBody>
          <a:bodyPr wrap="square" lIns="0" tIns="0" rIns="0" bIns="0" rtlCol="0" anchor="ctr"/>
          <a:lstStyle/>
          <a:p>
            <a:pPr marL="0" indent="0" algn="l">
              <a:buNone/>
            </a:pPr>
            <a:r>
              <a:rPr lang="en-US" sz="3600" b="1" dirty="0">
                <a:solidFill>
                  <a:srgbClr val="FFFFFF"/>
                </a:solidFill>
                <a:latin typeface="Space Grotesk" pitchFamily="34" charset="0"/>
                <a:ea typeface="Space Grotesk" pitchFamily="34" charset="-122"/>
                <a:cs typeface="Space Grotesk" pitchFamily="34" charset="-120"/>
              </a:rPr>
              <a:t>Project Objectives</a:t>
            </a:r>
            <a:endParaRPr lang="en-US" sz="3600" dirty="0"/>
          </a:p>
        </p:txBody>
      </p:sp>
      <p:sp>
        <p:nvSpPr>
          <p:cNvPr id="18" name="Text 15"/>
          <p:cNvSpPr txBox="1"/>
          <p:nvPr/>
        </p:nvSpPr>
        <p:spPr>
          <a:xfrm>
            <a:off x="10529316" y="961949"/>
            <a:ext cx="1157630" cy="162763"/>
          </a:xfrm>
          <a:prstGeom prst="rect">
            <a:avLst/>
          </a:prstGeom>
          <a:noFill/>
          <a:ln/>
        </p:spPr>
        <p:txBody>
          <a:bodyPr wrap="square" lIns="0" tIns="0" rIns="0" bIns="0" rtlCol="0" anchor="ctr"/>
          <a:lstStyle/>
          <a:p>
            <a:pPr marL="0" indent="0" algn="r">
              <a:buNone/>
            </a:pPr>
            <a:r>
              <a:rPr lang="en-US" sz="1000" dirty="0">
                <a:solidFill>
                  <a:srgbClr val="9CA3AF"/>
                </a:solidFill>
                <a:latin typeface="Inter" pitchFamily="34" charset="0"/>
                <a:ea typeface="Inter" pitchFamily="34" charset="-122"/>
                <a:cs typeface="Inter" pitchFamily="34" charset="-120"/>
              </a:rPr>
              <a:t>Key Focus Areas</a:t>
            </a:r>
            <a:endParaRPr lang="en-US" sz="1000" dirty="0"/>
          </a:p>
        </p:txBody>
      </p:sp>
      <p:sp>
        <p:nvSpPr>
          <p:cNvPr id="19" name="Shape 16"/>
          <p:cNvSpPr/>
          <p:nvPr/>
        </p:nvSpPr>
        <p:spPr>
          <a:xfrm>
            <a:off x="609905" y="1800454"/>
            <a:ext cx="3504895" cy="2085746"/>
          </a:xfrm>
          <a:prstGeom prst="roundRect">
            <a:avLst>
              <a:gd name="adj" fmla="val 2402"/>
            </a:avLst>
          </a:prstGeom>
          <a:solidFill>
            <a:srgbClr val="1E293B">
              <a:alpha val="40000"/>
            </a:srgbClr>
          </a:solidFill>
          <a:ln w="12700">
            <a:solidFill>
              <a:srgbClr val="38BDF8">
                <a:alpha val="20000"/>
              </a:srgbClr>
            </a:solidFill>
            <a:prstDash val="solid"/>
          </a:ln>
        </p:spPr>
      </p:sp>
      <p:sp>
        <p:nvSpPr>
          <p:cNvPr id="20" name="Shape 17"/>
          <p:cNvSpPr/>
          <p:nvPr/>
        </p:nvSpPr>
        <p:spPr>
          <a:xfrm>
            <a:off x="847649" y="2038198"/>
            <a:ext cx="457200" cy="457200"/>
          </a:xfrm>
          <a:prstGeom prst="roundRect">
            <a:avLst>
              <a:gd name="adj" fmla="val 33333"/>
            </a:avLst>
          </a:prstGeom>
          <a:noFill/>
          <a:ln w="12700">
            <a:solidFill>
              <a:srgbClr val="E5E7EB"/>
            </a:solidFill>
            <a:prstDash val="solid"/>
          </a:ln>
        </p:spPr>
      </p:sp>
      <p:pic>
        <p:nvPicPr>
          <p:cNvPr id="21" name="Image 1" descr="preencoded.png"/>
          <p:cNvPicPr>
            <a:picLocks noChangeAspect="1"/>
          </p:cNvPicPr>
          <p:nvPr/>
        </p:nvPicPr>
        <p:blipFill>
          <a:blip r:embed="rId4"/>
          <a:srcRect/>
          <a:stretch/>
        </p:blipFill>
        <p:spPr>
          <a:xfrm>
            <a:off x="981151" y="2171700"/>
            <a:ext cx="190195" cy="190195"/>
          </a:xfrm>
          <a:prstGeom prst="rect">
            <a:avLst/>
          </a:prstGeom>
        </p:spPr>
      </p:pic>
      <p:sp>
        <p:nvSpPr>
          <p:cNvPr id="22" name="Text 18"/>
          <p:cNvSpPr txBox="1"/>
          <p:nvPr/>
        </p:nvSpPr>
        <p:spPr>
          <a:xfrm>
            <a:off x="847649" y="2667305"/>
            <a:ext cx="1795882" cy="219456"/>
          </a:xfrm>
          <a:prstGeom prst="rect">
            <a:avLst/>
          </a:prstGeom>
          <a:noFill/>
          <a:ln/>
        </p:spPr>
        <p:txBody>
          <a:bodyPr wrap="square" lIns="0" tIns="0" rIns="0" bIns="0" rtlCol="0" anchor="ctr"/>
          <a:lstStyle/>
          <a:p>
            <a:pPr marL="0" indent="0" algn="l">
              <a:buNone/>
            </a:pPr>
            <a:r>
              <a:rPr lang="en-US" sz="1300" b="1" dirty="0">
                <a:solidFill>
                  <a:srgbClr val="FFFFFF"/>
                </a:solidFill>
                <a:latin typeface="Space Grotesk" pitchFamily="34" charset="0"/>
                <a:ea typeface="Space Grotesk" pitchFamily="34" charset="-122"/>
                <a:cs typeface="Space Grotesk" pitchFamily="34" charset="-120"/>
              </a:rPr>
              <a:t>Pattern Recognition</a:t>
            </a:r>
            <a:endParaRPr lang="en-US" sz="1300" dirty="0"/>
          </a:p>
        </p:txBody>
      </p:sp>
      <p:sp>
        <p:nvSpPr>
          <p:cNvPr id="23" name="Text 19"/>
          <p:cNvSpPr txBox="1"/>
          <p:nvPr/>
        </p:nvSpPr>
        <p:spPr>
          <a:xfrm>
            <a:off x="847649" y="3010205"/>
            <a:ext cx="3024835" cy="600761"/>
          </a:xfrm>
          <a:prstGeom prst="rect">
            <a:avLst/>
          </a:prstGeom>
          <a:noFill/>
          <a:ln/>
        </p:spPr>
        <p:txBody>
          <a:bodyPr wrap="square" lIns="0" tIns="0" rIns="0" bIns="0" rtlCol="0" anchor="ctr"/>
          <a:lstStyle/>
          <a:p>
            <a:pPr marL="0" indent="0" algn="l">
              <a:buNone/>
            </a:pPr>
            <a:r>
              <a:rPr lang="en-US" sz="1000" dirty="0">
                <a:solidFill>
                  <a:srgbClr val="D1D5DB"/>
                </a:solidFill>
                <a:latin typeface="Inter" pitchFamily="34" charset="0"/>
                <a:ea typeface="Inter" pitchFamily="34" charset="-122"/>
                <a:cs typeface="Inter" pitchFamily="34" charset="-120"/>
              </a:rPr>
              <a:t>To understand patterns in web traffic data and establish baseline metrics for normal operations.</a:t>
            </a:r>
            <a:endParaRPr lang="en-US" sz="1000" dirty="0"/>
          </a:p>
        </p:txBody>
      </p:sp>
      <p:sp>
        <p:nvSpPr>
          <p:cNvPr id="24" name="Shape 20"/>
          <p:cNvSpPr/>
          <p:nvPr/>
        </p:nvSpPr>
        <p:spPr>
          <a:xfrm>
            <a:off x="4343400" y="1800454"/>
            <a:ext cx="3504895" cy="2085746"/>
          </a:xfrm>
          <a:prstGeom prst="roundRect">
            <a:avLst>
              <a:gd name="adj" fmla="val 2402"/>
            </a:avLst>
          </a:prstGeom>
          <a:solidFill>
            <a:srgbClr val="1E293B">
              <a:alpha val="40000"/>
            </a:srgbClr>
          </a:solidFill>
          <a:ln w="12700">
            <a:solidFill>
              <a:srgbClr val="38BDF8">
                <a:alpha val="20000"/>
              </a:srgbClr>
            </a:solidFill>
            <a:prstDash val="solid"/>
          </a:ln>
        </p:spPr>
      </p:sp>
      <p:sp>
        <p:nvSpPr>
          <p:cNvPr id="25" name="Shape 21"/>
          <p:cNvSpPr/>
          <p:nvPr/>
        </p:nvSpPr>
        <p:spPr>
          <a:xfrm>
            <a:off x="4581144" y="2038198"/>
            <a:ext cx="457200" cy="457200"/>
          </a:xfrm>
          <a:prstGeom prst="roundRect">
            <a:avLst>
              <a:gd name="adj" fmla="val 33333"/>
            </a:avLst>
          </a:prstGeom>
          <a:noFill/>
          <a:ln w="12700">
            <a:solidFill>
              <a:srgbClr val="E5E7EB"/>
            </a:solidFill>
            <a:prstDash val="solid"/>
          </a:ln>
        </p:spPr>
      </p:sp>
      <p:pic>
        <p:nvPicPr>
          <p:cNvPr id="26" name="Image 2" descr="preencoded.png"/>
          <p:cNvPicPr>
            <a:picLocks noChangeAspect="1"/>
          </p:cNvPicPr>
          <p:nvPr/>
        </p:nvPicPr>
        <p:blipFill>
          <a:blip r:embed="rId5"/>
          <a:srcRect l="-1648" r="-1648"/>
          <a:stretch/>
        </p:blipFill>
        <p:spPr>
          <a:xfrm>
            <a:off x="4724705" y="2171700"/>
            <a:ext cx="171907" cy="190195"/>
          </a:xfrm>
          <a:prstGeom prst="rect">
            <a:avLst/>
          </a:prstGeom>
        </p:spPr>
      </p:pic>
      <p:sp>
        <p:nvSpPr>
          <p:cNvPr id="27" name="Text 22"/>
          <p:cNvSpPr txBox="1"/>
          <p:nvPr/>
        </p:nvSpPr>
        <p:spPr>
          <a:xfrm>
            <a:off x="4581144" y="2667305"/>
            <a:ext cx="1709928" cy="219456"/>
          </a:xfrm>
          <a:prstGeom prst="rect">
            <a:avLst/>
          </a:prstGeom>
          <a:noFill/>
          <a:ln/>
        </p:spPr>
        <p:txBody>
          <a:bodyPr wrap="square" lIns="0" tIns="0" rIns="0" bIns="0" rtlCol="0" anchor="ctr"/>
          <a:lstStyle/>
          <a:p>
            <a:pPr marL="0" indent="0" algn="l">
              <a:buNone/>
            </a:pPr>
            <a:r>
              <a:rPr lang="en-US" sz="1300" b="1" dirty="0">
                <a:solidFill>
                  <a:srgbClr val="FFFFFF"/>
                </a:solidFill>
                <a:latin typeface="Space Grotesk" pitchFamily="34" charset="0"/>
                <a:ea typeface="Space Grotesk" pitchFamily="34" charset="-122"/>
                <a:cs typeface="Space Grotesk" pitchFamily="34" charset="-120"/>
              </a:rPr>
              <a:t>Anomaly Detection</a:t>
            </a:r>
            <a:endParaRPr lang="en-US" sz="1300" dirty="0"/>
          </a:p>
        </p:txBody>
      </p:sp>
      <p:sp>
        <p:nvSpPr>
          <p:cNvPr id="28" name="Text 23"/>
          <p:cNvSpPr txBox="1"/>
          <p:nvPr/>
        </p:nvSpPr>
        <p:spPr>
          <a:xfrm>
            <a:off x="4581144" y="3010205"/>
            <a:ext cx="3100730" cy="600761"/>
          </a:xfrm>
          <a:prstGeom prst="rect">
            <a:avLst/>
          </a:prstGeom>
          <a:noFill/>
          <a:ln/>
        </p:spPr>
        <p:txBody>
          <a:bodyPr wrap="square" lIns="0" tIns="0" rIns="0" bIns="0" rtlCol="0" anchor="ctr"/>
          <a:lstStyle/>
          <a:p>
            <a:pPr marL="0" indent="0" algn="l">
              <a:buNone/>
            </a:pPr>
            <a:r>
              <a:rPr lang="en-US" sz="1000" dirty="0">
                <a:solidFill>
                  <a:srgbClr val="D1D5DB"/>
                </a:solidFill>
                <a:latin typeface="Inter" pitchFamily="34" charset="0"/>
                <a:ea typeface="Inter" pitchFamily="34" charset="-122"/>
                <a:cs typeface="Inter" pitchFamily="34" charset="-120"/>
              </a:rPr>
              <a:t>To identify indicators of suspicious or abnormal behavior that deviate from established traffic baselines.</a:t>
            </a:r>
            <a:endParaRPr lang="en-US" sz="1000" dirty="0"/>
          </a:p>
        </p:txBody>
      </p:sp>
      <p:sp>
        <p:nvSpPr>
          <p:cNvPr id="29" name="Shape 24"/>
          <p:cNvSpPr/>
          <p:nvPr/>
        </p:nvSpPr>
        <p:spPr>
          <a:xfrm>
            <a:off x="8076895" y="1800454"/>
            <a:ext cx="3504895" cy="2085746"/>
          </a:xfrm>
          <a:prstGeom prst="roundRect">
            <a:avLst>
              <a:gd name="adj" fmla="val 2402"/>
            </a:avLst>
          </a:prstGeom>
          <a:solidFill>
            <a:srgbClr val="1E293B">
              <a:alpha val="40000"/>
            </a:srgbClr>
          </a:solidFill>
          <a:ln w="12700">
            <a:solidFill>
              <a:srgbClr val="38BDF8">
                <a:alpha val="20000"/>
              </a:srgbClr>
            </a:solidFill>
            <a:prstDash val="solid"/>
          </a:ln>
        </p:spPr>
      </p:sp>
      <p:sp>
        <p:nvSpPr>
          <p:cNvPr id="30" name="Shape 25"/>
          <p:cNvSpPr/>
          <p:nvPr/>
        </p:nvSpPr>
        <p:spPr>
          <a:xfrm>
            <a:off x="8315554" y="2038198"/>
            <a:ext cx="457200" cy="457200"/>
          </a:xfrm>
          <a:prstGeom prst="roundRect">
            <a:avLst>
              <a:gd name="adj" fmla="val 33333"/>
            </a:avLst>
          </a:prstGeom>
          <a:noFill/>
          <a:ln w="12700">
            <a:solidFill>
              <a:srgbClr val="E5E7EB"/>
            </a:solidFill>
            <a:prstDash val="solid"/>
          </a:ln>
        </p:spPr>
      </p:sp>
      <p:pic>
        <p:nvPicPr>
          <p:cNvPr id="31" name="Image 3" descr="preencoded.png"/>
          <p:cNvPicPr>
            <a:picLocks noChangeAspect="1"/>
          </p:cNvPicPr>
          <p:nvPr/>
        </p:nvPicPr>
        <p:blipFill>
          <a:blip r:embed="rId6"/>
          <a:srcRect/>
          <a:stretch/>
        </p:blipFill>
        <p:spPr>
          <a:xfrm>
            <a:off x="8449056" y="2171700"/>
            <a:ext cx="190195" cy="190195"/>
          </a:xfrm>
          <a:prstGeom prst="rect">
            <a:avLst/>
          </a:prstGeom>
        </p:spPr>
      </p:pic>
      <p:sp>
        <p:nvSpPr>
          <p:cNvPr id="32" name="Text 26"/>
          <p:cNvSpPr txBox="1"/>
          <p:nvPr/>
        </p:nvSpPr>
        <p:spPr>
          <a:xfrm>
            <a:off x="8315554" y="2667305"/>
            <a:ext cx="1862633" cy="219456"/>
          </a:xfrm>
          <a:prstGeom prst="rect">
            <a:avLst/>
          </a:prstGeom>
          <a:noFill/>
          <a:ln/>
        </p:spPr>
        <p:txBody>
          <a:bodyPr wrap="square" lIns="0" tIns="0" rIns="0" bIns="0" rtlCol="0" anchor="ctr"/>
          <a:lstStyle/>
          <a:p>
            <a:pPr marL="0" indent="0" algn="l">
              <a:buNone/>
            </a:pPr>
            <a:r>
              <a:rPr lang="en-US" sz="1300" b="1" dirty="0">
                <a:solidFill>
                  <a:srgbClr val="FFFFFF"/>
                </a:solidFill>
                <a:latin typeface="Space Grotesk" pitchFamily="34" charset="0"/>
                <a:ea typeface="Space Grotesk" pitchFamily="34" charset="-122"/>
                <a:cs typeface="Space Grotesk" pitchFamily="34" charset="-120"/>
              </a:rPr>
              <a:t>Traffic Segmentation</a:t>
            </a:r>
            <a:endParaRPr lang="en-US" sz="1300" dirty="0"/>
          </a:p>
        </p:txBody>
      </p:sp>
      <p:sp>
        <p:nvSpPr>
          <p:cNvPr id="33" name="Text 27"/>
          <p:cNvSpPr txBox="1"/>
          <p:nvPr/>
        </p:nvSpPr>
        <p:spPr>
          <a:xfrm>
            <a:off x="8315554" y="3010205"/>
            <a:ext cx="3024835" cy="600761"/>
          </a:xfrm>
          <a:prstGeom prst="rect">
            <a:avLst/>
          </a:prstGeom>
          <a:noFill/>
          <a:ln/>
        </p:spPr>
        <p:txBody>
          <a:bodyPr wrap="square" lIns="0" tIns="0" rIns="0" bIns="0" rtlCol="0" anchor="ctr"/>
          <a:lstStyle/>
          <a:p>
            <a:pPr marL="0" indent="0" algn="l">
              <a:buNone/>
            </a:pPr>
            <a:r>
              <a:rPr lang="en-US" sz="1000" dirty="0">
                <a:solidFill>
                  <a:srgbClr val="D1D5DB"/>
                </a:solidFill>
                <a:latin typeface="Inter" pitchFamily="34" charset="0"/>
                <a:ea typeface="Inter" pitchFamily="34" charset="-122"/>
                <a:cs typeface="Inter" pitchFamily="34" charset="-120"/>
              </a:rPr>
              <a:t>To analyze traffic based on critical dimensions including geography, destination ports, and session duration.</a:t>
            </a:r>
            <a:endParaRPr lang="en-US" sz="1000" dirty="0"/>
          </a:p>
        </p:txBody>
      </p:sp>
      <p:sp>
        <p:nvSpPr>
          <p:cNvPr id="34" name="Shape 28"/>
          <p:cNvSpPr/>
          <p:nvPr/>
        </p:nvSpPr>
        <p:spPr>
          <a:xfrm>
            <a:off x="609905" y="4107485"/>
            <a:ext cx="5372100" cy="1257300"/>
          </a:xfrm>
          <a:prstGeom prst="roundRect">
            <a:avLst>
              <a:gd name="adj" fmla="val 6612"/>
            </a:avLst>
          </a:prstGeom>
          <a:solidFill>
            <a:srgbClr val="1E293B">
              <a:alpha val="40000"/>
            </a:srgbClr>
          </a:solidFill>
          <a:ln w="12700">
            <a:solidFill>
              <a:srgbClr val="38BDF8">
                <a:alpha val="20000"/>
              </a:srgbClr>
            </a:solidFill>
            <a:prstDash val="solid"/>
          </a:ln>
        </p:spPr>
      </p:sp>
      <p:sp>
        <p:nvSpPr>
          <p:cNvPr id="35" name="Shape 29"/>
          <p:cNvSpPr/>
          <p:nvPr/>
        </p:nvSpPr>
        <p:spPr>
          <a:xfrm>
            <a:off x="847649" y="4346143"/>
            <a:ext cx="457200" cy="457200"/>
          </a:xfrm>
          <a:prstGeom prst="roundRect">
            <a:avLst>
              <a:gd name="adj" fmla="val 33333"/>
            </a:avLst>
          </a:prstGeom>
          <a:noFill/>
          <a:ln w="12700">
            <a:solidFill>
              <a:srgbClr val="E5E7EB"/>
            </a:solidFill>
            <a:prstDash val="solid"/>
          </a:ln>
        </p:spPr>
      </p:sp>
      <p:pic>
        <p:nvPicPr>
          <p:cNvPr id="36" name="Image 4" descr="preencoded.png"/>
          <p:cNvPicPr>
            <a:picLocks noChangeAspect="1"/>
          </p:cNvPicPr>
          <p:nvPr/>
        </p:nvPicPr>
        <p:blipFill>
          <a:blip r:embed="rId7"/>
          <a:srcRect l="-1648" r="-1648"/>
          <a:stretch/>
        </p:blipFill>
        <p:spPr>
          <a:xfrm>
            <a:off x="990295" y="4478731"/>
            <a:ext cx="171907" cy="190195"/>
          </a:xfrm>
          <a:prstGeom prst="rect">
            <a:avLst/>
          </a:prstGeom>
        </p:spPr>
      </p:pic>
      <p:sp>
        <p:nvSpPr>
          <p:cNvPr id="37" name="Text 30"/>
          <p:cNvSpPr txBox="1"/>
          <p:nvPr/>
        </p:nvSpPr>
        <p:spPr>
          <a:xfrm>
            <a:off x="1495044" y="4364431"/>
            <a:ext cx="2052828" cy="219456"/>
          </a:xfrm>
          <a:prstGeom prst="rect">
            <a:avLst/>
          </a:prstGeom>
          <a:noFill/>
          <a:ln/>
        </p:spPr>
        <p:txBody>
          <a:bodyPr wrap="square" lIns="0" tIns="0" rIns="0" bIns="0" rtlCol="0" anchor="ctr"/>
          <a:lstStyle/>
          <a:p>
            <a:pPr marL="0" indent="0" algn="l">
              <a:buNone/>
            </a:pPr>
            <a:r>
              <a:rPr lang="en-US" sz="1300" b="1" dirty="0">
                <a:solidFill>
                  <a:srgbClr val="FFFFFF"/>
                </a:solidFill>
                <a:latin typeface="Space Grotesk" pitchFamily="34" charset="0"/>
                <a:ea typeface="Space Grotesk" pitchFamily="34" charset="-122"/>
                <a:cs typeface="Space Grotesk" pitchFamily="34" charset="-120"/>
              </a:rPr>
              <a:t>SQL-Based Engineering</a:t>
            </a:r>
            <a:endParaRPr lang="en-US" sz="1300" dirty="0"/>
          </a:p>
        </p:txBody>
      </p:sp>
      <p:sp>
        <p:nvSpPr>
          <p:cNvPr id="38" name="Text 31"/>
          <p:cNvSpPr txBox="1"/>
          <p:nvPr/>
        </p:nvSpPr>
        <p:spPr>
          <a:xfrm>
            <a:off x="1495044" y="4707331"/>
            <a:ext cx="4139489" cy="381305"/>
          </a:xfrm>
          <a:prstGeom prst="rect">
            <a:avLst/>
          </a:prstGeom>
          <a:noFill/>
          <a:ln/>
        </p:spPr>
        <p:txBody>
          <a:bodyPr wrap="square" lIns="0" tIns="0" rIns="0" bIns="0" rtlCol="0" anchor="ctr"/>
          <a:lstStyle/>
          <a:p>
            <a:pPr marL="0" indent="0" algn="l">
              <a:buNone/>
            </a:pPr>
            <a:r>
              <a:rPr lang="en-US" sz="1000" dirty="0">
                <a:solidFill>
                  <a:srgbClr val="D1D5DB"/>
                </a:solidFill>
                <a:latin typeface="Inter" pitchFamily="34" charset="0"/>
                <a:ea typeface="Inter" pitchFamily="34" charset="-122"/>
                <a:cs typeface="Inter" pitchFamily="34" charset="-120"/>
              </a:rPr>
              <a:t>To perform rigorous data cleaning and exploratory data analysis (EDA) using structured SQL queries to ensure data integrity.</a:t>
            </a:r>
            <a:endParaRPr lang="en-US" sz="1000" dirty="0"/>
          </a:p>
        </p:txBody>
      </p:sp>
      <p:sp>
        <p:nvSpPr>
          <p:cNvPr id="39" name="Shape 32"/>
          <p:cNvSpPr/>
          <p:nvPr/>
        </p:nvSpPr>
        <p:spPr>
          <a:xfrm>
            <a:off x="6210605" y="4107485"/>
            <a:ext cx="5372100" cy="1257300"/>
          </a:xfrm>
          <a:prstGeom prst="roundRect">
            <a:avLst>
              <a:gd name="adj" fmla="val 6612"/>
            </a:avLst>
          </a:prstGeom>
          <a:solidFill>
            <a:srgbClr val="1E293B">
              <a:alpha val="40000"/>
            </a:srgbClr>
          </a:solidFill>
          <a:ln w="12700">
            <a:solidFill>
              <a:srgbClr val="38BDF8">
                <a:alpha val="20000"/>
              </a:srgbClr>
            </a:solidFill>
            <a:prstDash val="solid"/>
          </a:ln>
        </p:spPr>
      </p:sp>
      <p:sp>
        <p:nvSpPr>
          <p:cNvPr id="40" name="Shape 33"/>
          <p:cNvSpPr/>
          <p:nvPr/>
        </p:nvSpPr>
        <p:spPr>
          <a:xfrm>
            <a:off x="6448349" y="4346143"/>
            <a:ext cx="457200" cy="457200"/>
          </a:xfrm>
          <a:prstGeom prst="roundRect">
            <a:avLst>
              <a:gd name="adj" fmla="val 33333"/>
            </a:avLst>
          </a:prstGeom>
          <a:noFill/>
          <a:ln w="12700">
            <a:solidFill>
              <a:srgbClr val="E5E7EB"/>
            </a:solidFill>
            <a:prstDash val="solid"/>
          </a:ln>
        </p:spPr>
      </p:sp>
      <p:pic>
        <p:nvPicPr>
          <p:cNvPr id="41" name="Image 5" descr="preencoded.png"/>
          <p:cNvPicPr>
            <a:picLocks noChangeAspect="1"/>
          </p:cNvPicPr>
          <p:nvPr/>
        </p:nvPicPr>
        <p:blipFill>
          <a:blip r:embed="rId8"/>
          <a:srcRect/>
          <a:stretch/>
        </p:blipFill>
        <p:spPr>
          <a:xfrm>
            <a:off x="6605626" y="4478731"/>
            <a:ext cx="142646" cy="190195"/>
          </a:xfrm>
          <a:prstGeom prst="rect">
            <a:avLst/>
          </a:prstGeom>
        </p:spPr>
      </p:pic>
      <p:sp>
        <p:nvSpPr>
          <p:cNvPr id="42" name="Text 34"/>
          <p:cNvSpPr txBox="1"/>
          <p:nvPr/>
        </p:nvSpPr>
        <p:spPr>
          <a:xfrm>
            <a:off x="7095744" y="4364431"/>
            <a:ext cx="2043684" cy="219456"/>
          </a:xfrm>
          <a:prstGeom prst="rect">
            <a:avLst/>
          </a:prstGeom>
          <a:noFill/>
          <a:ln/>
        </p:spPr>
        <p:txBody>
          <a:bodyPr wrap="square" lIns="0" tIns="0" rIns="0" bIns="0" rtlCol="0" anchor="ctr"/>
          <a:lstStyle/>
          <a:p>
            <a:pPr marL="0" indent="0" algn="l">
              <a:buNone/>
            </a:pPr>
            <a:r>
              <a:rPr lang="en-US" sz="1300" b="1" dirty="0">
                <a:solidFill>
                  <a:srgbClr val="FFFFFF"/>
                </a:solidFill>
                <a:latin typeface="Space Grotesk" pitchFamily="34" charset="0"/>
                <a:ea typeface="Space Grotesk" pitchFamily="34" charset="-122"/>
                <a:cs typeface="Space Grotesk" pitchFamily="34" charset="-120"/>
              </a:rPr>
              <a:t>Actionable Intelligence</a:t>
            </a:r>
            <a:endParaRPr lang="en-US" sz="1300" dirty="0"/>
          </a:p>
        </p:txBody>
      </p:sp>
      <p:sp>
        <p:nvSpPr>
          <p:cNvPr id="43" name="Text 35"/>
          <p:cNvSpPr txBox="1"/>
          <p:nvPr/>
        </p:nvSpPr>
        <p:spPr>
          <a:xfrm>
            <a:off x="7095744" y="4707331"/>
            <a:ext cx="3986784" cy="381305"/>
          </a:xfrm>
          <a:prstGeom prst="rect">
            <a:avLst/>
          </a:prstGeom>
          <a:noFill/>
          <a:ln/>
        </p:spPr>
        <p:txBody>
          <a:bodyPr wrap="square" lIns="0" tIns="0" rIns="0" bIns="0" rtlCol="0" anchor="ctr"/>
          <a:lstStyle/>
          <a:p>
            <a:pPr marL="0" indent="0" algn="l">
              <a:buNone/>
            </a:pPr>
            <a:r>
              <a:rPr lang="en-US" sz="1000" dirty="0">
                <a:solidFill>
                  <a:srgbClr val="D1D5DB"/>
                </a:solidFill>
                <a:latin typeface="Inter" pitchFamily="34" charset="0"/>
                <a:ea typeface="Inter" pitchFamily="34" charset="-122"/>
                <a:cs typeface="Inter" pitchFamily="34" charset="-120"/>
              </a:rPr>
              <a:t>To derive meaningful, explainable cybersecurity insights from structured data that support decision-making processes.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120"/>
          </a:solidFill>
          <a:ln/>
        </p:spPr>
      </p:sp>
      <p:sp>
        <p:nvSpPr>
          <p:cNvPr id="3" name="Shape 1"/>
          <p:cNvSpPr/>
          <p:nvPr/>
        </p:nvSpPr>
        <p:spPr>
          <a:xfrm>
            <a:off x="0" y="0"/>
            <a:ext cx="12191695" cy="6858000"/>
          </a:xfrm>
          <a:prstGeom prst="rect">
            <a:avLst/>
          </a:prstGeom>
          <a:solidFill>
            <a:srgbClr val="0B1120"/>
          </a:solidFill>
          <a:ln/>
        </p:spPr>
      </p:sp>
      <p:sp>
        <p:nvSpPr>
          <p:cNvPr id="4" name="Shape 2"/>
          <p:cNvSpPr/>
          <p:nvPr/>
        </p:nvSpPr>
        <p:spPr>
          <a:xfrm>
            <a:off x="9753905" y="0"/>
            <a:ext cx="2438705" cy="2438705"/>
          </a:xfrm>
          <a:prstGeom prst="roundRect">
            <a:avLst>
              <a:gd name="adj" fmla="val 37495"/>
            </a:avLst>
          </a:prstGeom>
          <a:solidFill>
            <a:srgbClr val="1E3A8A">
              <a:alpha val="10000"/>
            </a:srgbClr>
          </a:solidFill>
          <a:ln/>
        </p:spPr>
      </p:sp>
      <p:sp>
        <p:nvSpPr>
          <p:cNvPr id="5" name="Shape 3"/>
          <p:cNvSpPr/>
          <p:nvPr/>
        </p:nvSpPr>
        <p:spPr>
          <a:xfrm>
            <a:off x="457200" y="6391656"/>
            <a:ext cx="11277295" cy="9144"/>
          </a:xfrm>
          <a:prstGeom prst="rect">
            <a:avLst/>
          </a:prstGeom>
          <a:solidFill>
            <a:srgbClr val="1F2937"/>
          </a:solidFill>
          <a:ln/>
        </p:spPr>
      </p:sp>
      <p:sp>
        <p:nvSpPr>
          <p:cNvPr id="7" name="Text 5"/>
          <p:cNvSpPr txBox="1"/>
          <p:nvPr/>
        </p:nvSpPr>
        <p:spPr>
          <a:xfrm>
            <a:off x="10728655" y="6486754"/>
            <a:ext cx="638251" cy="133502"/>
          </a:xfrm>
          <a:prstGeom prst="rect">
            <a:avLst/>
          </a:prstGeom>
          <a:noFill/>
          <a:ln/>
        </p:spPr>
        <p:txBody>
          <a:bodyPr wrap="square" lIns="0" tIns="0" rIns="0" bIns="0" rtlCol="0" anchor="ctr"/>
          <a:lstStyle/>
          <a:p>
            <a:pPr marL="0" indent="0" algn="l">
              <a:buNone/>
            </a:pPr>
            <a:r>
              <a:rPr lang="en-US" sz="900" dirty="0">
                <a:solidFill>
                  <a:srgbClr val="4B5563"/>
                </a:solidFill>
                <a:latin typeface="ui-monospace" pitchFamily="34" charset="0"/>
                <a:ea typeface="ui-monospace" pitchFamily="34" charset="-122"/>
                <a:cs typeface="ui-monospace" pitchFamily="34" charset="-120"/>
              </a:rPr>
              <a:t>SLIDE 04</a:t>
            </a:r>
            <a:endParaRPr lang="en-US" sz="900" dirty="0"/>
          </a:p>
        </p:txBody>
      </p:sp>
      <p:sp>
        <p:nvSpPr>
          <p:cNvPr id="8" name="Shape 6"/>
          <p:cNvSpPr/>
          <p:nvPr/>
        </p:nvSpPr>
        <p:spPr>
          <a:xfrm>
            <a:off x="0" y="1239012"/>
            <a:ext cx="12191695" cy="9144"/>
          </a:xfrm>
          <a:prstGeom prst="rect">
            <a:avLst/>
          </a:prstGeom>
          <a:solidFill>
            <a:srgbClr val="1F2937"/>
          </a:solidFill>
          <a:ln/>
        </p:spPr>
      </p:sp>
      <p:pic>
        <p:nvPicPr>
          <p:cNvPr id="9" name="Image 0" descr="preencoded.png"/>
          <p:cNvPicPr>
            <a:picLocks noChangeAspect="1"/>
          </p:cNvPicPr>
          <p:nvPr/>
        </p:nvPicPr>
        <p:blipFill>
          <a:blip r:embed="rId3"/>
          <a:srcRect t="-1100" b="-1100"/>
          <a:stretch/>
        </p:blipFill>
        <p:spPr>
          <a:xfrm>
            <a:off x="457200" y="523951"/>
            <a:ext cx="114300" cy="133502"/>
          </a:xfrm>
          <a:prstGeom prst="rect">
            <a:avLst/>
          </a:prstGeom>
        </p:spPr>
      </p:pic>
      <p:sp>
        <p:nvSpPr>
          <p:cNvPr id="10" name="Shape 7"/>
          <p:cNvSpPr/>
          <p:nvPr/>
        </p:nvSpPr>
        <p:spPr>
          <a:xfrm>
            <a:off x="7504481" y="381305"/>
            <a:ext cx="1733702" cy="705002"/>
          </a:xfrm>
          <a:prstGeom prst="roundRect">
            <a:avLst>
              <a:gd name="adj" fmla="val 14022"/>
            </a:avLst>
          </a:prstGeom>
          <a:solidFill>
            <a:srgbClr val="1E293B">
              <a:alpha val="40000"/>
            </a:srgbClr>
          </a:solidFill>
          <a:ln w="12700">
            <a:solidFill>
              <a:srgbClr val="38BDF8">
                <a:alpha val="20000"/>
              </a:srgbClr>
            </a:solidFill>
            <a:prstDash val="solid"/>
          </a:ln>
        </p:spPr>
      </p:sp>
      <p:sp>
        <p:nvSpPr>
          <p:cNvPr id="11" name="Shape 8"/>
          <p:cNvSpPr/>
          <p:nvPr/>
        </p:nvSpPr>
        <p:spPr>
          <a:xfrm>
            <a:off x="9462211" y="381305"/>
            <a:ext cx="2276856" cy="705002"/>
          </a:xfrm>
          <a:prstGeom prst="roundRect">
            <a:avLst>
              <a:gd name="adj" fmla="val 14022"/>
            </a:avLst>
          </a:prstGeom>
          <a:solidFill>
            <a:srgbClr val="1E293B">
              <a:alpha val="40000"/>
            </a:srgbClr>
          </a:solidFill>
          <a:ln w="12700">
            <a:solidFill>
              <a:srgbClr val="38BDF8">
                <a:alpha val="20000"/>
              </a:srgbClr>
            </a:solidFill>
            <a:prstDash val="solid"/>
          </a:ln>
        </p:spPr>
      </p:sp>
      <p:sp>
        <p:nvSpPr>
          <p:cNvPr id="12" name="Text 9"/>
          <p:cNvSpPr txBox="1"/>
          <p:nvPr/>
        </p:nvSpPr>
        <p:spPr>
          <a:xfrm>
            <a:off x="647395" y="514807"/>
            <a:ext cx="1191463" cy="143561"/>
          </a:xfrm>
          <a:prstGeom prst="rect">
            <a:avLst/>
          </a:prstGeom>
          <a:noFill/>
          <a:ln/>
        </p:spPr>
        <p:txBody>
          <a:bodyPr wrap="square" lIns="0" tIns="0" rIns="0" bIns="0" rtlCol="0" anchor="ctr"/>
          <a:lstStyle/>
          <a:p>
            <a:pPr marL="0" indent="0" algn="l">
              <a:buNone/>
            </a:pPr>
            <a:r>
              <a:rPr lang="en-US" sz="900" b="1" dirty="0">
                <a:solidFill>
                  <a:srgbClr val="FFFFFF"/>
                </a:solidFill>
                <a:latin typeface="Inter" pitchFamily="34" charset="0"/>
                <a:ea typeface="Inter" pitchFamily="34" charset="-122"/>
                <a:cs typeface="Inter" pitchFamily="34" charset="-120"/>
              </a:rPr>
              <a:t>DATA OVERVIEW</a:t>
            </a:r>
            <a:endParaRPr lang="en-US" sz="900" dirty="0"/>
          </a:p>
        </p:txBody>
      </p:sp>
      <p:sp>
        <p:nvSpPr>
          <p:cNvPr id="13" name="Text 10"/>
          <p:cNvSpPr txBox="1"/>
          <p:nvPr/>
        </p:nvSpPr>
        <p:spPr>
          <a:xfrm>
            <a:off x="457200" y="676656"/>
            <a:ext cx="3562502" cy="438912"/>
          </a:xfrm>
          <a:prstGeom prst="rect">
            <a:avLst/>
          </a:prstGeom>
          <a:noFill/>
          <a:ln/>
        </p:spPr>
        <p:txBody>
          <a:bodyPr wrap="square" lIns="0" tIns="0" rIns="0" bIns="0" rtlCol="0" anchor="ctr"/>
          <a:lstStyle/>
          <a:p>
            <a:pPr marL="0" indent="0" algn="l">
              <a:buNone/>
            </a:pPr>
            <a:r>
              <a:rPr lang="en-US" sz="2700" b="1" dirty="0">
                <a:solidFill>
                  <a:srgbClr val="FFFFFF"/>
                </a:solidFill>
                <a:latin typeface="Space Grotesk" pitchFamily="34" charset="0"/>
                <a:ea typeface="Space Grotesk" pitchFamily="34" charset="-122"/>
                <a:cs typeface="Space Grotesk" pitchFamily="34" charset="-120"/>
              </a:rPr>
              <a:t>Dataset Description</a:t>
            </a:r>
            <a:endParaRPr lang="en-US" sz="2700" dirty="0"/>
          </a:p>
        </p:txBody>
      </p:sp>
      <p:pic>
        <p:nvPicPr>
          <p:cNvPr id="14" name="Image 1" descr="preencoded.png"/>
          <p:cNvPicPr>
            <a:picLocks noChangeAspect="1"/>
          </p:cNvPicPr>
          <p:nvPr/>
        </p:nvPicPr>
        <p:blipFill>
          <a:blip r:embed="rId4"/>
          <a:srcRect/>
          <a:stretch/>
        </p:blipFill>
        <p:spPr>
          <a:xfrm>
            <a:off x="7666330" y="609905"/>
            <a:ext cx="228600" cy="228600"/>
          </a:xfrm>
          <a:prstGeom prst="rect">
            <a:avLst/>
          </a:prstGeom>
        </p:spPr>
      </p:pic>
      <p:sp>
        <p:nvSpPr>
          <p:cNvPr id="15" name="Text 11"/>
          <p:cNvSpPr txBox="1"/>
          <p:nvPr/>
        </p:nvSpPr>
        <p:spPr>
          <a:xfrm>
            <a:off x="8047634" y="504749"/>
            <a:ext cx="1114654" cy="143561"/>
          </a:xfrm>
          <a:prstGeom prst="rect">
            <a:avLst/>
          </a:prstGeom>
          <a:noFill/>
          <a:ln/>
        </p:spPr>
        <p:txBody>
          <a:bodyPr wrap="square" lIns="0" tIns="0" rIns="0" bIns="0" rtlCol="0" anchor="ctr"/>
          <a:lstStyle/>
          <a:p>
            <a:pPr marL="0" indent="0" algn="l">
              <a:buNone/>
            </a:pPr>
            <a:r>
              <a:rPr lang="en-US" sz="900" b="1" dirty="0">
                <a:solidFill>
                  <a:srgbClr val="9CA3AF"/>
                </a:solidFill>
                <a:latin typeface="Inter" pitchFamily="34" charset="0"/>
                <a:ea typeface="Inter" pitchFamily="34" charset="-122"/>
                <a:cs typeface="Inter" pitchFamily="34" charset="-120"/>
              </a:rPr>
              <a:t>TOTAL RECORDS</a:t>
            </a:r>
            <a:endParaRPr lang="en-US" sz="900" dirty="0"/>
          </a:p>
        </p:txBody>
      </p:sp>
      <p:sp>
        <p:nvSpPr>
          <p:cNvPr id="16" name="Text 12"/>
          <p:cNvSpPr txBox="1"/>
          <p:nvPr/>
        </p:nvSpPr>
        <p:spPr>
          <a:xfrm>
            <a:off x="8047634" y="657454"/>
            <a:ext cx="590702" cy="305410"/>
          </a:xfrm>
          <a:prstGeom prst="rect">
            <a:avLst/>
          </a:prstGeom>
          <a:noFill/>
          <a:ln/>
        </p:spPr>
        <p:txBody>
          <a:bodyPr wrap="square" lIns="0" tIns="0" rIns="0" bIns="0" rtlCol="0" anchor="ctr"/>
          <a:lstStyle/>
          <a:p>
            <a:pPr marL="0" indent="0" algn="l">
              <a:buNone/>
            </a:pPr>
            <a:r>
              <a:rPr lang="en-US" sz="1800" b="1" dirty="0">
                <a:solidFill>
                  <a:srgbClr val="FFFFFF"/>
                </a:solidFill>
                <a:latin typeface="Courier New" pitchFamily="34" charset="0"/>
                <a:ea typeface="Courier New" pitchFamily="34" charset="-122"/>
                <a:cs typeface="Courier New" pitchFamily="34" charset="-120"/>
              </a:rPr>
              <a:t>282</a:t>
            </a:r>
            <a:endParaRPr lang="en-US" sz="1800" dirty="0"/>
          </a:p>
        </p:txBody>
      </p:sp>
      <p:pic>
        <p:nvPicPr>
          <p:cNvPr id="17" name="Image 2" descr="preencoded.png"/>
          <p:cNvPicPr>
            <a:picLocks noChangeAspect="1"/>
          </p:cNvPicPr>
          <p:nvPr/>
        </p:nvPicPr>
        <p:blipFill>
          <a:blip r:embed="rId5"/>
          <a:srcRect/>
          <a:stretch/>
        </p:blipFill>
        <p:spPr>
          <a:xfrm>
            <a:off x="9624060" y="609905"/>
            <a:ext cx="228600" cy="228600"/>
          </a:xfrm>
          <a:prstGeom prst="rect">
            <a:avLst/>
          </a:prstGeom>
        </p:spPr>
      </p:pic>
      <p:sp>
        <p:nvSpPr>
          <p:cNvPr id="18" name="Text 13"/>
          <p:cNvSpPr txBox="1"/>
          <p:nvPr/>
        </p:nvSpPr>
        <p:spPr>
          <a:xfrm>
            <a:off x="10005365" y="523951"/>
            <a:ext cx="1000354" cy="143561"/>
          </a:xfrm>
          <a:prstGeom prst="rect">
            <a:avLst/>
          </a:prstGeom>
          <a:noFill/>
          <a:ln/>
        </p:spPr>
        <p:txBody>
          <a:bodyPr wrap="square" lIns="0" tIns="0" rIns="0" bIns="0" rtlCol="0" anchor="ctr"/>
          <a:lstStyle/>
          <a:p>
            <a:pPr marL="0" indent="0" algn="l">
              <a:buNone/>
            </a:pPr>
            <a:r>
              <a:rPr lang="en-US" sz="900" b="1" dirty="0">
                <a:solidFill>
                  <a:srgbClr val="9CA3AF"/>
                </a:solidFill>
                <a:latin typeface="Inter" pitchFamily="34" charset="0"/>
                <a:ea typeface="Inter" pitchFamily="34" charset="-122"/>
                <a:cs typeface="Inter" pitchFamily="34" charset="-120"/>
              </a:rPr>
              <a:t>DATA QUALITY</a:t>
            </a:r>
            <a:endParaRPr lang="en-US" sz="900" dirty="0"/>
          </a:p>
        </p:txBody>
      </p:sp>
      <p:sp>
        <p:nvSpPr>
          <p:cNvPr id="19" name="Text 14"/>
          <p:cNvSpPr txBox="1"/>
          <p:nvPr/>
        </p:nvSpPr>
        <p:spPr>
          <a:xfrm>
            <a:off x="10005365" y="705002"/>
            <a:ext cx="1700784" cy="200254"/>
          </a:xfrm>
          <a:prstGeom prst="rect">
            <a:avLst/>
          </a:prstGeom>
          <a:noFill/>
          <a:ln/>
        </p:spPr>
        <p:txBody>
          <a:bodyPr wrap="square" lIns="0" tIns="0" rIns="0" bIns="0" rtlCol="0" anchor="ctr"/>
          <a:lstStyle/>
          <a:p>
            <a:pPr marL="0" indent="0" algn="l">
              <a:buNone/>
            </a:pPr>
            <a:r>
              <a:rPr lang="en-US" sz="1300" b="1" dirty="0">
                <a:solidFill>
                  <a:srgbClr val="FFFFFF"/>
                </a:solidFill>
                <a:latin typeface="Inter" pitchFamily="34" charset="0"/>
                <a:ea typeface="Inter" pitchFamily="34" charset="-122"/>
                <a:cs typeface="Inter" pitchFamily="34" charset="-120"/>
              </a:rPr>
              <a:t>Clean / No Missing</a:t>
            </a:r>
            <a:endParaRPr lang="en-US" sz="1300" dirty="0"/>
          </a:p>
        </p:txBody>
      </p:sp>
      <p:sp>
        <p:nvSpPr>
          <p:cNvPr id="20" name="Shape 15"/>
          <p:cNvSpPr/>
          <p:nvPr/>
        </p:nvSpPr>
        <p:spPr>
          <a:xfrm>
            <a:off x="457200" y="1552651"/>
            <a:ext cx="3657600" cy="1990649"/>
          </a:xfrm>
          <a:prstGeom prst="roundRect">
            <a:avLst>
              <a:gd name="adj" fmla="val 2637"/>
            </a:avLst>
          </a:prstGeom>
          <a:solidFill>
            <a:srgbClr val="1F2937">
              <a:alpha val="40000"/>
            </a:srgbClr>
          </a:solidFill>
          <a:ln w="12700">
            <a:solidFill>
              <a:srgbClr val="374151"/>
            </a:solidFill>
            <a:prstDash val="solid"/>
          </a:ln>
        </p:spPr>
      </p:sp>
      <p:pic>
        <p:nvPicPr>
          <p:cNvPr id="21" name="Image 3" descr="preencoded.png"/>
          <p:cNvPicPr>
            <a:picLocks noChangeAspect="1"/>
          </p:cNvPicPr>
          <p:nvPr/>
        </p:nvPicPr>
        <p:blipFill>
          <a:blip r:embed="rId6"/>
          <a:srcRect/>
          <a:stretch/>
        </p:blipFill>
        <p:spPr>
          <a:xfrm>
            <a:off x="694944" y="1857146"/>
            <a:ext cx="133502" cy="133502"/>
          </a:xfrm>
          <a:prstGeom prst="rect">
            <a:avLst/>
          </a:prstGeom>
        </p:spPr>
      </p:pic>
      <p:sp>
        <p:nvSpPr>
          <p:cNvPr id="22" name="Text 16"/>
          <p:cNvSpPr txBox="1"/>
          <p:nvPr/>
        </p:nvSpPr>
        <p:spPr>
          <a:xfrm>
            <a:off x="905256" y="1790395"/>
            <a:ext cx="710489" cy="267005"/>
          </a:xfrm>
          <a:prstGeom prst="rect">
            <a:avLst/>
          </a:prstGeom>
          <a:noFill/>
          <a:ln/>
        </p:spPr>
        <p:txBody>
          <a:bodyPr wrap="square" lIns="0" tIns="0" rIns="0" bIns="0" rtlCol="0" anchor="ctr"/>
          <a:lstStyle/>
          <a:p>
            <a:pPr marL="0" indent="0" algn="l">
              <a:buNone/>
            </a:pPr>
            <a:r>
              <a:rPr lang="en-US" sz="1300" b="1" dirty="0">
                <a:solidFill>
                  <a:srgbClr val="FFFFFF"/>
                </a:solidFill>
                <a:latin typeface="Space Grotesk" pitchFamily="34" charset="0"/>
                <a:ea typeface="Space Grotesk" pitchFamily="34" charset="-122"/>
                <a:cs typeface="Space Grotesk" pitchFamily="34" charset="-120"/>
              </a:rPr>
              <a:t>Source</a:t>
            </a:r>
            <a:endParaRPr lang="en-US" sz="1300" dirty="0"/>
          </a:p>
        </p:txBody>
      </p:sp>
      <p:sp>
        <p:nvSpPr>
          <p:cNvPr id="23" name="Shape 17"/>
          <p:cNvSpPr/>
          <p:nvPr/>
        </p:nvSpPr>
        <p:spPr>
          <a:xfrm>
            <a:off x="694944" y="2974543"/>
            <a:ext cx="3181198" cy="323698"/>
          </a:xfrm>
          <a:prstGeom prst="roundRect">
            <a:avLst>
              <a:gd name="adj" fmla="val 33234"/>
            </a:avLst>
          </a:prstGeom>
          <a:solidFill>
            <a:srgbClr val="111827"/>
          </a:solidFill>
          <a:ln w="12700">
            <a:solidFill>
              <a:srgbClr val="1F2937"/>
            </a:solidFill>
            <a:prstDash val="solid"/>
          </a:ln>
        </p:spPr>
      </p:sp>
      <p:sp>
        <p:nvSpPr>
          <p:cNvPr id="24" name="Shape 18"/>
          <p:cNvSpPr/>
          <p:nvPr/>
        </p:nvSpPr>
        <p:spPr>
          <a:xfrm>
            <a:off x="780898" y="3097987"/>
            <a:ext cx="75895" cy="75895"/>
          </a:xfrm>
          <a:prstGeom prst="ellipse">
            <a:avLst/>
          </a:prstGeom>
          <a:solidFill>
            <a:srgbClr val="10B981"/>
          </a:solidFill>
          <a:ln/>
          <a:effectLst>
            <a:outerShdw blurRad="76200" dist="12700" dir="16200000" algn="bl" rotWithShape="0">
              <a:srgbClr val="10B981">
                <a:alpha val="60000"/>
              </a:srgbClr>
            </a:outerShdw>
          </a:effectLst>
        </p:spPr>
      </p:sp>
      <p:sp>
        <p:nvSpPr>
          <p:cNvPr id="25" name="Text 19"/>
          <p:cNvSpPr txBox="1"/>
          <p:nvPr/>
        </p:nvSpPr>
        <p:spPr>
          <a:xfrm>
            <a:off x="914400" y="3059582"/>
            <a:ext cx="1877263" cy="152705"/>
          </a:xfrm>
          <a:prstGeom prst="rect">
            <a:avLst/>
          </a:prstGeom>
          <a:noFill/>
          <a:ln/>
        </p:spPr>
        <p:txBody>
          <a:bodyPr wrap="square" lIns="0" tIns="0" rIns="0" bIns="0" rtlCol="0" anchor="ctr"/>
          <a:lstStyle/>
          <a:p>
            <a:pPr marL="0" indent="0" algn="l">
              <a:buNone/>
            </a:pPr>
            <a:r>
              <a:rPr lang="en-US" sz="900" dirty="0">
                <a:solidFill>
                  <a:srgbClr val="9CA3AF"/>
                </a:solidFill>
                <a:latin typeface="Inter" pitchFamily="34" charset="0"/>
                <a:ea typeface="Inter" pitchFamily="34" charset="-122"/>
                <a:cs typeface="Inter" pitchFamily="34" charset="-120"/>
              </a:rPr>
              <a:t>Live Production Environment Log</a:t>
            </a:r>
            <a:endParaRPr lang="en-US" sz="900" dirty="0"/>
          </a:p>
        </p:txBody>
      </p:sp>
      <p:sp>
        <p:nvSpPr>
          <p:cNvPr id="26" name="Shape 20"/>
          <p:cNvSpPr/>
          <p:nvPr/>
        </p:nvSpPr>
        <p:spPr>
          <a:xfrm>
            <a:off x="457200" y="3764585"/>
            <a:ext cx="3657600" cy="2324405"/>
          </a:xfrm>
          <a:prstGeom prst="roundRect">
            <a:avLst>
              <a:gd name="adj" fmla="val 1935"/>
            </a:avLst>
          </a:prstGeom>
          <a:solidFill>
            <a:srgbClr val="1F2937">
              <a:alpha val="40000"/>
            </a:srgbClr>
          </a:solidFill>
          <a:ln w="12700">
            <a:solidFill>
              <a:srgbClr val="374151"/>
            </a:solidFill>
            <a:prstDash val="solid"/>
          </a:ln>
        </p:spPr>
      </p:sp>
      <p:pic>
        <p:nvPicPr>
          <p:cNvPr id="27" name="Image 4" descr="preencoded.png"/>
          <p:cNvPicPr>
            <a:picLocks noChangeAspect="1"/>
          </p:cNvPicPr>
          <p:nvPr/>
        </p:nvPicPr>
        <p:blipFill>
          <a:blip r:embed="rId7"/>
          <a:srcRect/>
          <a:stretch/>
        </p:blipFill>
        <p:spPr>
          <a:xfrm>
            <a:off x="694944" y="4069994"/>
            <a:ext cx="133502" cy="133502"/>
          </a:xfrm>
          <a:prstGeom prst="rect">
            <a:avLst/>
          </a:prstGeom>
        </p:spPr>
      </p:pic>
      <p:sp>
        <p:nvSpPr>
          <p:cNvPr id="28" name="Text 21"/>
          <p:cNvSpPr txBox="1"/>
          <p:nvPr/>
        </p:nvSpPr>
        <p:spPr>
          <a:xfrm>
            <a:off x="905256" y="4003243"/>
            <a:ext cx="624535" cy="267005"/>
          </a:xfrm>
          <a:prstGeom prst="rect">
            <a:avLst/>
          </a:prstGeom>
          <a:noFill/>
          <a:ln/>
        </p:spPr>
        <p:txBody>
          <a:bodyPr wrap="square" lIns="0" tIns="0" rIns="0" bIns="0" rtlCol="0" anchor="ctr"/>
          <a:lstStyle/>
          <a:p>
            <a:pPr marL="0" indent="0" algn="l">
              <a:buNone/>
            </a:pPr>
            <a:r>
              <a:rPr lang="en-US" sz="1300" b="1" dirty="0">
                <a:solidFill>
                  <a:srgbClr val="FFFFFF"/>
                </a:solidFill>
                <a:latin typeface="Space Grotesk" pitchFamily="34" charset="0"/>
                <a:ea typeface="Space Grotesk" pitchFamily="34" charset="-122"/>
                <a:cs typeface="Space Grotesk" pitchFamily="34" charset="-120"/>
              </a:rPr>
              <a:t>Focus</a:t>
            </a:r>
            <a:endParaRPr lang="en-US" sz="1300" dirty="0"/>
          </a:p>
        </p:txBody>
      </p:sp>
      <p:sp>
        <p:nvSpPr>
          <p:cNvPr id="29" name="Shape 22"/>
          <p:cNvSpPr/>
          <p:nvPr/>
        </p:nvSpPr>
        <p:spPr>
          <a:xfrm>
            <a:off x="4419295" y="1933956"/>
            <a:ext cx="7315200" cy="4000500"/>
          </a:xfrm>
          <a:prstGeom prst="roundRect">
            <a:avLst>
              <a:gd name="adj" fmla="val 435"/>
            </a:avLst>
          </a:prstGeom>
          <a:noFill/>
          <a:ln w="12700">
            <a:solidFill>
              <a:srgbClr val="38BDF8">
                <a:alpha val="20000"/>
              </a:srgbClr>
            </a:solidFill>
            <a:prstDash val="solid"/>
          </a:ln>
        </p:spPr>
      </p:sp>
      <p:sp>
        <p:nvSpPr>
          <p:cNvPr id="30" name="Shape 23"/>
          <p:cNvSpPr/>
          <p:nvPr/>
        </p:nvSpPr>
        <p:spPr>
          <a:xfrm>
            <a:off x="4429354" y="1943100"/>
            <a:ext cx="1904695" cy="437998"/>
          </a:xfrm>
          <a:prstGeom prst="rect">
            <a:avLst/>
          </a:prstGeom>
          <a:solidFill>
            <a:srgbClr val="1E293B">
              <a:alpha val="80000"/>
            </a:srgbClr>
          </a:solidFill>
          <a:ln/>
        </p:spPr>
      </p:sp>
      <p:sp>
        <p:nvSpPr>
          <p:cNvPr id="31" name="Shape 24"/>
          <p:cNvSpPr/>
          <p:nvPr/>
        </p:nvSpPr>
        <p:spPr>
          <a:xfrm>
            <a:off x="4429354" y="2371954"/>
            <a:ext cx="1904695" cy="9144"/>
          </a:xfrm>
          <a:prstGeom prst="rect">
            <a:avLst/>
          </a:prstGeom>
          <a:solidFill>
            <a:srgbClr val="334155"/>
          </a:solidFill>
          <a:ln/>
        </p:spPr>
      </p:sp>
      <p:sp>
        <p:nvSpPr>
          <p:cNvPr id="32" name="Shape 25"/>
          <p:cNvSpPr/>
          <p:nvPr/>
        </p:nvSpPr>
        <p:spPr>
          <a:xfrm>
            <a:off x="6330391" y="1943100"/>
            <a:ext cx="5400446" cy="437998"/>
          </a:xfrm>
          <a:prstGeom prst="rect">
            <a:avLst/>
          </a:prstGeom>
          <a:solidFill>
            <a:srgbClr val="1E293B">
              <a:alpha val="80000"/>
            </a:srgbClr>
          </a:solidFill>
          <a:ln/>
        </p:spPr>
      </p:sp>
      <p:sp>
        <p:nvSpPr>
          <p:cNvPr id="33" name="Shape 26"/>
          <p:cNvSpPr/>
          <p:nvPr/>
        </p:nvSpPr>
        <p:spPr>
          <a:xfrm>
            <a:off x="6330391" y="2371954"/>
            <a:ext cx="5400446" cy="9144"/>
          </a:xfrm>
          <a:prstGeom prst="rect">
            <a:avLst/>
          </a:prstGeom>
          <a:solidFill>
            <a:srgbClr val="334155"/>
          </a:solidFill>
          <a:ln/>
        </p:spPr>
      </p:sp>
      <p:sp>
        <p:nvSpPr>
          <p:cNvPr id="34" name="Shape 27"/>
          <p:cNvSpPr/>
          <p:nvPr/>
        </p:nvSpPr>
        <p:spPr>
          <a:xfrm>
            <a:off x="4429354" y="2381098"/>
            <a:ext cx="1904695" cy="400507"/>
          </a:xfrm>
          <a:prstGeom prst="rect">
            <a:avLst/>
          </a:prstGeom>
          <a:solidFill>
            <a:srgbClr val="0F172A">
              <a:alpha val="40000"/>
            </a:srgbClr>
          </a:solidFill>
          <a:ln/>
        </p:spPr>
      </p:sp>
      <p:sp>
        <p:nvSpPr>
          <p:cNvPr id="35" name="Shape 28"/>
          <p:cNvSpPr/>
          <p:nvPr/>
        </p:nvSpPr>
        <p:spPr>
          <a:xfrm>
            <a:off x="4429354" y="2772461"/>
            <a:ext cx="1904695" cy="9144"/>
          </a:xfrm>
          <a:prstGeom prst="rect">
            <a:avLst/>
          </a:prstGeom>
          <a:solidFill>
            <a:srgbClr val="1E293B"/>
          </a:solidFill>
          <a:ln/>
        </p:spPr>
      </p:sp>
      <p:sp>
        <p:nvSpPr>
          <p:cNvPr id="36" name="Shape 29"/>
          <p:cNvSpPr/>
          <p:nvPr/>
        </p:nvSpPr>
        <p:spPr>
          <a:xfrm>
            <a:off x="6330391" y="2381098"/>
            <a:ext cx="5400446" cy="400507"/>
          </a:xfrm>
          <a:prstGeom prst="rect">
            <a:avLst/>
          </a:prstGeom>
          <a:solidFill>
            <a:srgbClr val="0F172A">
              <a:alpha val="40000"/>
            </a:srgbClr>
          </a:solidFill>
          <a:ln/>
        </p:spPr>
      </p:sp>
      <p:sp>
        <p:nvSpPr>
          <p:cNvPr id="37" name="Shape 30"/>
          <p:cNvSpPr/>
          <p:nvPr/>
        </p:nvSpPr>
        <p:spPr>
          <a:xfrm>
            <a:off x="6330391" y="2772461"/>
            <a:ext cx="5400446" cy="9144"/>
          </a:xfrm>
          <a:prstGeom prst="rect">
            <a:avLst/>
          </a:prstGeom>
          <a:solidFill>
            <a:srgbClr val="1E293B"/>
          </a:solidFill>
          <a:ln/>
        </p:spPr>
      </p:sp>
      <p:sp>
        <p:nvSpPr>
          <p:cNvPr id="38" name="Shape 31"/>
          <p:cNvSpPr/>
          <p:nvPr/>
        </p:nvSpPr>
        <p:spPr>
          <a:xfrm>
            <a:off x="4429354" y="2781605"/>
            <a:ext cx="1904695" cy="400507"/>
          </a:xfrm>
          <a:prstGeom prst="rect">
            <a:avLst/>
          </a:prstGeom>
          <a:solidFill>
            <a:srgbClr val="0F172A">
              <a:alpha val="40000"/>
            </a:srgbClr>
          </a:solidFill>
          <a:ln/>
        </p:spPr>
      </p:sp>
      <p:sp>
        <p:nvSpPr>
          <p:cNvPr id="39" name="Shape 32"/>
          <p:cNvSpPr/>
          <p:nvPr/>
        </p:nvSpPr>
        <p:spPr>
          <a:xfrm>
            <a:off x="4429354" y="3172968"/>
            <a:ext cx="1904695" cy="9144"/>
          </a:xfrm>
          <a:prstGeom prst="rect">
            <a:avLst/>
          </a:prstGeom>
          <a:solidFill>
            <a:srgbClr val="1E293B"/>
          </a:solidFill>
          <a:ln/>
        </p:spPr>
      </p:sp>
      <p:sp>
        <p:nvSpPr>
          <p:cNvPr id="40" name="Shape 33"/>
          <p:cNvSpPr/>
          <p:nvPr/>
        </p:nvSpPr>
        <p:spPr>
          <a:xfrm>
            <a:off x="6330391" y="2781605"/>
            <a:ext cx="5400446" cy="400507"/>
          </a:xfrm>
          <a:prstGeom prst="rect">
            <a:avLst/>
          </a:prstGeom>
          <a:solidFill>
            <a:srgbClr val="0F172A">
              <a:alpha val="40000"/>
            </a:srgbClr>
          </a:solidFill>
          <a:ln/>
        </p:spPr>
      </p:sp>
      <p:sp>
        <p:nvSpPr>
          <p:cNvPr id="41" name="Shape 34"/>
          <p:cNvSpPr/>
          <p:nvPr/>
        </p:nvSpPr>
        <p:spPr>
          <a:xfrm>
            <a:off x="6330391" y="3172968"/>
            <a:ext cx="5400446" cy="9144"/>
          </a:xfrm>
          <a:prstGeom prst="rect">
            <a:avLst/>
          </a:prstGeom>
          <a:solidFill>
            <a:srgbClr val="1E293B"/>
          </a:solidFill>
          <a:ln/>
        </p:spPr>
      </p:sp>
      <p:sp>
        <p:nvSpPr>
          <p:cNvPr id="42" name="Shape 35"/>
          <p:cNvSpPr/>
          <p:nvPr/>
        </p:nvSpPr>
        <p:spPr>
          <a:xfrm>
            <a:off x="4429354" y="3181198"/>
            <a:ext cx="1904695" cy="400507"/>
          </a:xfrm>
          <a:prstGeom prst="rect">
            <a:avLst/>
          </a:prstGeom>
          <a:solidFill>
            <a:srgbClr val="0F172A">
              <a:alpha val="40000"/>
            </a:srgbClr>
          </a:solidFill>
          <a:ln/>
        </p:spPr>
      </p:sp>
      <p:sp>
        <p:nvSpPr>
          <p:cNvPr id="43" name="Shape 36"/>
          <p:cNvSpPr/>
          <p:nvPr/>
        </p:nvSpPr>
        <p:spPr>
          <a:xfrm>
            <a:off x="4429354" y="3572561"/>
            <a:ext cx="1904695" cy="9144"/>
          </a:xfrm>
          <a:prstGeom prst="rect">
            <a:avLst/>
          </a:prstGeom>
          <a:solidFill>
            <a:srgbClr val="1E293B"/>
          </a:solidFill>
          <a:ln/>
        </p:spPr>
      </p:sp>
      <p:sp>
        <p:nvSpPr>
          <p:cNvPr id="44" name="Shape 37"/>
          <p:cNvSpPr/>
          <p:nvPr/>
        </p:nvSpPr>
        <p:spPr>
          <a:xfrm>
            <a:off x="6330391" y="3181198"/>
            <a:ext cx="5400446" cy="400507"/>
          </a:xfrm>
          <a:prstGeom prst="rect">
            <a:avLst/>
          </a:prstGeom>
          <a:solidFill>
            <a:srgbClr val="0F172A">
              <a:alpha val="40000"/>
            </a:srgbClr>
          </a:solidFill>
          <a:ln/>
        </p:spPr>
      </p:sp>
      <p:sp>
        <p:nvSpPr>
          <p:cNvPr id="45" name="Shape 38"/>
          <p:cNvSpPr/>
          <p:nvPr/>
        </p:nvSpPr>
        <p:spPr>
          <a:xfrm>
            <a:off x="6330391" y="3572561"/>
            <a:ext cx="5400446" cy="9144"/>
          </a:xfrm>
          <a:prstGeom prst="rect">
            <a:avLst/>
          </a:prstGeom>
          <a:solidFill>
            <a:srgbClr val="1E293B"/>
          </a:solidFill>
          <a:ln/>
        </p:spPr>
      </p:sp>
      <p:sp>
        <p:nvSpPr>
          <p:cNvPr id="46" name="Shape 39"/>
          <p:cNvSpPr/>
          <p:nvPr/>
        </p:nvSpPr>
        <p:spPr>
          <a:xfrm>
            <a:off x="4429354" y="3581705"/>
            <a:ext cx="1904695" cy="400507"/>
          </a:xfrm>
          <a:prstGeom prst="rect">
            <a:avLst/>
          </a:prstGeom>
          <a:solidFill>
            <a:srgbClr val="0F172A">
              <a:alpha val="40000"/>
            </a:srgbClr>
          </a:solidFill>
          <a:ln/>
        </p:spPr>
      </p:sp>
      <p:sp>
        <p:nvSpPr>
          <p:cNvPr id="47" name="Shape 40"/>
          <p:cNvSpPr/>
          <p:nvPr/>
        </p:nvSpPr>
        <p:spPr>
          <a:xfrm>
            <a:off x="4429354" y="3973068"/>
            <a:ext cx="1904695" cy="9144"/>
          </a:xfrm>
          <a:prstGeom prst="rect">
            <a:avLst/>
          </a:prstGeom>
          <a:solidFill>
            <a:srgbClr val="1E293B"/>
          </a:solidFill>
          <a:ln/>
        </p:spPr>
      </p:sp>
      <p:sp>
        <p:nvSpPr>
          <p:cNvPr id="48" name="Shape 41"/>
          <p:cNvSpPr/>
          <p:nvPr/>
        </p:nvSpPr>
        <p:spPr>
          <a:xfrm>
            <a:off x="6330391" y="3581705"/>
            <a:ext cx="5400446" cy="400507"/>
          </a:xfrm>
          <a:prstGeom prst="rect">
            <a:avLst/>
          </a:prstGeom>
          <a:solidFill>
            <a:srgbClr val="0F172A">
              <a:alpha val="40000"/>
            </a:srgbClr>
          </a:solidFill>
          <a:ln/>
        </p:spPr>
      </p:sp>
      <p:sp>
        <p:nvSpPr>
          <p:cNvPr id="49" name="Shape 42"/>
          <p:cNvSpPr/>
          <p:nvPr/>
        </p:nvSpPr>
        <p:spPr>
          <a:xfrm>
            <a:off x="6330391" y="3973068"/>
            <a:ext cx="5400446" cy="9144"/>
          </a:xfrm>
          <a:prstGeom prst="rect">
            <a:avLst/>
          </a:prstGeom>
          <a:solidFill>
            <a:srgbClr val="1E293B"/>
          </a:solidFill>
          <a:ln/>
        </p:spPr>
      </p:sp>
      <p:sp>
        <p:nvSpPr>
          <p:cNvPr id="50" name="Shape 43"/>
          <p:cNvSpPr/>
          <p:nvPr/>
        </p:nvSpPr>
        <p:spPr>
          <a:xfrm>
            <a:off x="4429354" y="3981298"/>
            <a:ext cx="1904695" cy="400507"/>
          </a:xfrm>
          <a:prstGeom prst="rect">
            <a:avLst/>
          </a:prstGeom>
          <a:solidFill>
            <a:srgbClr val="0F172A">
              <a:alpha val="40000"/>
            </a:srgbClr>
          </a:solidFill>
          <a:ln/>
        </p:spPr>
      </p:sp>
      <p:sp>
        <p:nvSpPr>
          <p:cNvPr id="51" name="Shape 44"/>
          <p:cNvSpPr/>
          <p:nvPr/>
        </p:nvSpPr>
        <p:spPr>
          <a:xfrm>
            <a:off x="4429354" y="4372661"/>
            <a:ext cx="1904695" cy="9144"/>
          </a:xfrm>
          <a:prstGeom prst="rect">
            <a:avLst/>
          </a:prstGeom>
          <a:solidFill>
            <a:srgbClr val="1E293B"/>
          </a:solidFill>
          <a:ln/>
        </p:spPr>
      </p:sp>
      <p:sp>
        <p:nvSpPr>
          <p:cNvPr id="52" name="Shape 45"/>
          <p:cNvSpPr/>
          <p:nvPr/>
        </p:nvSpPr>
        <p:spPr>
          <a:xfrm>
            <a:off x="6330391" y="3981298"/>
            <a:ext cx="5400446" cy="400507"/>
          </a:xfrm>
          <a:prstGeom prst="rect">
            <a:avLst/>
          </a:prstGeom>
          <a:solidFill>
            <a:srgbClr val="0F172A">
              <a:alpha val="40000"/>
            </a:srgbClr>
          </a:solidFill>
          <a:ln/>
        </p:spPr>
      </p:sp>
      <p:sp>
        <p:nvSpPr>
          <p:cNvPr id="53" name="Shape 46"/>
          <p:cNvSpPr/>
          <p:nvPr/>
        </p:nvSpPr>
        <p:spPr>
          <a:xfrm>
            <a:off x="6330391" y="4372661"/>
            <a:ext cx="5400446" cy="9144"/>
          </a:xfrm>
          <a:prstGeom prst="rect">
            <a:avLst/>
          </a:prstGeom>
          <a:solidFill>
            <a:srgbClr val="1E293B"/>
          </a:solidFill>
          <a:ln/>
        </p:spPr>
      </p:sp>
      <p:sp>
        <p:nvSpPr>
          <p:cNvPr id="54" name="Shape 47"/>
          <p:cNvSpPr/>
          <p:nvPr/>
        </p:nvSpPr>
        <p:spPr>
          <a:xfrm>
            <a:off x="4429354" y="4381805"/>
            <a:ext cx="1904695" cy="400507"/>
          </a:xfrm>
          <a:prstGeom prst="rect">
            <a:avLst/>
          </a:prstGeom>
          <a:solidFill>
            <a:srgbClr val="0F172A">
              <a:alpha val="40000"/>
            </a:srgbClr>
          </a:solidFill>
          <a:ln/>
        </p:spPr>
      </p:sp>
      <p:sp>
        <p:nvSpPr>
          <p:cNvPr id="55" name="Shape 48"/>
          <p:cNvSpPr/>
          <p:nvPr/>
        </p:nvSpPr>
        <p:spPr>
          <a:xfrm>
            <a:off x="4429354" y="4773168"/>
            <a:ext cx="1904695" cy="9144"/>
          </a:xfrm>
          <a:prstGeom prst="rect">
            <a:avLst/>
          </a:prstGeom>
          <a:solidFill>
            <a:srgbClr val="1E293B"/>
          </a:solidFill>
          <a:ln/>
        </p:spPr>
      </p:sp>
      <p:sp>
        <p:nvSpPr>
          <p:cNvPr id="56" name="Shape 49"/>
          <p:cNvSpPr/>
          <p:nvPr/>
        </p:nvSpPr>
        <p:spPr>
          <a:xfrm>
            <a:off x="6330391" y="4381805"/>
            <a:ext cx="5400446" cy="400507"/>
          </a:xfrm>
          <a:prstGeom prst="rect">
            <a:avLst/>
          </a:prstGeom>
          <a:solidFill>
            <a:srgbClr val="0F172A">
              <a:alpha val="40000"/>
            </a:srgbClr>
          </a:solidFill>
          <a:ln/>
        </p:spPr>
      </p:sp>
      <p:sp>
        <p:nvSpPr>
          <p:cNvPr id="57" name="Shape 50"/>
          <p:cNvSpPr/>
          <p:nvPr/>
        </p:nvSpPr>
        <p:spPr>
          <a:xfrm>
            <a:off x="6330391" y="4773168"/>
            <a:ext cx="5400446" cy="9144"/>
          </a:xfrm>
          <a:prstGeom prst="rect">
            <a:avLst/>
          </a:prstGeom>
          <a:solidFill>
            <a:srgbClr val="1E293B"/>
          </a:solidFill>
          <a:ln/>
        </p:spPr>
      </p:sp>
      <p:sp>
        <p:nvSpPr>
          <p:cNvPr id="58" name="Shape 51"/>
          <p:cNvSpPr/>
          <p:nvPr/>
        </p:nvSpPr>
        <p:spPr>
          <a:xfrm>
            <a:off x="4429354" y="4781398"/>
            <a:ext cx="1904695" cy="400507"/>
          </a:xfrm>
          <a:prstGeom prst="rect">
            <a:avLst/>
          </a:prstGeom>
          <a:solidFill>
            <a:srgbClr val="0F172A">
              <a:alpha val="40000"/>
            </a:srgbClr>
          </a:solidFill>
          <a:ln/>
        </p:spPr>
      </p:sp>
      <p:sp>
        <p:nvSpPr>
          <p:cNvPr id="59" name="Shape 52"/>
          <p:cNvSpPr/>
          <p:nvPr/>
        </p:nvSpPr>
        <p:spPr>
          <a:xfrm>
            <a:off x="4429354" y="5172761"/>
            <a:ext cx="1904695" cy="9144"/>
          </a:xfrm>
          <a:prstGeom prst="rect">
            <a:avLst/>
          </a:prstGeom>
          <a:solidFill>
            <a:srgbClr val="1E293B"/>
          </a:solidFill>
          <a:ln/>
        </p:spPr>
      </p:sp>
      <p:sp>
        <p:nvSpPr>
          <p:cNvPr id="60" name="Shape 53"/>
          <p:cNvSpPr/>
          <p:nvPr/>
        </p:nvSpPr>
        <p:spPr>
          <a:xfrm>
            <a:off x="6330391" y="4781398"/>
            <a:ext cx="5400446" cy="400507"/>
          </a:xfrm>
          <a:prstGeom prst="rect">
            <a:avLst/>
          </a:prstGeom>
          <a:solidFill>
            <a:srgbClr val="0F172A">
              <a:alpha val="40000"/>
            </a:srgbClr>
          </a:solidFill>
          <a:ln/>
        </p:spPr>
      </p:sp>
      <p:sp>
        <p:nvSpPr>
          <p:cNvPr id="61" name="Shape 54"/>
          <p:cNvSpPr/>
          <p:nvPr/>
        </p:nvSpPr>
        <p:spPr>
          <a:xfrm>
            <a:off x="6330391" y="5172761"/>
            <a:ext cx="5400446" cy="9144"/>
          </a:xfrm>
          <a:prstGeom prst="rect">
            <a:avLst/>
          </a:prstGeom>
          <a:solidFill>
            <a:srgbClr val="1E293B"/>
          </a:solidFill>
          <a:ln/>
        </p:spPr>
      </p:sp>
      <p:sp>
        <p:nvSpPr>
          <p:cNvPr id="62" name="Shape 55"/>
          <p:cNvSpPr/>
          <p:nvPr/>
        </p:nvSpPr>
        <p:spPr>
          <a:xfrm>
            <a:off x="4429354" y="5181905"/>
            <a:ext cx="1904695" cy="400507"/>
          </a:xfrm>
          <a:prstGeom prst="rect">
            <a:avLst/>
          </a:prstGeom>
          <a:solidFill>
            <a:srgbClr val="0F172A">
              <a:alpha val="40000"/>
            </a:srgbClr>
          </a:solidFill>
          <a:ln/>
        </p:spPr>
      </p:sp>
      <p:sp>
        <p:nvSpPr>
          <p:cNvPr id="63" name="Shape 56"/>
          <p:cNvSpPr/>
          <p:nvPr/>
        </p:nvSpPr>
        <p:spPr>
          <a:xfrm>
            <a:off x="4429354" y="5573268"/>
            <a:ext cx="1904695" cy="9144"/>
          </a:xfrm>
          <a:prstGeom prst="rect">
            <a:avLst/>
          </a:prstGeom>
          <a:solidFill>
            <a:srgbClr val="1E293B"/>
          </a:solidFill>
          <a:ln/>
        </p:spPr>
      </p:sp>
      <p:sp>
        <p:nvSpPr>
          <p:cNvPr id="64" name="Shape 57"/>
          <p:cNvSpPr/>
          <p:nvPr/>
        </p:nvSpPr>
        <p:spPr>
          <a:xfrm>
            <a:off x="6330391" y="5181905"/>
            <a:ext cx="5400446" cy="400507"/>
          </a:xfrm>
          <a:prstGeom prst="rect">
            <a:avLst/>
          </a:prstGeom>
          <a:solidFill>
            <a:srgbClr val="0F172A">
              <a:alpha val="40000"/>
            </a:srgbClr>
          </a:solidFill>
          <a:ln/>
        </p:spPr>
      </p:sp>
      <p:sp>
        <p:nvSpPr>
          <p:cNvPr id="65" name="Shape 58"/>
          <p:cNvSpPr/>
          <p:nvPr/>
        </p:nvSpPr>
        <p:spPr>
          <a:xfrm>
            <a:off x="6330391" y="5573268"/>
            <a:ext cx="5400446" cy="9144"/>
          </a:xfrm>
          <a:prstGeom prst="rect">
            <a:avLst/>
          </a:prstGeom>
          <a:solidFill>
            <a:srgbClr val="1E293B"/>
          </a:solidFill>
          <a:ln/>
        </p:spPr>
      </p:sp>
      <p:sp>
        <p:nvSpPr>
          <p:cNvPr id="66" name="Shape 59"/>
          <p:cNvSpPr/>
          <p:nvPr/>
        </p:nvSpPr>
        <p:spPr>
          <a:xfrm>
            <a:off x="4429354" y="5581498"/>
            <a:ext cx="1904695" cy="390449"/>
          </a:xfrm>
          <a:prstGeom prst="rect">
            <a:avLst/>
          </a:prstGeom>
          <a:solidFill>
            <a:srgbClr val="0F172A">
              <a:alpha val="40000"/>
            </a:srgbClr>
          </a:solidFill>
          <a:ln/>
        </p:spPr>
      </p:sp>
      <p:sp>
        <p:nvSpPr>
          <p:cNvPr id="67" name="Shape 60"/>
          <p:cNvSpPr/>
          <p:nvPr/>
        </p:nvSpPr>
        <p:spPr>
          <a:xfrm>
            <a:off x="6330391" y="5581498"/>
            <a:ext cx="5400446" cy="390449"/>
          </a:xfrm>
          <a:prstGeom prst="rect">
            <a:avLst/>
          </a:prstGeom>
          <a:solidFill>
            <a:srgbClr val="0F172A">
              <a:alpha val="40000"/>
            </a:srgbClr>
          </a:solidFill>
          <a:ln/>
        </p:spPr>
      </p:sp>
      <p:sp>
        <p:nvSpPr>
          <p:cNvPr id="68" name="Text 61"/>
          <p:cNvSpPr txBox="1"/>
          <p:nvPr/>
        </p:nvSpPr>
        <p:spPr>
          <a:xfrm>
            <a:off x="694944" y="2190902"/>
            <a:ext cx="2843784" cy="600761"/>
          </a:xfrm>
          <a:prstGeom prst="rect">
            <a:avLst/>
          </a:prstGeom>
          <a:noFill/>
          <a:ln/>
        </p:spPr>
        <p:txBody>
          <a:bodyPr wrap="square" lIns="0" tIns="0" rIns="0" bIns="0" rtlCol="0" anchor="ctr"/>
          <a:lstStyle/>
          <a:p>
            <a:pPr marL="0" indent="0" algn="l">
              <a:buNone/>
            </a:pPr>
            <a:r>
              <a:rPr lang="en-US" sz="1000" dirty="0">
                <a:solidFill>
                  <a:srgbClr val="D1D5DB"/>
                </a:solidFill>
                <a:latin typeface="Inter" pitchFamily="34" charset="0"/>
                <a:ea typeface="Inter" pitchFamily="34" charset="-122"/>
                <a:cs typeface="Inter" pitchFamily="34" charset="-120"/>
              </a:rPr>
              <a:t>The dataset consists of web traffic records captured from a production web server and monitored using AWS CloudWatch.</a:t>
            </a:r>
            <a:endParaRPr lang="en-US" sz="1000" dirty="0"/>
          </a:p>
        </p:txBody>
      </p:sp>
      <p:sp>
        <p:nvSpPr>
          <p:cNvPr id="69" name="Text 62"/>
          <p:cNvSpPr txBox="1"/>
          <p:nvPr/>
        </p:nvSpPr>
        <p:spPr>
          <a:xfrm>
            <a:off x="694944" y="4402836"/>
            <a:ext cx="3110789" cy="819302"/>
          </a:xfrm>
          <a:prstGeom prst="rect">
            <a:avLst/>
          </a:prstGeom>
          <a:noFill/>
          <a:ln/>
        </p:spPr>
        <p:txBody>
          <a:bodyPr wrap="square" lIns="0" tIns="0" rIns="0" bIns="0" rtlCol="0" anchor="ctr"/>
          <a:lstStyle/>
          <a:p>
            <a:pPr marL="0" indent="0" algn="l">
              <a:buNone/>
            </a:pPr>
            <a:r>
              <a:rPr lang="en-US" sz="1000" dirty="0">
                <a:solidFill>
                  <a:srgbClr val="D1D5DB"/>
                </a:solidFill>
                <a:latin typeface="Inter" pitchFamily="34" charset="0"/>
                <a:ea typeface="Inter" pitchFamily="34" charset="-122"/>
                <a:cs typeface="Inter" pitchFamily="34" charset="-120"/>
              </a:rPr>
              <a:t>Each record represents a single web interaction session that was flagged or observed during traffic monitoring. The dataset is structured specifically for cybersecurity analysis.</a:t>
            </a:r>
            <a:endParaRPr lang="en-US" sz="1000" dirty="0"/>
          </a:p>
        </p:txBody>
      </p:sp>
      <p:sp>
        <p:nvSpPr>
          <p:cNvPr id="70" name="Text 63"/>
          <p:cNvSpPr txBox="1"/>
          <p:nvPr/>
        </p:nvSpPr>
        <p:spPr>
          <a:xfrm>
            <a:off x="4419295" y="1571854"/>
            <a:ext cx="2015338" cy="219456"/>
          </a:xfrm>
          <a:prstGeom prst="rect">
            <a:avLst/>
          </a:prstGeom>
          <a:noFill/>
          <a:ln/>
        </p:spPr>
        <p:txBody>
          <a:bodyPr wrap="square" lIns="0" tIns="0" rIns="0" bIns="0" rtlCol="0" anchor="ctr"/>
          <a:lstStyle/>
          <a:p>
            <a:pPr marL="0" indent="0" algn="l">
              <a:buNone/>
            </a:pPr>
            <a:r>
              <a:rPr lang="en-US" sz="1300" b="1" dirty="0">
                <a:solidFill>
                  <a:srgbClr val="FFFFFF"/>
                </a:solidFill>
                <a:latin typeface="Space Grotesk" pitchFamily="34" charset="0"/>
                <a:ea typeface="Space Grotesk" pitchFamily="34" charset="-122"/>
                <a:cs typeface="Space Grotesk" pitchFamily="34" charset="-120"/>
              </a:rPr>
              <a:t>Key Attributes Schema</a:t>
            </a:r>
            <a:endParaRPr lang="en-US" sz="1300" dirty="0"/>
          </a:p>
        </p:txBody>
      </p:sp>
      <p:pic>
        <p:nvPicPr>
          <p:cNvPr id="71" name="Image 5" descr="preencoded.png"/>
          <p:cNvPicPr>
            <a:picLocks noChangeAspect="1"/>
          </p:cNvPicPr>
          <p:nvPr/>
        </p:nvPicPr>
        <p:blipFill>
          <a:blip r:embed="rId8"/>
          <a:srcRect/>
          <a:stretch/>
        </p:blipFill>
        <p:spPr>
          <a:xfrm>
            <a:off x="10004450" y="1614830"/>
            <a:ext cx="114300" cy="114300"/>
          </a:xfrm>
          <a:prstGeom prst="rect">
            <a:avLst/>
          </a:prstGeom>
        </p:spPr>
      </p:pic>
      <p:sp>
        <p:nvSpPr>
          <p:cNvPr id="72" name="Text 64"/>
          <p:cNvSpPr txBox="1"/>
          <p:nvPr/>
        </p:nvSpPr>
        <p:spPr>
          <a:xfrm>
            <a:off x="10157155" y="1619402"/>
            <a:ext cx="1666951" cy="133502"/>
          </a:xfrm>
          <a:prstGeom prst="rect">
            <a:avLst/>
          </a:prstGeom>
          <a:noFill/>
          <a:ln/>
        </p:spPr>
        <p:txBody>
          <a:bodyPr wrap="square" lIns="0" tIns="0" rIns="0" bIns="0" rtlCol="0" anchor="ctr"/>
          <a:lstStyle/>
          <a:p>
            <a:pPr marL="0" indent="0" algn="l">
              <a:buNone/>
            </a:pPr>
            <a:r>
              <a:rPr lang="en-US" sz="900" dirty="0">
                <a:solidFill>
                  <a:srgbClr val="6B7280"/>
                </a:solidFill>
                <a:latin typeface="ui-monospace" pitchFamily="34" charset="0"/>
                <a:ea typeface="ui-monospace" pitchFamily="34" charset="-122"/>
                <a:cs typeface="ui-monospace" pitchFamily="34" charset="-120"/>
              </a:rPr>
              <a:t>table: web_traffic_logs</a:t>
            </a:r>
            <a:endParaRPr lang="en-US" sz="900" dirty="0"/>
          </a:p>
        </p:txBody>
      </p:sp>
      <p:sp>
        <p:nvSpPr>
          <p:cNvPr id="73" name="Text 65"/>
          <p:cNvSpPr txBox="1"/>
          <p:nvPr/>
        </p:nvSpPr>
        <p:spPr>
          <a:xfrm>
            <a:off x="4619549" y="2076602"/>
            <a:ext cx="1215238" cy="162763"/>
          </a:xfrm>
          <a:prstGeom prst="rect">
            <a:avLst/>
          </a:prstGeom>
          <a:noFill/>
          <a:ln/>
        </p:spPr>
        <p:txBody>
          <a:bodyPr wrap="square" lIns="0" tIns="0" rIns="0" bIns="0" rtlCol="0" anchor="ctr"/>
          <a:lstStyle/>
          <a:p>
            <a:pPr marL="0" indent="0" algn="l">
              <a:buNone/>
            </a:pPr>
            <a:r>
              <a:rPr lang="en-US" sz="1000" b="1" dirty="0">
                <a:solidFill>
                  <a:srgbClr val="38BDF8"/>
                </a:solidFill>
                <a:latin typeface="Inter" pitchFamily="34" charset="0"/>
                <a:ea typeface="Inter" pitchFamily="34" charset="-122"/>
                <a:cs typeface="Inter" pitchFamily="34" charset="-120"/>
              </a:rPr>
              <a:t>COLUMN NAME</a:t>
            </a:r>
            <a:endParaRPr lang="en-US" sz="1000" dirty="0"/>
          </a:p>
        </p:txBody>
      </p:sp>
      <p:sp>
        <p:nvSpPr>
          <p:cNvPr id="74" name="Text 66"/>
          <p:cNvSpPr txBox="1"/>
          <p:nvPr/>
        </p:nvSpPr>
        <p:spPr>
          <a:xfrm>
            <a:off x="6521501" y="2076602"/>
            <a:ext cx="1081735" cy="162763"/>
          </a:xfrm>
          <a:prstGeom prst="rect">
            <a:avLst/>
          </a:prstGeom>
          <a:noFill/>
          <a:ln/>
        </p:spPr>
        <p:txBody>
          <a:bodyPr wrap="square" lIns="0" tIns="0" rIns="0" bIns="0" rtlCol="0" anchor="ctr"/>
          <a:lstStyle/>
          <a:p>
            <a:pPr marL="0" indent="0" algn="l">
              <a:buNone/>
            </a:pPr>
            <a:r>
              <a:rPr lang="en-US" sz="1000" b="1" dirty="0">
                <a:solidFill>
                  <a:srgbClr val="38BDF8"/>
                </a:solidFill>
                <a:latin typeface="Inter" pitchFamily="34" charset="0"/>
                <a:ea typeface="Inter" pitchFamily="34" charset="-122"/>
                <a:cs typeface="Inter" pitchFamily="34" charset="-120"/>
              </a:rPr>
              <a:t>DESCRIPTION</a:t>
            </a:r>
            <a:endParaRPr lang="en-US" sz="1000" dirty="0"/>
          </a:p>
        </p:txBody>
      </p:sp>
      <p:sp>
        <p:nvSpPr>
          <p:cNvPr id="75" name="Text 67"/>
          <p:cNvSpPr txBox="1"/>
          <p:nvPr/>
        </p:nvSpPr>
        <p:spPr>
          <a:xfrm>
            <a:off x="4619549" y="2486254"/>
            <a:ext cx="747979" cy="181051"/>
          </a:xfrm>
          <a:prstGeom prst="rect">
            <a:avLst/>
          </a:prstGeom>
          <a:noFill/>
          <a:ln/>
        </p:spPr>
        <p:txBody>
          <a:bodyPr wrap="square" lIns="0" tIns="0" rIns="0" bIns="0" rtlCol="0" anchor="ctr"/>
          <a:lstStyle/>
          <a:p>
            <a:pPr marL="0" indent="0" algn="l">
              <a:buNone/>
            </a:pPr>
            <a:r>
              <a:rPr lang="en-US" sz="1000" dirty="0">
                <a:solidFill>
                  <a:srgbClr val="CBD5E1"/>
                </a:solidFill>
                <a:latin typeface="Courier New" pitchFamily="34" charset="0"/>
                <a:ea typeface="Courier New" pitchFamily="34" charset="-122"/>
                <a:cs typeface="Courier New" pitchFamily="34" charset="-120"/>
              </a:rPr>
              <a:t>bytes_in</a:t>
            </a:r>
            <a:endParaRPr lang="en-US" sz="1000" dirty="0"/>
          </a:p>
        </p:txBody>
      </p:sp>
      <p:sp>
        <p:nvSpPr>
          <p:cNvPr id="76" name="Text 68"/>
          <p:cNvSpPr txBox="1"/>
          <p:nvPr/>
        </p:nvSpPr>
        <p:spPr>
          <a:xfrm>
            <a:off x="6521501" y="2495398"/>
            <a:ext cx="3643884" cy="162763"/>
          </a:xfrm>
          <a:prstGeom prst="rect">
            <a:avLst/>
          </a:prstGeom>
          <a:noFill/>
          <a:ln/>
        </p:spPr>
        <p:txBody>
          <a:bodyPr wrap="square" lIns="0" tIns="0" rIns="0" bIns="0" rtlCol="0" anchor="ctr"/>
          <a:lstStyle/>
          <a:p>
            <a:pPr marL="0" indent="0" algn="l">
              <a:buNone/>
            </a:pPr>
            <a:r>
              <a:rPr lang="en-US" sz="1000" dirty="0">
                <a:solidFill>
                  <a:srgbClr val="CBD5E1"/>
                </a:solidFill>
                <a:latin typeface="Inter" pitchFamily="34" charset="0"/>
                <a:ea typeface="Inter" pitchFamily="34" charset="-122"/>
                <a:cs typeface="Inter" pitchFamily="34" charset="-120"/>
              </a:rPr>
              <a:t>Amount of data received by the server (incoming traffic)</a:t>
            </a:r>
            <a:endParaRPr lang="en-US" sz="1000" dirty="0"/>
          </a:p>
        </p:txBody>
      </p:sp>
      <p:sp>
        <p:nvSpPr>
          <p:cNvPr id="77" name="Text 69"/>
          <p:cNvSpPr txBox="1"/>
          <p:nvPr/>
        </p:nvSpPr>
        <p:spPr>
          <a:xfrm>
            <a:off x="4619549" y="2885846"/>
            <a:ext cx="824789" cy="181051"/>
          </a:xfrm>
          <a:prstGeom prst="rect">
            <a:avLst/>
          </a:prstGeom>
          <a:noFill/>
          <a:ln/>
        </p:spPr>
        <p:txBody>
          <a:bodyPr wrap="square" lIns="0" tIns="0" rIns="0" bIns="0" rtlCol="0" anchor="ctr"/>
          <a:lstStyle/>
          <a:p>
            <a:pPr marL="0" indent="0" algn="l">
              <a:buNone/>
            </a:pPr>
            <a:r>
              <a:rPr lang="en-US" sz="1000" dirty="0">
                <a:solidFill>
                  <a:srgbClr val="CBD5E1"/>
                </a:solidFill>
                <a:latin typeface="Courier New" pitchFamily="34" charset="0"/>
                <a:ea typeface="Courier New" pitchFamily="34" charset="-122"/>
                <a:cs typeface="Courier New" pitchFamily="34" charset="-120"/>
              </a:rPr>
              <a:t>bytes_out</a:t>
            </a:r>
            <a:endParaRPr lang="en-US" sz="1000" dirty="0"/>
          </a:p>
        </p:txBody>
      </p:sp>
      <p:sp>
        <p:nvSpPr>
          <p:cNvPr id="78" name="Text 70"/>
          <p:cNvSpPr txBox="1"/>
          <p:nvPr/>
        </p:nvSpPr>
        <p:spPr>
          <a:xfrm>
            <a:off x="6521501" y="2895905"/>
            <a:ext cx="3700577" cy="162763"/>
          </a:xfrm>
          <a:prstGeom prst="rect">
            <a:avLst/>
          </a:prstGeom>
          <a:noFill/>
          <a:ln/>
        </p:spPr>
        <p:txBody>
          <a:bodyPr wrap="square" lIns="0" tIns="0" rIns="0" bIns="0" rtlCol="0" anchor="ctr"/>
          <a:lstStyle/>
          <a:p>
            <a:pPr marL="0" indent="0" algn="l">
              <a:buNone/>
            </a:pPr>
            <a:r>
              <a:rPr lang="en-US" sz="1000" dirty="0">
                <a:solidFill>
                  <a:srgbClr val="CBD5E1"/>
                </a:solidFill>
                <a:latin typeface="Inter" pitchFamily="34" charset="0"/>
                <a:ea typeface="Inter" pitchFamily="34" charset="-122"/>
                <a:cs typeface="Inter" pitchFamily="34" charset="-120"/>
              </a:rPr>
              <a:t>Amount of data sent from the server (outgoing response)</a:t>
            </a:r>
            <a:endParaRPr lang="en-US" sz="1000" dirty="0"/>
          </a:p>
        </p:txBody>
      </p:sp>
      <p:sp>
        <p:nvSpPr>
          <p:cNvPr id="79" name="Text 71"/>
          <p:cNvSpPr txBox="1"/>
          <p:nvPr/>
        </p:nvSpPr>
        <p:spPr>
          <a:xfrm>
            <a:off x="4619549" y="3286354"/>
            <a:ext cx="1148486" cy="181051"/>
          </a:xfrm>
          <a:prstGeom prst="rect">
            <a:avLst/>
          </a:prstGeom>
          <a:noFill/>
          <a:ln/>
        </p:spPr>
        <p:txBody>
          <a:bodyPr wrap="square" lIns="0" tIns="0" rIns="0" bIns="0" rtlCol="0" anchor="ctr"/>
          <a:lstStyle/>
          <a:p>
            <a:pPr marL="0" indent="0" algn="l">
              <a:buNone/>
            </a:pPr>
            <a:r>
              <a:rPr lang="en-US" sz="1000" dirty="0">
                <a:solidFill>
                  <a:srgbClr val="CBD5E1"/>
                </a:solidFill>
                <a:latin typeface="Courier New" pitchFamily="34" charset="0"/>
                <a:ea typeface="Courier New" pitchFamily="34" charset="-122"/>
                <a:cs typeface="Courier New" pitchFamily="34" charset="-120"/>
              </a:rPr>
              <a:t>creation_time</a:t>
            </a:r>
            <a:endParaRPr lang="en-US" sz="1000" dirty="0"/>
          </a:p>
        </p:txBody>
      </p:sp>
      <p:sp>
        <p:nvSpPr>
          <p:cNvPr id="80" name="Text 72"/>
          <p:cNvSpPr txBox="1"/>
          <p:nvPr/>
        </p:nvSpPr>
        <p:spPr>
          <a:xfrm>
            <a:off x="6521501" y="3295498"/>
            <a:ext cx="2328977" cy="162763"/>
          </a:xfrm>
          <a:prstGeom prst="rect">
            <a:avLst/>
          </a:prstGeom>
          <a:noFill/>
          <a:ln/>
        </p:spPr>
        <p:txBody>
          <a:bodyPr wrap="square" lIns="0" tIns="0" rIns="0" bIns="0" rtlCol="0" anchor="ctr"/>
          <a:lstStyle/>
          <a:p>
            <a:pPr marL="0" indent="0" algn="l">
              <a:buNone/>
            </a:pPr>
            <a:r>
              <a:rPr lang="en-US" sz="1000" dirty="0">
                <a:solidFill>
                  <a:srgbClr val="CBD5E1"/>
                </a:solidFill>
                <a:latin typeface="Inter" pitchFamily="34" charset="0"/>
                <a:ea typeface="Inter" pitchFamily="34" charset="-122"/>
                <a:cs typeface="Inter" pitchFamily="34" charset="-120"/>
              </a:rPr>
              <a:t>Start timestamp of the web session</a:t>
            </a:r>
            <a:endParaRPr lang="en-US" sz="1000" dirty="0"/>
          </a:p>
        </p:txBody>
      </p:sp>
      <p:sp>
        <p:nvSpPr>
          <p:cNvPr id="81" name="Text 73"/>
          <p:cNvSpPr txBox="1"/>
          <p:nvPr/>
        </p:nvSpPr>
        <p:spPr>
          <a:xfrm>
            <a:off x="4619549" y="3685946"/>
            <a:ext cx="747979" cy="181051"/>
          </a:xfrm>
          <a:prstGeom prst="rect">
            <a:avLst/>
          </a:prstGeom>
          <a:noFill/>
          <a:ln/>
        </p:spPr>
        <p:txBody>
          <a:bodyPr wrap="square" lIns="0" tIns="0" rIns="0" bIns="0" rtlCol="0" anchor="ctr"/>
          <a:lstStyle/>
          <a:p>
            <a:pPr marL="0" indent="0" algn="l">
              <a:buNone/>
            </a:pPr>
            <a:r>
              <a:rPr lang="en-US" sz="1000" dirty="0">
                <a:solidFill>
                  <a:srgbClr val="CBD5E1"/>
                </a:solidFill>
                <a:latin typeface="Courier New" pitchFamily="34" charset="0"/>
                <a:ea typeface="Courier New" pitchFamily="34" charset="-122"/>
                <a:cs typeface="Courier New" pitchFamily="34" charset="-120"/>
              </a:rPr>
              <a:t>end_time</a:t>
            </a:r>
            <a:endParaRPr lang="en-US" sz="1000" dirty="0"/>
          </a:p>
        </p:txBody>
      </p:sp>
      <p:sp>
        <p:nvSpPr>
          <p:cNvPr id="82" name="Text 74"/>
          <p:cNvSpPr txBox="1"/>
          <p:nvPr/>
        </p:nvSpPr>
        <p:spPr>
          <a:xfrm>
            <a:off x="6521501" y="3696005"/>
            <a:ext cx="2272284" cy="162763"/>
          </a:xfrm>
          <a:prstGeom prst="rect">
            <a:avLst/>
          </a:prstGeom>
          <a:noFill/>
          <a:ln/>
        </p:spPr>
        <p:txBody>
          <a:bodyPr wrap="square" lIns="0" tIns="0" rIns="0" bIns="0" rtlCol="0" anchor="ctr"/>
          <a:lstStyle/>
          <a:p>
            <a:pPr marL="0" indent="0" algn="l">
              <a:buNone/>
            </a:pPr>
            <a:r>
              <a:rPr lang="en-US" sz="1000" dirty="0">
                <a:solidFill>
                  <a:srgbClr val="CBD5E1"/>
                </a:solidFill>
                <a:latin typeface="Inter" pitchFamily="34" charset="0"/>
                <a:ea typeface="Inter" pitchFamily="34" charset="-122"/>
                <a:cs typeface="Inter" pitchFamily="34" charset="-120"/>
              </a:rPr>
              <a:t>End timestamp of the web session</a:t>
            </a:r>
            <a:endParaRPr lang="en-US" sz="1000" dirty="0"/>
          </a:p>
        </p:txBody>
      </p:sp>
      <p:sp>
        <p:nvSpPr>
          <p:cNvPr id="83" name="Text 75"/>
          <p:cNvSpPr txBox="1"/>
          <p:nvPr/>
        </p:nvSpPr>
        <p:spPr>
          <a:xfrm>
            <a:off x="4619549" y="4086454"/>
            <a:ext cx="586130" cy="181051"/>
          </a:xfrm>
          <a:prstGeom prst="rect">
            <a:avLst/>
          </a:prstGeom>
          <a:noFill/>
          <a:ln/>
        </p:spPr>
        <p:txBody>
          <a:bodyPr wrap="square" lIns="0" tIns="0" rIns="0" bIns="0" rtlCol="0" anchor="ctr"/>
          <a:lstStyle/>
          <a:p>
            <a:pPr marL="0" indent="0" algn="l">
              <a:buNone/>
            </a:pPr>
            <a:r>
              <a:rPr lang="en-US" sz="1000" dirty="0">
                <a:solidFill>
                  <a:srgbClr val="CBD5E1"/>
                </a:solidFill>
                <a:latin typeface="Courier New" pitchFamily="34" charset="0"/>
                <a:ea typeface="Courier New" pitchFamily="34" charset="-122"/>
                <a:cs typeface="Courier New" pitchFamily="34" charset="-120"/>
              </a:rPr>
              <a:t>src_ip</a:t>
            </a:r>
            <a:endParaRPr lang="en-US" sz="1000" dirty="0"/>
          </a:p>
        </p:txBody>
      </p:sp>
      <p:sp>
        <p:nvSpPr>
          <p:cNvPr id="84" name="Text 76"/>
          <p:cNvSpPr txBox="1"/>
          <p:nvPr/>
        </p:nvSpPr>
        <p:spPr>
          <a:xfrm>
            <a:off x="6521501" y="4095598"/>
            <a:ext cx="2567635" cy="162763"/>
          </a:xfrm>
          <a:prstGeom prst="rect">
            <a:avLst/>
          </a:prstGeom>
          <a:noFill/>
          <a:ln/>
        </p:spPr>
        <p:txBody>
          <a:bodyPr wrap="square" lIns="0" tIns="0" rIns="0" bIns="0" rtlCol="0" anchor="ctr"/>
          <a:lstStyle/>
          <a:p>
            <a:pPr marL="0" indent="0" algn="l">
              <a:buNone/>
            </a:pPr>
            <a:r>
              <a:rPr lang="en-US" sz="1000" dirty="0">
                <a:solidFill>
                  <a:srgbClr val="CBD5E1"/>
                </a:solidFill>
                <a:latin typeface="Inter" pitchFamily="34" charset="0"/>
                <a:ea typeface="Inter" pitchFamily="34" charset="-122"/>
                <a:cs typeface="Inter" pitchFamily="34" charset="-120"/>
              </a:rPr>
              <a:t>Source IP address of the request origin</a:t>
            </a:r>
            <a:endParaRPr lang="en-US" sz="1000" dirty="0"/>
          </a:p>
        </p:txBody>
      </p:sp>
      <p:sp>
        <p:nvSpPr>
          <p:cNvPr id="85" name="Text 77"/>
          <p:cNvSpPr txBox="1"/>
          <p:nvPr/>
        </p:nvSpPr>
        <p:spPr>
          <a:xfrm>
            <a:off x="4619549" y="4486046"/>
            <a:ext cx="1624889" cy="181051"/>
          </a:xfrm>
          <a:prstGeom prst="rect">
            <a:avLst/>
          </a:prstGeom>
          <a:noFill/>
          <a:ln/>
        </p:spPr>
        <p:txBody>
          <a:bodyPr wrap="square" lIns="0" tIns="0" rIns="0" bIns="0" rtlCol="0" anchor="ctr"/>
          <a:lstStyle/>
          <a:p>
            <a:pPr marL="0" indent="0" algn="l">
              <a:buNone/>
            </a:pPr>
            <a:r>
              <a:rPr lang="en-US" sz="1000" dirty="0">
                <a:solidFill>
                  <a:srgbClr val="CBD5E1"/>
                </a:solidFill>
                <a:latin typeface="Courier New" pitchFamily="34" charset="0"/>
                <a:ea typeface="Courier New" pitchFamily="34" charset="-122"/>
                <a:cs typeface="Courier New" pitchFamily="34" charset="-120"/>
              </a:rPr>
              <a:t>src_ip_country_code</a:t>
            </a:r>
            <a:endParaRPr lang="en-US" sz="1000" dirty="0"/>
          </a:p>
        </p:txBody>
      </p:sp>
      <p:sp>
        <p:nvSpPr>
          <p:cNvPr id="86" name="Text 78"/>
          <p:cNvSpPr txBox="1"/>
          <p:nvPr/>
        </p:nvSpPr>
        <p:spPr>
          <a:xfrm>
            <a:off x="6521501" y="4496105"/>
            <a:ext cx="2424989" cy="162763"/>
          </a:xfrm>
          <a:prstGeom prst="rect">
            <a:avLst/>
          </a:prstGeom>
          <a:noFill/>
          <a:ln/>
        </p:spPr>
        <p:txBody>
          <a:bodyPr wrap="square" lIns="0" tIns="0" rIns="0" bIns="0" rtlCol="0" anchor="ctr"/>
          <a:lstStyle/>
          <a:p>
            <a:pPr marL="0" indent="0" algn="l">
              <a:buNone/>
            </a:pPr>
            <a:r>
              <a:rPr lang="en-US" sz="1000" dirty="0">
                <a:solidFill>
                  <a:srgbClr val="CBD5E1"/>
                </a:solidFill>
                <a:latin typeface="Inter" pitchFamily="34" charset="0"/>
                <a:ea typeface="Inter" pitchFamily="34" charset="-122"/>
                <a:cs typeface="Inter" pitchFamily="34" charset="-120"/>
              </a:rPr>
              <a:t>Two-letter country code of the origin</a:t>
            </a:r>
            <a:endParaRPr lang="en-US" sz="1000" dirty="0"/>
          </a:p>
        </p:txBody>
      </p:sp>
      <p:sp>
        <p:nvSpPr>
          <p:cNvPr id="87" name="Text 79"/>
          <p:cNvSpPr txBox="1"/>
          <p:nvPr/>
        </p:nvSpPr>
        <p:spPr>
          <a:xfrm>
            <a:off x="4619549" y="4886554"/>
            <a:ext cx="747979" cy="181051"/>
          </a:xfrm>
          <a:prstGeom prst="rect">
            <a:avLst/>
          </a:prstGeom>
          <a:noFill/>
          <a:ln/>
        </p:spPr>
        <p:txBody>
          <a:bodyPr wrap="square" lIns="0" tIns="0" rIns="0" bIns="0" rtlCol="0" anchor="ctr"/>
          <a:lstStyle/>
          <a:p>
            <a:pPr marL="0" indent="0" algn="l">
              <a:buNone/>
            </a:pPr>
            <a:r>
              <a:rPr lang="en-US" sz="1000" dirty="0">
                <a:solidFill>
                  <a:srgbClr val="CBD5E1"/>
                </a:solidFill>
                <a:latin typeface="Courier New" pitchFamily="34" charset="0"/>
                <a:ea typeface="Courier New" pitchFamily="34" charset="-122"/>
                <a:cs typeface="Courier New" pitchFamily="34" charset="-120"/>
              </a:rPr>
              <a:t>protocol</a:t>
            </a:r>
            <a:endParaRPr lang="en-US" sz="1000" dirty="0"/>
          </a:p>
        </p:txBody>
      </p:sp>
      <p:sp>
        <p:nvSpPr>
          <p:cNvPr id="88" name="Text 80"/>
          <p:cNvSpPr txBox="1"/>
          <p:nvPr/>
        </p:nvSpPr>
        <p:spPr>
          <a:xfrm>
            <a:off x="6521501" y="4895698"/>
            <a:ext cx="2605126" cy="162763"/>
          </a:xfrm>
          <a:prstGeom prst="rect">
            <a:avLst/>
          </a:prstGeom>
          <a:noFill/>
          <a:ln/>
        </p:spPr>
        <p:txBody>
          <a:bodyPr wrap="square" lIns="0" tIns="0" rIns="0" bIns="0" rtlCol="0" anchor="ctr"/>
          <a:lstStyle/>
          <a:p>
            <a:pPr marL="0" indent="0" algn="l">
              <a:buNone/>
            </a:pPr>
            <a:r>
              <a:rPr lang="en-US" sz="1000" dirty="0">
                <a:solidFill>
                  <a:srgbClr val="CBD5E1"/>
                </a:solidFill>
                <a:latin typeface="Inter" pitchFamily="34" charset="0"/>
                <a:ea typeface="Inter" pitchFamily="34" charset="-122"/>
                <a:cs typeface="Inter" pitchFamily="34" charset="-120"/>
              </a:rPr>
              <a:t>Network protocol used (e.g., TCP, UDP)</a:t>
            </a:r>
            <a:endParaRPr lang="en-US" sz="1000" dirty="0"/>
          </a:p>
        </p:txBody>
      </p:sp>
      <p:sp>
        <p:nvSpPr>
          <p:cNvPr id="89" name="Text 81"/>
          <p:cNvSpPr txBox="1"/>
          <p:nvPr/>
        </p:nvSpPr>
        <p:spPr>
          <a:xfrm>
            <a:off x="4619549" y="5286146"/>
            <a:ext cx="747979" cy="181051"/>
          </a:xfrm>
          <a:prstGeom prst="rect">
            <a:avLst/>
          </a:prstGeom>
          <a:noFill/>
          <a:ln/>
        </p:spPr>
        <p:txBody>
          <a:bodyPr wrap="square" lIns="0" tIns="0" rIns="0" bIns="0" rtlCol="0" anchor="ctr"/>
          <a:lstStyle/>
          <a:p>
            <a:pPr marL="0" indent="0" algn="l">
              <a:buNone/>
            </a:pPr>
            <a:r>
              <a:rPr lang="en-US" sz="1000" dirty="0">
                <a:solidFill>
                  <a:srgbClr val="CBD5E1"/>
                </a:solidFill>
                <a:latin typeface="Courier New" pitchFamily="34" charset="0"/>
                <a:ea typeface="Courier New" pitchFamily="34" charset="-122"/>
                <a:cs typeface="Courier New" pitchFamily="34" charset="-120"/>
              </a:rPr>
              <a:t>dst_port</a:t>
            </a:r>
            <a:endParaRPr lang="en-US" sz="1000" dirty="0"/>
          </a:p>
        </p:txBody>
      </p:sp>
      <p:sp>
        <p:nvSpPr>
          <p:cNvPr id="90" name="Text 82"/>
          <p:cNvSpPr txBox="1"/>
          <p:nvPr/>
        </p:nvSpPr>
        <p:spPr>
          <a:xfrm>
            <a:off x="6521501" y="5296205"/>
            <a:ext cx="2567635" cy="162763"/>
          </a:xfrm>
          <a:prstGeom prst="rect">
            <a:avLst/>
          </a:prstGeom>
          <a:noFill/>
          <a:ln/>
        </p:spPr>
        <p:txBody>
          <a:bodyPr wrap="square" lIns="0" tIns="0" rIns="0" bIns="0" rtlCol="0" anchor="ctr"/>
          <a:lstStyle/>
          <a:p>
            <a:pPr marL="0" indent="0" algn="l">
              <a:buNone/>
            </a:pPr>
            <a:r>
              <a:rPr lang="en-US" sz="1000" dirty="0">
                <a:solidFill>
                  <a:srgbClr val="CBD5E1"/>
                </a:solidFill>
                <a:latin typeface="Inter" pitchFamily="34" charset="0"/>
                <a:ea typeface="Inter" pitchFamily="34" charset="-122"/>
                <a:cs typeface="Inter" pitchFamily="34" charset="-120"/>
              </a:rPr>
              <a:t>Destination port number (e.g., 80, 443)</a:t>
            </a:r>
            <a:endParaRPr lang="en-US" sz="1000" dirty="0"/>
          </a:p>
        </p:txBody>
      </p:sp>
      <p:sp>
        <p:nvSpPr>
          <p:cNvPr id="91" name="Text 83"/>
          <p:cNvSpPr txBox="1"/>
          <p:nvPr/>
        </p:nvSpPr>
        <p:spPr>
          <a:xfrm>
            <a:off x="4619549" y="5686654"/>
            <a:ext cx="1310335" cy="181051"/>
          </a:xfrm>
          <a:prstGeom prst="rect">
            <a:avLst/>
          </a:prstGeom>
          <a:noFill/>
          <a:ln/>
        </p:spPr>
        <p:txBody>
          <a:bodyPr wrap="square" lIns="0" tIns="0" rIns="0" bIns="0" rtlCol="0" anchor="ctr"/>
          <a:lstStyle/>
          <a:p>
            <a:pPr marL="0" indent="0" algn="l">
              <a:buNone/>
            </a:pPr>
            <a:r>
              <a:rPr lang="en-US" sz="1000" dirty="0">
                <a:solidFill>
                  <a:srgbClr val="CBD5E1"/>
                </a:solidFill>
                <a:latin typeface="Courier New" pitchFamily="34" charset="0"/>
                <a:ea typeface="Courier New" pitchFamily="34" charset="-122"/>
                <a:cs typeface="Courier New" pitchFamily="34" charset="-120"/>
              </a:rPr>
              <a:t>detection_types</a:t>
            </a:r>
            <a:endParaRPr lang="en-US" sz="1000" dirty="0"/>
          </a:p>
        </p:txBody>
      </p:sp>
      <p:sp>
        <p:nvSpPr>
          <p:cNvPr id="92" name="Text 84"/>
          <p:cNvSpPr txBox="1"/>
          <p:nvPr/>
        </p:nvSpPr>
        <p:spPr>
          <a:xfrm>
            <a:off x="6521501" y="5695798"/>
            <a:ext cx="3462833" cy="162763"/>
          </a:xfrm>
          <a:prstGeom prst="rect">
            <a:avLst/>
          </a:prstGeom>
          <a:noFill/>
          <a:ln/>
        </p:spPr>
        <p:txBody>
          <a:bodyPr wrap="square" lIns="0" tIns="0" rIns="0" bIns="0" rtlCol="0" anchor="ctr"/>
          <a:lstStyle/>
          <a:p>
            <a:pPr marL="0" indent="0" algn="l">
              <a:buNone/>
            </a:pPr>
            <a:r>
              <a:rPr lang="en-US" sz="1000" dirty="0">
                <a:solidFill>
                  <a:srgbClr val="CBD5E1"/>
                </a:solidFill>
                <a:latin typeface="Inter" pitchFamily="34" charset="0"/>
                <a:ea typeface="Inter" pitchFamily="34" charset="-122"/>
                <a:cs typeface="Inter" pitchFamily="34" charset="-120"/>
              </a:rPr>
              <a:t>Type of security detection triggered (e.g., WAF rules)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120"/>
          </a:solidFill>
          <a:ln/>
        </p:spPr>
      </p:sp>
      <p:sp>
        <p:nvSpPr>
          <p:cNvPr id="3" name="Shape 1"/>
          <p:cNvSpPr/>
          <p:nvPr/>
        </p:nvSpPr>
        <p:spPr>
          <a:xfrm>
            <a:off x="0" y="0"/>
            <a:ext cx="12191695" cy="6858000"/>
          </a:xfrm>
          <a:prstGeom prst="rect">
            <a:avLst/>
          </a:prstGeom>
          <a:solidFill>
            <a:srgbClr val="0B1120"/>
          </a:solidFill>
          <a:ln/>
        </p:spPr>
      </p:sp>
      <p:sp>
        <p:nvSpPr>
          <p:cNvPr id="4" name="Shape 2"/>
          <p:cNvSpPr/>
          <p:nvPr/>
        </p:nvSpPr>
        <p:spPr>
          <a:xfrm>
            <a:off x="0" y="0"/>
            <a:ext cx="3657600" cy="3657600"/>
          </a:xfrm>
          <a:prstGeom prst="roundRect">
            <a:avLst>
              <a:gd name="adj" fmla="val 25000"/>
            </a:avLst>
          </a:prstGeom>
          <a:solidFill>
            <a:srgbClr val="1E3A8A">
              <a:alpha val="10000"/>
            </a:srgbClr>
          </a:solidFill>
          <a:ln/>
        </p:spPr>
      </p:sp>
      <p:sp>
        <p:nvSpPr>
          <p:cNvPr id="5" name="Shape 3"/>
          <p:cNvSpPr/>
          <p:nvPr/>
        </p:nvSpPr>
        <p:spPr>
          <a:xfrm>
            <a:off x="457200" y="6448349"/>
            <a:ext cx="11277295" cy="9144"/>
          </a:xfrm>
          <a:prstGeom prst="rect">
            <a:avLst/>
          </a:prstGeom>
          <a:solidFill>
            <a:srgbClr val="1F2937"/>
          </a:solidFill>
          <a:ln/>
        </p:spPr>
      </p:sp>
      <p:sp>
        <p:nvSpPr>
          <p:cNvPr id="7" name="Text 5"/>
          <p:cNvSpPr txBox="1"/>
          <p:nvPr/>
        </p:nvSpPr>
        <p:spPr>
          <a:xfrm>
            <a:off x="10728655" y="6543446"/>
            <a:ext cx="638251" cy="133502"/>
          </a:xfrm>
          <a:prstGeom prst="rect">
            <a:avLst/>
          </a:prstGeom>
          <a:noFill/>
          <a:ln/>
        </p:spPr>
        <p:txBody>
          <a:bodyPr wrap="square" lIns="0" tIns="0" rIns="0" bIns="0" rtlCol="0" anchor="ctr"/>
          <a:lstStyle/>
          <a:p>
            <a:pPr marL="0" indent="0" algn="l">
              <a:buNone/>
            </a:pPr>
            <a:r>
              <a:rPr lang="en-US" sz="900" dirty="0">
                <a:solidFill>
                  <a:srgbClr val="4B5563"/>
                </a:solidFill>
                <a:latin typeface="ui-monospace" pitchFamily="34" charset="0"/>
                <a:ea typeface="ui-monospace" pitchFamily="34" charset="-122"/>
                <a:cs typeface="ui-monospace" pitchFamily="34" charset="-120"/>
              </a:rPr>
              <a:t>SLIDE 05</a:t>
            </a:r>
            <a:endParaRPr lang="en-US" sz="900" dirty="0"/>
          </a:p>
        </p:txBody>
      </p:sp>
      <p:sp>
        <p:nvSpPr>
          <p:cNvPr id="8" name="Shape 6"/>
          <p:cNvSpPr/>
          <p:nvPr/>
        </p:nvSpPr>
        <p:spPr>
          <a:xfrm>
            <a:off x="0" y="1028700"/>
            <a:ext cx="12191695" cy="9144"/>
          </a:xfrm>
          <a:prstGeom prst="rect">
            <a:avLst/>
          </a:prstGeom>
          <a:solidFill>
            <a:srgbClr val="1F2937"/>
          </a:solidFill>
          <a:ln/>
        </p:spPr>
      </p:sp>
      <p:pic>
        <p:nvPicPr>
          <p:cNvPr id="9" name="Image 0" descr="preencoded.png"/>
          <p:cNvPicPr>
            <a:picLocks noChangeAspect="1"/>
          </p:cNvPicPr>
          <p:nvPr/>
        </p:nvPicPr>
        <p:blipFill>
          <a:blip r:embed="rId3"/>
          <a:srcRect l="-1507" r="-1507"/>
          <a:stretch/>
        </p:blipFill>
        <p:spPr>
          <a:xfrm>
            <a:off x="457200" y="390449"/>
            <a:ext cx="171907" cy="133502"/>
          </a:xfrm>
          <a:prstGeom prst="rect">
            <a:avLst/>
          </a:prstGeom>
        </p:spPr>
      </p:pic>
      <p:sp>
        <p:nvSpPr>
          <p:cNvPr id="11" name="Text 7"/>
          <p:cNvSpPr txBox="1"/>
          <p:nvPr/>
        </p:nvSpPr>
        <p:spPr>
          <a:xfrm>
            <a:off x="705002" y="381305"/>
            <a:ext cx="1124712" cy="143561"/>
          </a:xfrm>
          <a:prstGeom prst="rect">
            <a:avLst/>
          </a:prstGeom>
          <a:noFill/>
          <a:ln/>
        </p:spPr>
        <p:txBody>
          <a:bodyPr wrap="square" lIns="0" tIns="0" rIns="0" bIns="0" rtlCol="0" anchor="ctr"/>
          <a:lstStyle/>
          <a:p>
            <a:pPr marL="0" indent="0" algn="l">
              <a:buNone/>
            </a:pPr>
            <a:r>
              <a:rPr lang="en-US" sz="900" b="1" dirty="0">
                <a:solidFill>
                  <a:srgbClr val="FFFFFF"/>
                </a:solidFill>
                <a:latin typeface="Inter" pitchFamily="34" charset="0"/>
                <a:ea typeface="Inter" pitchFamily="34" charset="-122"/>
                <a:cs typeface="Inter" pitchFamily="34" charset="-120"/>
              </a:rPr>
              <a:t>METHODOLOGY</a:t>
            </a:r>
            <a:endParaRPr lang="en-US" sz="900" dirty="0"/>
          </a:p>
        </p:txBody>
      </p:sp>
      <p:sp>
        <p:nvSpPr>
          <p:cNvPr id="12" name="Text 8"/>
          <p:cNvSpPr txBox="1"/>
          <p:nvPr/>
        </p:nvSpPr>
        <p:spPr>
          <a:xfrm>
            <a:off x="457200" y="543154"/>
            <a:ext cx="4705502" cy="438912"/>
          </a:xfrm>
          <a:prstGeom prst="rect">
            <a:avLst/>
          </a:prstGeom>
          <a:noFill/>
          <a:ln/>
        </p:spPr>
        <p:txBody>
          <a:bodyPr wrap="square" lIns="0" tIns="0" rIns="0" bIns="0" rtlCol="0" anchor="ctr"/>
          <a:lstStyle/>
          <a:p>
            <a:pPr marL="0" indent="0" algn="l">
              <a:buNone/>
            </a:pPr>
            <a:r>
              <a:rPr lang="en-US" sz="2700" b="1" dirty="0">
                <a:solidFill>
                  <a:srgbClr val="FFFFFF"/>
                </a:solidFill>
                <a:latin typeface="Space Grotesk" pitchFamily="34" charset="0"/>
                <a:ea typeface="Space Grotesk" pitchFamily="34" charset="-122"/>
                <a:cs typeface="Space Grotesk" pitchFamily="34" charset="-120"/>
              </a:rPr>
              <a:t>Tools &amp; Process Framework</a:t>
            </a:r>
            <a:endParaRPr lang="en-US" sz="2700" dirty="0"/>
          </a:p>
        </p:txBody>
      </p:sp>
      <p:sp>
        <p:nvSpPr>
          <p:cNvPr id="14" name="Shape 10"/>
          <p:cNvSpPr/>
          <p:nvPr/>
        </p:nvSpPr>
        <p:spPr>
          <a:xfrm>
            <a:off x="457200" y="1343254"/>
            <a:ext cx="3610051" cy="1904695"/>
          </a:xfrm>
          <a:prstGeom prst="roundRect">
            <a:avLst>
              <a:gd name="adj" fmla="val 2880"/>
            </a:avLst>
          </a:prstGeom>
          <a:solidFill>
            <a:srgbClr val="1E293B">
              <a:alpha val="40000"/>
            </a:srgbClr>
          </a:solidFill>
          <a:ln w="12700">
            <a:solidFill>
              <a:srgbClr val="38BDF8">
                <a:alpha val="20000"/>
              </a:srgbClr>
            </a:solidFill>
            <a:prstDash val="solid"/>
          </a:ln>
        </p:spPr>
      </p:sp>
      <p:sp>
        <p:nvSpPr>
          <p:cNvPr id="15" name="Shape 11"/>
          <p:cNvSpPr/>
          <p:nvPr/>
        </p:nvSpPr>
        <p:spPr>
          <a:xfrm>
            <a:off x="1975104" y="1543507"/>
            <a:ext cx="571500" cy="571500"/>
          </a:xfrm>
          <a:prstGeom prst="roundRect">
            <a:avLst>
              <a:gd name="adj" fmla="val 32000"/>
            </a:avLst>
          </a:prstGeom>
          <a:solidFill>
            <a:srgbClr val="0F172A">
              <a:alpha val="60000"/>
            </a:srgbClr>
          </a:solidFill>
          <a:ln w="12700">
            <a:solidFill>
              <a:srgbClr val="38BDF8">
                <a:alpha val="30000"/>
              </a:srgbClr>
            </a:solidFill>
            <a:prstDash val="solid"/>
          </a:ln>
        </p:spPr>
      </p:sp>
      <p:pic>
        <p:nvPicPr>
          <p:cNvPr id="16" name="Image 2" descr="preencoded.png"/>
          <p:cNvPicPr>
            <a:picLocks noChangeAspect="1"/>
          </p:cNvPicPr>
          <p:nvPr/>
        </p:nvPicPr>
        <p:blipFill>
          <a:blip r:embed="rId4"/>
          <a:srcRect l="-881" r="-881"/>
          <a:stretch/>
        </p:blipFill>
        <p:spPr>
          <a:xfrm>
            <a:off x="2141525" y="1695298"/>
            <a:ext cx="237744" cy="267005"/>
          </a:xfrm>
          <a:prstGeom prst="rect">
            <a:avLst/>
          </a:prstGeom>
        </p:spPr>
      </p:pic>
      <p:sp>
        <p:nvSpPr>
          <p:cNvPr id="17" name="Shape 12"/>
          <p:cNvSpPr/>
          <p:nvPr/>
        </p:nvSpPr>
        <p:spPr>
          <a:xfrm>
            <a:off x="1431036" y="2800807"/>
            <a:ext cx="1666951" cy="247802"/>
          </a:xfrm>
          <a:prstGeom prst="roundRect">
            <a:avLst>
              <a:gd name="adj" fmla="val 56770"/>
            </a:avLst>
          </a:prstGeom>
          <a:noFill/>
          <a:ln w="12700">
            <a:solidFill>
              <a:srgbClr val="E5E7EB"/>
            </a:solidFill>
            <a:prstDash val="solid"/>
          </a:ln>
        </p:spPr>
      </p:sp>
      <p:sp>
        <p:nvSpPr>
          <p:cNvPr id="18" name="Shape 13"/>
          <p:cNvSpPr/>
          <p:nvPr/>
        </p:nvSpPr>
        <p:spPr>
          <a:xfrm>
            <a:off x="4292194" y="1343254"/>
            <a:ext cx="3610051" cy="1904695"/>
          </a:xfrm>
          <a:prstGeom prst="roundRect">
            <a:avLst>
              <a:gd name="adj" fmla="val 2880"/>
            </a:avLst>
          </a:prstGeom>
          <a:solidFill>
            <a:srgbClr val="1E293B">
              <a:alpha val="40000"/>
            </a:srgbClr>
          </a:solidFill>
          <a:ln w="12700">
            <a:solidFill>
              <a:srgbClr val="38BDF8">
                <a:alpha val="20000"/>
              </a:srgbClr>
            </a:solidFill>
            <a:prstDash val="solid"/>
          </a:ln>
        </p:spPr>
      </p:sp>
      <p:sp>
        <p:nvSpPr>
          <p:cNvPr id="19" name="Shape 14"/>
          <p:cNvSpPr/>
          <p:nvPr/>
        </p:nvSpPr>
        <p:spPr>
          <a:xfrm>
            <a:off x="5810098" y="1543507"/>
            <a:ext cx="571500" cy="571500"/>
          </a:xfrm>
          <a:prstGeom prst="roundRect">
            <a:avLst>
              <a:gd name="adj" fmla="val 32000"/>
            </a:avLst>
          </a:prstGeom>
          <a:solidFill>
            <a:srgbClr val="0F172A">
              <a:alpha val="60000"/>
            </a:srgbClr>
          </a:solidFill>
          <a:ln w="12700">
            <a:solidFill>
              <a:srgbClr val="38BDF8">
                <a:alpha val="30000"/>
              </a:srgbClr>
            </a:solidFill>
            <a:prstDash val="solid"/>
          </a:ln>
        </p:spPr>
      </p:sp>
      <p:pic>
        <p:nvPicPr>
          <p:cNvPr id="20" name="Image 3" descr="preencoded.png"/>
          <p:cNvPicPr>
            <a:picLocks noChangeAspect="1"/>
          </p:cNvPicPr>
          <p:nvPr/>
        </p:nvPicPr>
        <p:blipFill>
          <a:blip r:embed="rId5"/>
          <a:srcRect l="-685" r="-685"/>
          <a:stretch/>
        </p:blipFill>
        <p:spPr>
          <a:xfrm>
            <a:off x="5943600" y="1695298"/>
            <a:ext cx="304495" cy="267005"/>
          </a:xfrm>
          <a:prstGeom prst="rect">
            <a:avLst/>
          </a:prstGeom>
        </p:spPr>
      </p:pic>
      <p:sp>
        <p:nvSpPr>
          <p:cNvPr id="21" name="Shape 15"/>
          <p:cNvSpPr/>
          <p:nvPr/>
        </p:nvSpPr>
        <p:spPr>
          <a:xfrm>
            <a:off x="5341010" y="2800807"/>
            <a:ext cx="1514246" cy="247802"/>
          </a:xfrm>
          <a:prstGeom prst="roundRect">
            <a:avLst>
              <a:gd name="adj" fmla="val 56770"/>
            </a:avLst>
          </a:prstGeom>
          <a:noFill/>
          <a:ln w="12700">
            <a:solidFill>
              <a:srgbClr val="E5E7EB"/>
            </a:solidFill>
            <a:prstDash val="solid"/>
          </a:ln>
        </p:spPr>
      </p:sp>
      <p:sp>
        <p:nvSpPr>
          <p:cNvPr id="22" name="Shape 16"/>
          <p:cNvSpPr/>
          <p:nvPr/>
        </p:nvSpPr>
        <p:spPr>
          <a:xfrm>
            <a:off x="8128102" y="1343254"/>
            <a:ext cx="3610051" cy="1904695"/>
          </a:xfrm>
          <a:prstGeom prst="roundRect">
            <a:avLst>
              <a:gd name="adj" fmla="val 2880"/>
            </a:avLst>
          </a:prstGeom>
          <a:solidFill>
            <a:srgbClr val="1E293B">
              <a:alpha val="40000"/>
            </a:srgbClr>
          </a:solidFill>
          <a:ln w="12700">
            <a:solidFill>
              <a:srgbClr val="38BDF8">
                <a:alpha val="20000"/>
              </a:srgbClr>
            </a:solidFill>
            <a:prstDash val="solid"/>
          </a:ln>
        </p:spPr>
      </p:sp>
      <p:sp>
        <p:nvSpPr>
          <p:cNvPr id="23" name="Shape 17"/>
          <p:cNvSpPr/>
          <p:nvPr/>
        </p:nvSpPr>
        <p:spPr>
          <a:xfrm>
            <a:off x="9646006" y="1543507"/>
            <a:ext cx="571500" cy="571500"/>
          </a:xfrm>
          <a:prstGeom prst="roundRect">
            <a:avLst>
              <a:gd name="adj" fmla="val 32000"/>
            </a:avLst>
          </a:prstGeom>
          <a:solidFill>
            <a:srgbClr val="0F172A">
              <a:alpha val="60000"/>
            </a:srgbClr>
          </a:solidFill>
          <a:ln w="12700">
            <a:solidFill>
              <a:srgbClr val="38BDF8">
                <a:alpha val="30000"/>
              </a:srgbClr>
            </a:solidFill>
            <a:prstDash val="solid"/>
          </a:ln>
        </p:spPr>
      </p:sp>
      <p:pic>
        <p:nvPicPr>
          <p:cNvPr id="24" name="Image 4" descr="preencoded.png"/>
          <p:cNvPicPr>
            <a:picLocks noChangeAspect="1"/>
          </p:cNvPicPr>
          <p:nvPr/>
        </p:nvPicPr>
        <p:blipFill>
          <a:blip r:embed="rId6"/>
          <a:srcRect/>
          <a:stretch/>
        </p:blipFill>
        <p:spPr>
          <a:xfrm>
            <a:off x="9764878" y="1695298"/>
            <a:ext cx="333756" cy="267005"/>
          </a:xfrm>
          <a:prstGeom prst="rect">
            <a:avLst/>
          </a:prstGeom>
        </p:spPr>
      </p:pic>
      <p:sp>
        <p:nvSpPr>
          <p:cNvPr id="25" name="Shape 18"/>
          <p:cNvSpPr/>
          <p:nvPr/>
        </p:nvSpPr>
        <p:spPr>
          <a:xfrm>
            <a:off x="9298534" y="2800807"/>
            <a:ext cx="1266444" cy="247802"/>
          </a:xfrm>
          <a:prstGeom prst="roundRect">
            <a:avLst>
              <a:gd name="adj" fmla="val 56770"/>
            </a:avLst>
          </a:prstGeom>
          <a:noFill/>
          <a:ln w="12700">
            <a:solidFill>
              <a:srgbClr val="E5E7EB"/>
            </a:solidFill>
            <a:prstDash val="solid"/>
          </a:ln>
        </p:spPr>
      </p:sp>
      <p:sp>
        <p:nvSpPr>
          <p:cNvPr id="26" name="Text 19"/>
          <p:cNvSpPr txBox="1"/>
          <p:nvPr/>
        </p:nvSpPr>
        <p:spPr>
          <a:xfrm>
            <a:off x="457200" y="3629254"/>
            <a:ext cx="1828800" cy="267005"/>
          </a:xfrm>
          <a:prstGeom prst="rect">
            <a:avLst/>
          </a:prstGeom>
          <a:noFill/>
          <a:ln/>
        </p:spPr>
        <p:txBody>
          <a:bodyPr wrap="square" lIns="0" tIns="0" rIns="0" bIns="0" rtlCol="0" anchor="ctr"/>
          <a:lstStyle/>
          <a:p>
            <a:pPr marL="0" indent="0" algn="l">
              <a:buNone/>
            </a:pPr>
            <a:r>
              <a:rPr lang="en-US" sz="1500" b="1" dirty="0">
                <a:solidFill>
                  <a:srgbClr val="FFFFFF"/>
                </a:solidFill>
                <a:latin typeface="Space Grotesk" pitchFamily="34" charset="0"/>
                <a:ea typeface="Space Grotesk" pitchFamily="34" charset="-122"/>
                <a:cs typeface="Space Grotesk" pitchFamily="34" charset="-120"/>
              </a:rPr>
              <a:t>Analysis Workflow</a:t>
            </a:r>
            <a:endParaRPr lang="en-US" sz="1500" dirty="0"/>
          </a:p>
        </p:txBody>
      </p:sp>
      <p:sp>
        <p:nvSpPr>
          <p:cNvPr id="27" name="Text 20"/>
          <p:cNvSpPr txBox="1"/>
          <p:nvPr/>
        </p:nvSpPr>
        <p:spPr>
          <a:xfrm>
            <a:off x="1485900" y="2247595"/>
            <a:ext cx="1681582" cy="219456"/>
          </a:xfrm>
          <a:prstGeom prst="rect">
            <a:avLst/>
          </a:prstGeom>
          <a:noFill/>
          <a:ln/>
        </p:spPr>
        <p:txBody>
          <a:bodyPr wrap="square" lIns="0" tIns="0" rIns="0" bIns="0" rtlCol="0" anchor="ctr"/>
          <a:lstStyle/>
          <a:p>
            <a:pPr marL="0" indent="0" algn="ctr">
              <a:buNone/>
            </a:pPr>
            <a:r>
              <a:rPr lang="en-US" sz="1300" b="1" dirty="0">
                <a:solidFill>
                  <a:srgbClr val="FFFFFF"/>
                </a:solidFill>
                <a:latin typeface="Space Grotesk" pitchFamily="34" charset="0"/>
                <a:ea typeface="Space Grotesk" pitchFamily="34" charset="-122"/>
                <a:cs typeface="Space Grotesk" pitchFamily="34" charset="-120"/>
              </a:rPr>
              <a:t>MySQL Workbench</a:t>
            </a:r>
            <a:endParaRPr lang="en-US" sz="1300" dirty="0"/>
          </a:p>
        </p:txBody>
      </p:sp>
      <p:sp>
        <p:nvSpPr>
          <p:cNvPr id="28" name="Text 21"/>
          <p:cNvSpPr txBox="1"/>
          <p:nvPr/>
        </p:nvSpPr>
        <p:spPr>
          <a:xfrm>
            <a:off x="1455725" y="2533802"/>
            <a:ext cx="1696212" cy="143561"/>
          </a:xfrm>
          <a:prstGeom prst="rect">
            <a:avLst/>
          </a:prstGeom>
          <a:noFill/>
          <a:ln/>
        </p:spPr>
        <p:txBody>
          <a:bodyPr wrap="square" lIns="0" tIns="0" rIns="0" bIns="0" rtlCol="0" anchor="ctr"/>
          <a:lstStyle/>
          <a:p>
            <a:pPr marL="0" indent="0" algn="ctr">
              <a:buNone/>
            </a:pPr>
            <a:r>
              <a:rPr lang="en-US" sz="900" dirty="0">
                <a:solidFill>
                  <a:srgbClr val="9CA3AF"/>
                </a:solidFill>
                <a:latin typeface="Inter" pitchFamily="34" charset="0"/>
                <a:ea typeface="Inter" pitchFamily="34" charset="-122"/>
                <a:cs typeface="Inter" pitchFamily="34" charset="-120"/>
              </a:rPr>
              <a:t>Primary Analysis Environment</a:t>
            </a:r>
            <a:endParaRPr lang="en-US" sz="900" dirty="0"/>
          </a:p>
        </p:txBody>
      </p:sp>
      <p:sp>
        <p:nvSpPr>
          <p:cNvPr id="29" name="Text 22"/>
          <p:cNvSpPr txBox="1"/>
          <p:nvPr/>
        </p:nvSpPr>
        <p:spPr>
          <a:xfrm>
            <a:off x="1516990" y="2848356"/>
            <a:ext cx="1581912" cy="143561"/>
          </a:xfrm>
          <a:prstGeom prst="rect">
            <a:avLst/>
          </a:prstGeom>
          <a:noFill/>
          <a:ln/>
        </p:spPr>
        <p:txBody>
          <a:bodyPr wrap="square" lIns="0" tIns="0" rIns="0" bIns="0" rtlCol="0" anchor="ctr"/>
          <a:lstStyle/>
          <a:p>
            <a:pPr marL="0" indent="0" algn="ctr">
              <a:buNone/>
            </a:pPr>
            <a:r>
              <a:rPr lang="en-US" sz="900" dirty="0">
                <a:solidFill>
                  <a:srgbClr val="93C5FD"/>
                </a:solidFill>
                <a:latin typeface="Inter" pitchFamily="34" charset="0"/>
                <a:ea typeface="Inter" pitchFamily="34" charset="-122"/>
                <a:cs typeface="Inter" pitchFamily="34" charset="-120"/>
              </a:rPr>
              <a:t>Database Mgmt &amp; Querying</a:t>
            </a:r>
            <a:endParaRPr lang="en-US" sz="900" dirty="0"/>
          </a:p>
        </p:txBody>
      </p:sp>
      <p:sp>
        <p:nvSpPr>
          <p:cNvPr id="30" name="Text 23"/>
          <p:cNvSpPr txBox="1"/>
          <p:nvPr/>
        </p:nvSpPr>
        <p:spPr>
          <a:xfrm>
            <a:off x="4700016" y="2247595"/>
            <a:ext cx="2929738" cy="219456"/>
          </a:xfrm>
          <a:prstGeom prst="rect">
            <a:avLst/>
          </a:prstGeom>
          <a:noFill/>
          <a:ln/>
        </p:spPr>
        <p:txBody>
          <a:bodyPr wrap="square" lIns="0" tIns="0" rIns="0" bIns="0" rtlCol="0" anchor="ctr"/>
          <a:lstStyle/>
          <a:p>
            <a:pPr marL="0" indent="0" algn="ctr">
              <a:buNone/>
            </a:pPr>
            <a:r>
              <a:rPr lang="en-US" sz="1300" b="1" dirty="0">
                <a:solidFill>
                  <a:srgbClr val="FFFFFF"/>
                </a:solidFill>
                <a:latin typeface="Space Grotesk" pitchFamily="34" charset="0"/>
                <a:ea typeface="Space Grotesk" pitchFamily="34" charset="-122"/>
                <a:cs typeface="Space Grotesk" pitchFamily="34" charset="-120"/>
              </a:rPr>
              <a:t>SQL (Structured Query Language)</a:t>
            </a:r>
            <a:endParaRPr lang="en-US" sz="1300" dirty="0"/>
          </a:p>
        </p:txBody>
      </p:sp>
      <p:sp>
        <p:nvSpPr>
          <p:cNvPr id="31" name="Text 24"/>
          <p:cNvSpPr txBox="1"/>
          <p:nvPr/>
        </p:nvSpPr>
        <p:spPr>
          <a:xfrm>
            <a:off x="5402275" y="2533802"/>
            <a:ext cx="1476756" cy="143561"/>
          </a:xfrm>
          <a:prstGeom prst="rect">
            <a:avLst/>
          </a:prstGeom>
          <a:noFill/>
          <a:ln/>
        </p:spPr>
        <p:txBody>
          <a:bodyPr wrap="square" lIns="0" tIns="0" rIns="0" bIns="0" rtlCol="0" anchor="ctr"/>
          <a:lstStyle/>
          <a:p>
            <a:pPr marL="0" indent="0" algn="ctr">
              <a:buNone/>
            </a:pPr>
            <a:r>
              <a:rPr lang="en-US" sz="900" dirty="0">
                <a:solidFill>
                  <a:srgbClr val="9CA3AF"/>
                </a:solidFill>
                <a:latin typeface="Inter" pitchFamily="34" charset="0"/>
                <a:ea typeface="Inter" pitchFamily="34" charset="-122"/>
                <a:cs typeface="Inter" pitchFamily="34" charset="-120"/>
              </a:rPr>
              <a:t>Core Analytical Language</a:t>
            </a:r>
            <a:endParaRPr lang="en-US" sz="900" dirty="0"/>
          </a:p>
        </p:txBody>
      </p:sp>
      <p:sp>
        <p:nvSpPr>
          <p:cNvPr id="32" name="Text 25"/>
          <p:cNvSpPr txBox="1"/>
          <p:nvPr/>
        </p:nvSpPr>
        <p:spPr>
          <a:xfrm>
            <a:off x="5426964" y="2848356"/>
            <a:ext cx="1429207" cy="143561"/>
          </a:xfrm>
          <a:prstGeom prst="rect">
            <a:avLst/>
          </a:prstGeom>
          <a:noFill/>
          <a:ln/>
        </p:spPr>
        <p:txBody>
          <a:bodyPr wrap="square" lIns="0" tIns="0" rIns="0" bIns="0" rtlCol="0" anchor="ctr"/>
          <a:lstStyle/>
          <a:p>
            <a:pPr marL="0" indent="0" algn="ctr">
              <a:buNone/>
            </a:pPr>
            <a:r>
              <a:rPr lang="en-US" sz="900" dirty="0">
                <a:solidFill>
                  <a:srgbClr val="93C5FD"/>
                </a:solidFill>
                <a:latin typeface="Inter" pitchFamily="34" charset="0"/>
                <a:ea typeface="Inter" pitchFamily="34" charset="-122"/>
                <a:cs typeface="Inter" pitchFamily="34" charset="-120"/>
              </a:rPr>
              <a:t>Data Manipulation &amp; EDA</a:t>
            </a:r>
            <a:endParaRPr lang="en-US" sz="900" dirty="0"/>
          </a:p>
        </p:txBody>
      </p:sp>
      <p:sp>
        <p:nvSpPr>
          <p:cNvPr id="33" name="Text 26"/>
          <p:cNvSpPr txBox="1"/>
          <p:nvPr/>
        </p:nvSpPr>
        <p:spPr>
          <a:xfrm>
            <a:off x="9226296" y="2247595"/>
            <a:ext cx="1548079" cy="219456"/>
          </a:xfrm>
          <a:prstGeom prst="rect">
            <a:avLst/>
          </a:prstGeom>
          <a:noFill/>
          <a:ln/>
        </p:spPr>
        <p:txBody>
          <a:bodyPr wrap="square" lIns="0" tIns="0" rIns="0" bIns="0" rtlCol="0" anchor="ctr"/>
          <a:lstStyle/>
          <a:p>
            <a:pPr marL="0" indent="0" algn="ctr">
              <a:buNone/>
            </a:pPr>
            <a:r>
              <a:rPr lang="en-US" sz="1300" b="1" dirty="0">
                <a:solidFill>
                  <a:srgbClr val="FFFFFF"/>
                </a:solidFill>
                <a:latin typeface="Space Grotesk" pitchFamily="34" charset="0"/>
                <a:ea typeface="Space Grotesk" pitchFamily="34" charset="-122"/>
                <a:cs typeface="Space Grotesk" pitchFamily="34" charset="-120"/>
              </a:rPr>
              <a:t>AWS CloudWatch</a:t>
            </a:r>
            <a:endParaRPr lang="en-US" sz="1300" dirty="0"/>
          </a:p>
        </p:txBody>
      </p:sp>
      <p:sp>
        <p:nvSpPr>
          <p:cNvPr id="34" name="Text 27"/>
          <p:cNvSpPr txBox="1"/>
          <p:nvPr/>
        </p:nvSpPr>
        <p:spPr>
          <a:xfrm>
            <a:off x="9421063" y="2533802"/>
            <a:ext cx="1114654" cy="143561"/>
          </a:xfrm>
          <a:prstGeom prst="rect">
            <a:avLst/>
          </a:prstGeom>
          <a:noFill/>
          <a:ln/>
        </p:spPr>
        <p:txBody>
          <a:bodyPr wrap="square" lIns="0" tIns="0" rIns="0" bIns="0" rtlCol="0" anchor="ctr"/>
          <a:lstStyle/>
          <a:p>
            <a:pPr marL="0" indent="0" algn="ctr">
              <a:buNone/>
            </a:pPr>
            <a:r>
              <a:rPr lang="en-US" sz="900" dirty="0">
                <a:solidFill>
                  <a:srgbClr val="9CA3AF"/>
                </a:solidFill>
                <a:latin typeface="Inter" pitchFamily="34" charset="0"/>
                <a:ea typeface="Inter" pitchFamily="34" charset="-122"/>
                <a:cs typeface="Inter" pitchFamily="34" charset="-120"/>
              </a:rPr>
              <a:t>Data Source Origin</a:t>
            </a:r>
            <a:endParaRPr lang="en-US" sz="900" dirty="0"/>
          </a:p>
        </p:txBody>
      </p:sp>
      <p:sp>
        <p:nvSpPr>
          <p:cNvPr id="35" name="Text 28"/>
          <p:cNvSpPr txBox="1"/>
          <p:nvPr/>
        </p:nvSpPr>
        <p:spPr>
          <a:xfrm>
            <a:off x="9384487" y="2848356"/>
            <a:ext cx="1181405" cy="143561"/>
          </a:xfrm>
          <a:prstGeom prst="rect">
            <a:avLst/>
          </a:prstGeom>
          <a:noFill/>
          <a:ln/>
        </p:spPr>
        <p:txBody>
          <a:bodyPr wrap="square" lIns="0" tIns="0" rIns="0" bIns="0" rtlCol="0" anchor="ctr"/>
          <a:lstStyle/>
          <a:p>
            <a:pPr marL="0" indent="0" algn="ctr">
              <a:buNone/>
            </a:pPr>
            <a:r>
              <a:rPr lang="en-US" sz="900" dirty="0">
                <a:solidFill>
                  <a:srgbClr val="93C5FD"/>
                </a:solidFill>
                <a:latin typeface="Inter" pitchFamily="34" charset="0"/>
                <a:ea typeface="Inter" pitchFamily="34" charset="-122"/>
                <a:cs typeface="Inter" pitchFamily="34" charset="-120"/>
              </a:rPr>
              <a:t>Web Traffic Logging</a:t>
            </a:r>
            <a:endParaRPr lang="en-US" sz="900" dirty="0"/>
          </a:p>
        </p:txBody>
      </p:sp>
      <p:sp>
        <p:nvSpPr>
          <p:cNvPr id="36" name="Shape 29"/>
          <p:cNvSpPr/>
          <p:nvPr/>
        </p:nvSpPr>
        <p:spPr>
          <a:xfrm>
            <a:off x="933602" y="4496105"/>
            <a:ext cx="10325405" cy="19202"/>
          </a:xfrm>
          <a:prstGeom prst="rect">
            <a:avLst/>
          </a:prstGeom>
          <a:solidFill>
            <a:srgbClr val="38BDF8">
              <a:alpha val="20000"/>
            </a:srgbClr>
          </a:solidFill>
          <a:ln/>
        </p:spPr>
      </p:sp>
      <p:sp>
        <p:nvSpPr>
          <p:cNvPr id="37" name="Shape 30"/>
          <p:cNvSpPr/>
          <p:nvPr/>
        </p:nvSpPr>
        <p:spPr>
          <a:xfrm>
            <a:off x="1037844" y="4352544"/>
            <a:ext cx="304495" cy="304495"/>
          </a:xfrm>
          <a:prstGeom prst="ellipse">
            <a:avLst/>
          </a:prstGeom>
          <a:solidFill>
            <a:srgbClr val="0B1120"/>
          </a:solidFill>
          <a:ln w="25400">
            <a:solidFill>
              <a:srgbClr val="38BDF8"/>
            </a:solidFill>
            <a:prstDash val="solid"/>
          </a:ln>
          <a:effectLst>
            <a:outerShdw blurRad="12700" dist="12700" dir="16200000" algn="bl" rotWithShape="0">
              <a:srgbClr val="0B1120">
                <a:alpha val="100000"/>
              </a:srgbClr>
            </a:outerShdw>
          </a:effectLst>
        </p:spPr>
      </p:sp>
      <p:sp>
        <p:nvSpPr>
          <p:cNvPr id="38" name="Text 31"/>
          <p:cNvSpPr txBox="1"/>
          <p:nvPr/>
        </p:nvSpPr>
        <p:spPr>
          <a:xfrm>
            <a:off x="1155802" y="4390949"/>
            <a:ext cx="191110" cy="228600"/>
          </a:xfrm>
          <a:prstGeom prst="rect">
            <a:avLst/>
          </a:prstGeom>
          <a:noFill/>
          <a:ln/>
        </p:spPr>
        <p:txBody>
          <a:bodyPr wrap="square" lIns="0" tIns="0" rIns="0" bIns="0" rtlCol="0" anchor="ctr"/>
          <a:lstStyle/>
          <a:p>
            <a:pPr marL="0" indent="0" algn="l">
              <a:buNone/>
            </a:pPr>
            <a:r>
              <a:rPr lang="en-US" sz="1200" b="1" dirty="0">
                <a:solidFill>
                  <a:srgbClr val="38BDF8"/>
                </a:solidFill>
                <a:latin typeface="Space Grotesk" pitchFamily="34" charset="0"/>
                <a:ea typeface="Space Grotesk" pitchFamily="34" charset="-122"/>
                <a:cs typeface="Space Grotesk" pitchFamily="34" charset="-120"/>
              </a:rPr>
              <a:t>1</a:t>
            </a:r>
            <a:endParaRPr lang="en-US" sz="1200" dirty="0"/>
          </a:p>
        </p:txBody>
      </p:sp>
      <p:sp>
        <p:nvSpPr>
          <p:cNvPr id="39" name="Shape 32"/>
          <p:cNvSpPr/>
          <p:nvPr/>
        </p:nvSpPr>
        <p:spPr>
          <a:xfrm>
            <a:off x="457200" y="4809744"/>
            <a:ext cx="1466698" cy="1333195"/>
          </a:xfrm>
          <a:prstGeom prst="roundRect">
            <a:avLst>
              <a:gd name="adj" fmla="val 3919"/>
            </a:avLst>
          </a:prstGeom>
          <a:solidFill>
            <a:srgbClr val="1E293B">
              <a:alpha val="60000"/>
            </a:srgbClr>
          </a:solidFill>
          <a:ln w="12700">
            <a:solidFill>
              <a:srgbClr val="475569">
                <a:alpha val="50000"/>
              </a:srgbClr>
            </a:solidFill>
            <a:prstDash val="solid"/>
          </a:ln>
        </p:spPr>
      </p:sp>
      <p:pic>
        <p:nvPicPr>
          <p:cNvPr id="40" name="Image 5" descr="preencoded.png"/>
          <p:cNvPicPr>
            <a:picLocks noChangeAspect="1"/>
          </p:cNvPicPr>
          <p:nvPr/>
        </p:nvPicPr>
        <p:blipFill>
          <a:blip r:embed="rId7"/>
          <a:srcRect l="-265130" r="-265130"/>
          <a:stretch/>
        </p:blipFill>
        <p:spPr>
          <a:xfrm>
            <a:off x="580644" y="4934102"/>
            <a:ext cx="1218895" cy="171907"/>
          </a:xfrm>
          <a:prstGeom prst="rect">
            <a:avLst/>
          </a:prstGeom>
        </p:spPr>
      </p:pic>
      <p:sp>
        <p:nvSpPr>
          <p:cNvPr id="41" name="Text 33"/>
          <p:cNvSpPr txBox="1"/>
          <p:nvPr/>
        </p:nvSpPr>
        <p:spPr>
          <a:xfrm>
            <a:off x="580644" y="5191049"/>
            <a:ext cx="700430" cy="171907"/>
          </a:xfrm>
          <a:prstGeom prst="rect">
            <a:avLst/>
          </a:prstGeom>
          <a:noFill/>
          <a:ln/>
        </p:spPr>
        <p:txBody>
          <a:bodyPr wrap="square" lIns="0" tIns="0" rIns="0" bIns="0" rtlCol="0" anchor="ctr"/>
          <a:lstStyle/>
          <a:p>
            <a:pPr marL="0" indent="0" algn="l">
              <a:buNone/>
            </a:pPr>
            <a:r>
              <a:rPr lang="en-US" sz="1000" b="1" dirty="0">
                <a:solidFill>
                  <a:srgbClr val="FFFFFF"/>
                </a:solidFill>
                <a:latin typeface="Space Grotesk" pitchFamily="34" charset="0"/>
                <a:ea typeface="Space Grotesk" pitchFamily="34" charset="-122"/>
                <a:cs typeface="Space Grotesk" pitchFamily="34" charset="-120"/>
              </a:rPr>
              <a:t>DB Setup</a:t>
            </a:r>
            <a:endParaRPr lang="en-US" sz="1000" dirty="0"/>
          </a:p>
        </p:txBody>
      </p:sp>
      <p:sp>
        <p:nvSpPr>
          <p:cNvPr id="42" name="Text 34"/>
          <p:cNvSpPr txBox="1"/>
          <p:nvPr/>
        </p:nvSpPr>
        <p:spPr>
          <a:xfrm>
            <a:off x="580644" y="5410505"/>
            <a:ext cx="1172261" cy="457200"/>
          </a:xfrm>
          <a:prstGeom prst="rect">
            <a:avLst/>
          </a:prstGeom>
          <a:noFill/>
          <a:ln/>
        </p:spPr>
        <p:txBody>
          <a:bodyPr wrap="square" lIns="0" tIns="0" rIns="0" bIns="0" rtlCol="0" anchor="ctr"/>
          <a:lstStyle/>
          <a:p>
            <a:pPr marL="0" indent="0" algn="l">
              <a:buNone/>
            </a:pPr>
            <a:r>
              <a:rPr lang="en-US" sz="900" dirty="0">
                <a:solidFill>
                  <a:srgbClr val="9CA3AF"/>
                </a:solidFill>
                <a:latin typeface="Inter" pitchFamily="34" charset="0"/>
                <a:ea typeface="Inter" pitchFamily="34" charset="-122"/>
                <a:cs typeface="Inter" pitchFamily="34" charset="-120"/>
              </a:rPr>
              <a:t>Create dedicated database schema in MySQL Workbench</a:t>
            </a:r>
            <a:endParaRPr lang="en-US" sz="900" dirty="0"/>
          </a:p>
        </p:txBody>
      </p:sp>
      <p:sp>
        <p:nvSpPr>
          <p:cNvPr id="43" name="Shape 35"/>
          <p:cNvSpPr/>
          <p:nvPr/>
        </p:nvSpPr>
        <p:spPr>
          <a:xfrm>
            <a:off x="2672791" y="4352544"/>
            <a:ext cx="304495" cy="304495"/>
          </a:xfrm>
          <a:prstGeom prst="ellipse">
            <a:avLst/>
          </a:prstGeom>
          <a:solidFill>
            <a:srgbClr val="0B1120"/>
          </a:solidFill>
          <a:ln w="25400">
            <a:solidFill>
              <a:srgbClr val="38BDF8"/>
            </a:solidFill>
            <a:prstDash val="solid"/>
          </a:ln>
          <a:effectLst>
            <a:outerShdw blurRad="12700" dist="12700" dir="16200000" algn="bl" rotWithShape="0">
              <a:srgbClr val="0B1120">
                <a:alpha val="100000"/>
              </a:srgbClr>
            </a:outerShdw>
          </a:effectLst>
        </p:spPr>
      </p:sp>
      <p:sp>
        <p:nvSpPr>
          <p:cNvPr id="44" name="Text 36"/>
          <p:cNvSpPr txBox="1"/>
          <p:nvPr/>
        </p:nvSpPr>
        <p:spPr>
          <a:xfrm>
            <a:off x="2779776" y="4390949"/>
            <a:ext cx="210312" cy="228600"/>
          </a:xfrm>
          <a:prstGeom prst="rect">
            <a:avLst/>
          </a:prstGeom>
          <a:noFill/>
          <a:ln/>
        </p:spPr>
        <p:txBody>
          <a:bodyPr wrap="square" lIns="0" tIns="0" rIns="0" bIns="0" rtlCol="0" anchor="ctr"/>
          <a:lstStyle/>
          <a:p>
            <a:pPr marL="0" indent="0" algn="l">
              <a:buNone/>
            </a:pPr>
            <a:r>
              <a:rPr lang="en-US" sz="1200" b="1" dirty="0">
                <a:solidFill>
                  <a:srgbClr val="38BDF8"/>
                </a:solidFill>
                <a:latin typeface="Space Grotesk" pitchFamily="34" charset="0"/>
                <a:ea typeface="Space Grotesk" pitchFamily="34" charset="-122"/>
                <a:cs typeface="Space Grotesk" pitchFamily="34" charset="-120"/>
              </a:rPr>
              <a:t>2</a:t>
            </a:r>
            <a:endParaRPr lang="en-US" sz="1200" dirty="0"/>
          </a:p>
        </p:txBody>
      </p:sp>
      <p:sp>
        <p:nvSpPr>
          <p:cNvPr id="45" name="Shape 37"/>
          <p:cNvSpPr/>
          <p:nvPr/>
        </p:nvSpPr>
        <p:spPr>
          <a:xfrm>
            <a:off x="2092147" y="4809744"/>
            <a:ext cx="1466698" cy="1333195"/>
          </a:xfrm>
          <a:prstGeom prst="roundRect">
            <a:avLst>
              <a:gd name="adj" fmla="val 3919"/>
            </a:avLst>
          </a:prstGeom>
          <a:solidFill>
            <a:srgbClr val="1E293B">
              <a:alpha val="60000"/>
            </a:srgbClr>
          </a:solidFill>
          <a:ln w="12700">
            <a:solidFill>
              <a:srgbClr val="475569">
                <a:alpha val="50000"/>
              </a:srgbClr>
            </a:solidFill>
            <a:prstDash val="solid"/>
          </a:ln>
        </p:spPr>
      </p:sp>
      <p:pic>
        <p:nvPicPr>
          <p:cNvPr id="46" name="Image 6" descr="preencoded.png"/>
          <p:cNvPicPr>
            <a:picLocks noChangeAspect="1"/>
          </p:cNvPicPr>
          <p:nvPr/>
        </p:nvPicPr>
        <p:blipFill>
          <a:blip r:embed="rId8"/>
          <a:srcRect l="-304522" r="-304522"/>
          <a:stretch/>
        </p:blipFill>
        <p:spPr>
          <a:xfrm>
            <a:off x="2216506" y="4934102"/>
            <a:ext cx="1218895" cy="171907"/>
          </a:xfrm>
          <a:prstGeom prst="rect">
            <a:avLst/>
          </a:prstGeom>
        </p:spPr>
      </p:pic>
      <p:sp>
        <p:nvSpPr>
          <p:cNvPr id="47" name="Text 38"/>
          <p:cNvSpPr txBox="1"/>
          <p:nvPr/>
        </p:nvSpPr>
        <p:spPr>
          <a:xfrm>
            <a:off x="2216506" y="5191049"/>
            <a:ext cx="538582" cy="171907"/>
          </a:xfrm>
          <a:prstGeom prst="rect">
            <a:avLst/>
          </a:prstGeom>
          <a:noFill/>
          <a:ln/>
        </p:spPr>
        <p:txBody>
          <a:bodyPr wrap="square" lIns="0" tIns="0" rIns="0" bIns="0" rtlCol="0" anchor="ctr"/>
          <a:lstStyle/>
          <a:p>
            <a:pPr marL="0" indent="0" algn="l">
              <a:buNone/>
            </a:pPr>
            <a:r>
              <a:rPr lang="en-US" sz="1000" b="1" dirty="0">
                <a:solidFill>
                  <a:srgbClr val="FFFFFF"/>
                </a:solidFill>
                <a:latin typeface="Space Grotesk" pitchFamily="34" charset="0"/>
                <a:ea typeface="Space Grotesk" pitchFamily="34" charset="-122"/>
                <a:cs typeface="Space Grotesk" pitchFamily="34" charset="-120"/>
              </a:rPr>
              <a:t>Import</a:t>
            </a:r>
            <a:endParaRPr lang="en-US" sz="1000" dirty="0"/>
          </a:p>
        </p:txBody>
      </p:sp>
      <p:sp>
        <p:nvSpPr>
          <p:cNvPr id="48" name="Text 39"/>
          <p:cNvSpPr txBox="1"/>
          <p:nvPr/>
        </p:nvSpPr>
        <p:spPr>
          <a:xfrm>
            <a:off x="2216506" y="5410505"/>
            <a:ext cx="981151" cy="619963"/>
          </a:xfrm>
          <a:prstGeom prst="rect">
            <a:avLst/>
          </a:prstGeom>
          <a:noFill/>
          <a:ln/>
        </p:spPr>
        <p:txBody>
          <a:bodyPr wrap="square" lIns="0" tIns="0" rIns="0" bIns="0" rtlCol="0" anchor="ctr"/>
          <a:lstStyle/>
          <a:p>
            <a:pPr marL="0" indent="0" algn="l">
              <a:buNone/>
            </a:pPr>
            <a:r>
              <a:rPr lang="en-US" sz="900" dirty="0">
                <a:solidFill>
                  <a:srgbClr val="9CA3AF"/>
                </a:solidFill>
                <a:latin typeface="Inter" pitchFamily="34" charset="0"/>
                <a:ea typeface="Inter" pitchFamily="34" charset="-122"/>
                <a:cs typeface="Inter" pitchFamily="34" charset="-120"/>
              </a:rPr>
              <a:t>Load dataset via Import Wizard ensuring correct types</a:t>
            </a:r>
            <a:endParaRPr lang="en-US" sz="900" dirty="0"/>
          </a:p>
        </p:txBody>
      </p:sp>
      <p:sp>
        <p:nvSpPr>
          <p:cNvPr id="49" name="Shape 40"/>
          <p:cNvSpPr/>
          <p:nvPr/>
        </p:nvSpPr>
        <p:spPr>
          <a:xfrm>
            <a:off x="4307738" y="4352544"/>
            <a:ext cx="304495" cy="304495"/>
          </a:xfrm>
          <a:prstGeom prst="ellipse">
            <a:avLst/>
          </a:prstGeom>
          <a:solidFill>
            <a:srgbClr val="0B1120"/>
          </a:solidFill>
          <a:ln w="25400">
            <a:solidFill>
              <a:srgbClr val="38BDF8"/>
            </a:solidFill>
            <a:prstDash val="solid"/>
          </a:ln>
          <a:effectLst>
            <a:outerShdw blurRad="12700" dist="12700" dir="16200000" algn="bl" rotWithShape="0">
              <a:srgbClr val="0B1120">
                <a:alpha val="100000"/>
              </a:srgbClr>
            </a:outerShdw>
          </a:effectLst>
        </p:spPr>
      </p:sp>
      <p:sp>
        <p:nvSpPr>
          <p:cNvPr id="50" name="Text 41"/>
          <p:cNvSpPr txBox="1"/>
          <p:nvPr/>
        </p:nvSpPr>
        <p:spPr>
          <a:xfrm>
            <a:off x="4413809" y="4390949"/>
            <a:ext cx="210312" cy="228600"/>
          </a:xfrm>
          <a:prstGeom prst="rect">
            <a:avLst/>
          </a:prstGeom>
          <a:noFill/>
          <a:ln/>
        </p:spPr>
        <p:txBody>
          <a:bodyPr wrap="square" lIns="0" tIns="0" rIns="0" bIns="0" rtlCol="0" anchor="ctr"/>
          <a:lstStyle/>
          <a:p>
            <a:pPr marL="0" indent="0" algn="l">
              <a:buNone/>
            </a:pPr>
            <a:r>
              <a:rPr lang="en-US" sz="1200" b="1" dirty="0">
                <a:solidFill>
                  <a:srgbClr val="38BDF8"/>
                </a:solidFill>
                <a:latin typeface="Space Grotesk" pitchFamily="34" charset="0"/>
                <a:ea typeface="Space Grotesk" pitchFamily="34" charset="-122"/>
                <a:cs typeface="Space Grotesk" pitchFamily="34" charset="-120"/>
              </a:rPr>
              <a:t>3</a:t>
            </a:r>
            <a:endParaRPr lang="en-US" sz="1200" dirty="0"/>
          </a:p>
        </p:txBody>
      </p:sp>
      <p:sp>
        <p:nvSpPr>
          <p:cNvPr id="51" name="Shape 42"/>
          <p:cNvSpPr/>
          <p:nvPr/>
        </p:nvSpPr>
        <p:spPr>
          <a:xfrm>
            <a:off x="3727094" y="4809744"/>
            <a:ext cx="1466698" cy="1333195"/>
          </a:xfrm>
          <a:prstGeom prst="roundRect">
            <a:avLst>
              <a:gd name="adj" fmla="val 3919"/>
            </a:avLst>
          </a:prstGeom>
          <a:solidFill>
            <a:srgbClr val="1E293B">
              <a:alpha val="60000"/>
            </a:srgbClr>
          </a:solidFill>
          <a:ln w="12700">
            <a:solidFill>
              <a:srgbClr val="475569">
                <a:alpha val="50000"/>
              </a:srgbClr>
            </a:solidFill>
            <a:prstDash val="solid"/>
          </a:ln>
        </p:spPr>
      </p:sp>
      <p:pic>
        <p:nvPicPr>
          <p:cNvPr id="52" name="Image 7" descr="preencoded.png"/>
          <p:cNvPicPr>
            <a:picLocks noChangeAspect="1"/>
          </p:cNvPicPr>
          <p:nvPr/>
        </p:nvPicPr>
        <p:blipFill>
          <a:blip r:embed="rId9"/>
          <a:srcRect l="-265130" r="-265130"/>
          <a:stretch/>
        </p:blipFill>
        <p:spPr>
          <a:xfrm>
            <a:off x="3851453" y="4934102"/>
            <a:ext cx="1218895" cy="171907"/>
          </a:xfrm>
          <a:prstGeom prst="rect">
            <a:avLst/>
          </a:prstGeom>
        </p:spPr>
      </p:pic>
      <p:sp>
        <p:nvSpPr>
          <p:cNvPr id="53" name="Text 43"/>
          <p:cNvSpPr txBox="1"/>
          <p:nvPr/>
        </p:nvSpPr>
        <p:spPr>
          <a:xfrm>
            <a:off x="3851453" y="5191049"/>
            <a:ext cx="662026" cy="171907"/>
          </a:xfrm>
          <a:prstGeom prst="rect">
            <a:avLst/>
          </a:prstGeom>
          <a:noFill/>
          <a:ln/>
        </p:spPr>
        <p:txBody>
          <a:bodyPr wrap="square" lIns="0" tIns="0" rIns="0" bIns="0" rtlCol="0" anchor="ctr"/>
          <a:lstStyle/>
          <a:p>
            <a:pPr marL="0" indent="0" algn="l">
              <a:buNone/>
            </a:pPr>
            <a:r>
              <a:rPr lang="en-US" sz="1000" b="1" dirty="0">
                <a:solidFill>
                  <a:srgbClr val="FFFFFF"/>
                </a:solidFill>
                <a:latin typeface="Space Grotesk" pitchFamily="34" charset="0"/>
                <a:ea typeface="Space Grotesk" pitchFamily="34" charset="-122"/>
                <a:cs typeface="Space Grotesk" pitchFamily="34" charset="-120"/>
              </a:rPr>
              <a:t>Cleaning</a:t>
            </a:r>
            <a:endParaRPr lang="en-US" sz="1000" dirty="0"/>
          </a:p>
        </p:txBody>
      </p:sp>
      <p:sp>
        <p:nvSpPr>
          <p:cNvPr id="54" name="Text 44"/>
          <p:cNvSpPr txBox="1"/>
          <p:nvPr/>
        </p:nvSpPr>
        <p:spPr>
          <a:xfrm>
            <a:off x="3851453" y="5410505"/>
            <a:ext cx="1219810" cy="305410"/>
          </a:xfrm>
          <a:prstGeom prst="rect">
            <a:avLst/>
          </a:prstGeom>
          <a:noFill/>
          <a:ln/>
        </p:spPr>
        <p:txBody>
          <a:bodyPr wrap="square" lIns="0" tIns="0" rIns="0" bIns="0" rtlCol="0" anchor="ctr"/>
          <a:lstStyle/>
          <a:p>
            <a:pPr marL="0" indent="0" algn="l">
              <a:buNone/>
            </a:pPr>
            <a:r>
              <a:rPr lang="en-US" sz="900" dirty="0">
                <a:solidFill>
                  <a:srgbClr val="9CA3AF"/>
                </a:solidFill>
                <a:latin typeface="Inter" pitchFamily="34" charset="0"/>
                <a:ea typeface="Inter" pitchFamily="34" charset="-122"/>
                <a:cs typeface="Inter" pitchFamily="34" charset="-120"/>
              </a:rPr>
              <a:t>Remove duplicates &amp; standardize formats</a:t>
            </a:r>
            <a:endParaRPr lang="en-US" sz="900" dirty="0"/>
          </a:p>
        </p:txBody>
      </p:sp>
      <p:sp>
        <p:nvSpPr>
          <p:cNvPr id="55" name="Shape 45"/>
          <p:cNvSpPr/>
          <p:nvPr/>
        </p:nvSpPr>
        <p:spPr>
          <a:xfrm>
            <a:off x="5943600" y="4352544"/>
            <a:ext cx="304495" cy="304495"/>
          </a:xfrm>
          <a:prstGeom prst="ellipse">
            <a:avLst/>
          </a:prstGeom>
          <a:solidFill>
            <a:srgbClr val="0B1120"/>
          </a:solidFill>
          <a:ln w="25400">
            <a:solidFill>
              <a:srgbClr val="38BDF8"/>
            </a:solidFill>
            <a:prstDash val="solid"/>
          </a:ln>
          <a:effectLst>
            <a:outerShdw blurRad="12700" dist="12700" dir="16200000" algn="bl" rotWithShape="0">
              <a:srgbClr val="0B1120">
                <a:alpha val="100000"/>
              </a:srgbClr>
            </a:outerShdw>
          </a:effectLst>
        </p:spPr>
      </p:sp>
      <p:sp>
        <p:nvSpPr>
          <p:cNvPr id="56" name="Text 46"/>
          <p:cNvSpPr txBox="1"/>
          <p:nvPr/>
        </p:nvSpPr>
        <p:spPr>
          <a:xfrm>
            <a:off x="6046927" y="4390949"/>
            <a:ext cx="219456" cy="228600"/>
          </a:xfrm>
          <a:prstGeom prst="rect">
            <a:avLst/>
          </a:prstGeom>
          <a:noFill/>
          <a:ln/>
        </p:spPr>
        <p:txBody>
          <a:bodyPr wrap="square" lIns="0" tIns="0" rIns="0" bIns="0" rtlCol="0" anchor="ctr"/>
          <a:lstStyle/>
          <a:p>
            <a:pPr marL="0" indent="0" algn="l">
              <a:buNone/>
            </a:pPr>
            <a:r>
              <a:rPr lang="en-US" sz="1200" b="1" dirty="0">
                <a:solidFill>
                  <a:srgbClr val="38BDF8"/>
                </a:solidFill>
                <a:latin typeface="Space Grotesk" pitchFamily="34" charset="0"/>
                <a:ea typeface="Space Grotesk" pitchFamily="34" charset="-122"/>
                <a:cs typeface="Space Grotesk" pitchFamily="34" charset="-120"/>
              </a:rPr>
              <a:t>4</a:t>
            </a:r>
            <a:endParaRPr lang="en-US" sz="1200" dirty="0"/>
          </a:p>
        </p:txBody>
      </p:sp>
      <p:sp>
        <p:nvSpPr>
          <p:cNvPr id="57" name="Shape 47"/>
          <p:cNvSpPr/>
          <p:nvPr/>
        </p:nvSpPr>
        <p:spPr>
          <a:xfrm>
            <a:off x="5362956" y="4809744"/>
            <a:ext cx="1466698" cy="1333195"/>
          </a:xfrm>
          <a:prstGeom prst="roundRect">
            <a:avLst>
              <a:gd name="adj" fmla="val 3919"/>
            </a:avLst>
          </a:prstGeom>
          <a:solidFill>
            <a:srgbClr val="1E293B">
              <a:alpha val="60000"/>
            </a:srgbClr>
          </a:solidFill>
          <a:ln w="12700">
            <a:solidFill>
              <a:srgbClr val="475569">
                <a:alpha val="50000"/>
              </a:srgbClr>
            </a:solidFill>
            <a:prstDash val="solid"/>
          </a:ln>
        </p:spPr>
      </p:sp>
      <p:pic>
        <p:nvPicPr>
          <p:cNvPr id="58" name="Image 8" descr="preencoded.png"/>
          <p:cNvPicPr>
            <a:picLocks noChangeAspect="1"/>
          </p:cNvPicPr>
          <p:nvPr/>
        </p:nvPicPr>
        <p:blipFill>
          <a:blip r:embed="rId10"/>
          <a:srcRect l="-422696" r="-422696"/>
          <a:stretch/>
        </p:blipFill>
        <p:spPr>
          <a:xfrm>
            <a:off x="5486400" y="4934102"/>
            <a:ext cx="1218895" cy="171907"/>
          </a:xfrm>
          <a:prstGeom prst="rect">
            <a:avLst/>
          </a:prstGeom>
        </p:spPr>
      </p:pic>
      <p:sp>
        <p:nvSpPr>
          <p:cNvPr id="59" name="Text 48"/>
          <p:cNvSpPr txBox="1"/>
          <p:nvPr/>
        </p:nvSpPr>
        <p:spPr>
          <a:xfrm>
            <a:off x="5486400" y="5191049"/>
            <a:ext cx="872338" cy="171907"/>
          </a:xfrm>
          <a:prstGeom prst="rect">
            <a:avLst/>
          </a:prstGeom>
          <a:noFill/>
          <a:ln/>
        </p:spPr>
        <p:txBody>
          <a:bodyPr wrap="square" lIns="0" tIns="0" rIns="0" bIns="0" rtlCol="0" anchor="ctr"/>
          <a:lstStyle/>
          <a:p>
            <a:pPr marL="0" indent="0" algn="l">
              <a:buNone/>
            </a:pPr>
            <a:r>
              <a:rPr lang="en-US" sz="1000" b="1" dirty="0">
                <a:solidFill>
                  <a:srgbClr val="FFFFFF"/>
                </a:solidFill>
                <a:latin typeface="Space Grotesk" pitchFamily="34" charset="0"/>
                <a:ea typeface="Space Grotesk" pitchFamily="34" charset="-122"/>
                <a:cs typeface="Space Grotesk" pitchFamily="34" charset="-120"/>
              </a:rPr>
              <a:t>Engineering</a:t>
            </a:r>
            <a:endParaRPr lang="en-US" sz="1000" dirty="0"/>
          </a:p>
        </p:txBody>
      </p:sp>
      <p:sp>
        <p:nvSpPr>
          <p:cNvPr id="60" name="Text 49"/>
          <p:cNvSpPr txBox="1"/>
          <p:nvPr/>
        </p:nvSpPr>
        <p:spPr>
          <a:xfrm>
            <a:off x="5486400" y="5410505"/>
            <a:ext cx="1067105" cy="457200"/>
          </a:xfrm>
          <a:prstGeom prst="rect">
            <a:avLst/>
          </a:prstGeom>
          <a:noFill/>
          <a:ln/>
        </p:spPr>
        <p:txBody>
          <a:bodyPr wrap="square" lIns="0" tIns="0" rIns="0" bIns="0" rtlCol="0" anchor="ctr"/>
          <a:lstStyle/>
          <a:p>
            <a:pPr marL="0" indent="0" algn="l">
              <a:buNone/>
            </a:pPr>
            <a:r>
              <a:rPr lang="en-US" sz="900" dirty="0">
                <a:solidFill>
                  <a:srgbClr val="9CA3AF"/>
                </a:solidFill>
                <a:latin typeface="Inter" pitchFamily="34" charset="0"/>
                <a:ea typeface="Inter" pitchFamily="34" charset="-122"/>
                <a:cs typeface="Inter" pitchFamily="34" charset="-120"/>
              </a:rPr>
              <a:t>Calculate 'session_duration' from timestamps</a:t>
            </a:r>
            <a:endParaRPr lang="en-US" sz="900" dirty="0"/>
          </a:p>
        </p:txBody>
      </p:sp>
      <p:sp>
        <p:nvSpPr>
          <p:cNvPr id="61" name="Shape 50"/>
          <p:cNvSpPr/>
          <p:nvPr/>
        </p:nvSpPr>
        <p:spPr>
          <a:xfrm>
            <a:off x="7578547" y="4352544"/>
            <a:ext cx="304495" cy="304495"/>
          </a:xfrm>
          <a:prstGeom prst="ellipse">
            <a:avLst/>
          </a:prstGeom>
          <a:solidFill>
            <a:srgbClr val="0B1120"/>
          </a:solidFill>
          <a:ln w="25400">
            <a:solidFill>
              <a:srgbClr val="38BDF8"/>
            </a:solidFill>
            <a:prstDash val="solid"/>
          </a:ln>
          <a:effectLst>
            <a:outerShdw blurRad="12700" dist="12700" dir="16200000" algn="bl" rotWithShape="0">
              <a:srgbClr val="0B1120">
                <a:alpha val="100000"/>
              </a:srgbClr>
            </a:outerShdw>
          </a:effectLst>
        </p:spPr>
      </p:sp>
      <p:sp>
        <p:nvSpPr>
          <p:cNvPr id="62" name="Text 51"/>
          <p:cNvSpPr txBox="1"/>
          <p:nvPr/>
        </p:nvSpPr>
        <p:spPr>
          <a:xfrm>
            <a:off x="7684618" y="4390949"/>
            <a:ext cx="210312" cy="228600"/>
          </a:xfrm>
          <a:prstGeom prst="rect">
            <a:avLst/>
          </a:prstGeom>
          <a:noFill/>
          <a:ln/>
        </p:spPr>
        <p:txBody>
          <a:bodyPr wrap="square" lIns="0" tIns="0" rIns="0" bIns="0" rtlCol="0" anchor="ctr"/>
          <a:lstStyle/>
          <a:p>
            <a:pPr marL="0" indent="0" algn="l">
              <a:buNone/>
            </a:pPr>
            <a:r>
              <a:rPr lang="en-US" sz="1200" b="1" dirty="0">
                <a:solidFill>
                  <a:srgbClr val="38BDF8"/>
                </a:solidFill>
                <a:latin typeface="Space Grotesk" pitchFamily="34" charset="0"/>
                <a:ea typeface="Space Grotesk" pitchFamily="34" charset="-122"/>
                <a:cs typeface="Space Grotesk" pitchFamily="34" charset="-120"/>
              </a:rPr>
              <a:t>5</a:t>
            </a:r>
            <a:endParaRPr lang="en-US" sz="1200" dirty="0"/>
          </a:p>
        </p:txBody>
      </p:sp>
      <p:sp>
        <p:nvSpPr>
          <p:cNvPr id="63" name="Shape 52"/>
          <p:cNvSpPr/>
          <p:nvPr/>
        </p:nvSpPr>
        <p:spPr>
          <a:xfrm>
            <a:off x="6997903" y="4809744"/>
            <a:ext cx="1466698" cy="1333195"/>
          </a:xfrm>
          <a:prstGeom prst="roundRect">
            <a:avLst>
              <a:gd name="adj" fmla="val 3919"/>
            </a:avLst>
          </a:prstGeom>
          <a:solidFill>
            <a:srgbClr val="1E293B">
              <a:alpha val="60000"/>
            </a:srgbClr>
          </a:solidFill>
          <a:ln w="12700">
            <a:solidFill>
              <a:srgbClr val="475569">
                <a:alpha val="50000"/>
              </a:srgbClr>
            </a:solidFill>
            <a:prstDash val="solid"/>
          </a:ln>
        </p:spPr>
      </p:sp>
      <p:sp>
        <p:nvSpPr>
          <p:cNvPr id="64" name="Text 53"/>
          <p:cNvSpPr txBox="1"/>
          <p:nvPr/>
        </p:nvSpPr>
        <p:spPr>
          <a:xfrm>
            <a:off x="7121347" y="5020056"/>
            <a:ext cx="348386" cy="171907"/>
          </a:xfrm>
          <a:prstGeom prst="rect">
            <a:avLst/>
          </a:prstGeom>
          <a:noFill/>
          <a:ln/>
        </p:spPr>
        <p:txBody>
          <a:bodyPr wrap="square" lIns="0" tIns="0" rIns="0" bIns="0" rtlCol="0" anchor="ctr"/>
          <a:lstStyle/>
          <a:p>
            <a:pPr marL="0" indent="0" algn="l">
              <a:buNone/>
            </a:pPr>
            <a:r>
              <a:rPr lang="en-US" sz="1000" b="1" dirty="0">
                <a:solidFill>
                  <a:srgbClr val="FFFFFF"/>
                </a:solidFill>
                <a:latin typeface="Space Grotesk" pitchFamily="34" charset="0"/>
                <a:ea typeface="Space Grotesk" pitchFamily="34" charset="-122"/>
                <a:cs typeface="Space Grotesk" pitchFamily="34" charset="-120"/>
              </a:rPr>
              <a:t>EDA</a:t>
            </a:r>
            <a:endParaRPr lang="en-US" sz="1000" dirty="0"/>
          </a:p>
        </p:txBody>
      </p:sp>
      <p:sp>
        <p:nvSpPr>
          <p:cNvPr id="65" name="Text 54"/>
          <p:cNvSpPr txBox="1"/>
          <p:nvPr/>
        </p:nvSpPr>
        <p:spPr>
          <a:xfrm>
            <a:off x="7121347" y="5238598"/>
            <a:ext cx="1114654" cy="457200"/>
          </a:xfrm>
          <a:prstGeom prst="rect">
            <a:avLst/>
          </a:prstGeom>
          <a:noFill/>
          <a:ln/>
        </p:spPr>
        <p:txBody>
          <a:bodyPr wrap="square" lIns="0" tIns="0" rIns="0" bIns="0" rtlCol="0" anchor="ctr"/>
          <a:lstStyle/>
          <a:p>
            <a:pPr marL="0" indent="0" algn="l">
              <a:buNone/>
            </a:pPr>
            <a:r>
              <a:rPr lang="en-US" sz="900" dirty="0">
                <a:solidFill>
                  <a:srgbClr val="9CA3AF"/>
                </a:solidFill>
                <a:latin typeface="Inter" pitchFamily="34" charset="0"/>
                <a:ea typeface="Inter" pitchFamily="34" charset="-122"/>
                <a:cs typeface="Inter" pitchFamily="34" charset="-120"/>
              </a:rPr>
              <a:t>Query volume, geography, ports &amp; detections</a:t>
            </a:r>
            <a:endParaRPr lang="en-US" sz="900" dirty="0"/>
          </a:p>
        </p:txBody>
      </p:sp>
      <p:sp>
        <p:nvSpPr>
          <p:cNvPr id="66" name="Shape 55"/>
          <p:cNvSpPr/>
          <p:nvPr/>
        </p:nvSpPr>
        <p:spPr>
          <a:xfrm>
            <a:off x="9213494" y="4352544"/>
            <a:ext cx="304495" cy="304495"/>
          </a:xfrm>
          <a:prstGeom prst="ellipse">
            <a:avLst/>
          </a:prstGeom>
          <a:solidFill>
            <a:srgbClr val="0B1120"/>
          </a:solidFill>
          <a:ln w="25400">
            <a:solidFill>
              <a:srgbClr val="38BDF8"/>
            </a:solidFill>
            <a:prstDash val="solid"/>
          </a:ln>
          <a:effectLst>
            <a:outerShdw blurRad="12700" dist="12700" dir="16200000" algn="bl" rotWithShape="0">
              <a:srgbClr val="0B1120">
                <a:alpha val="100000"/>
              </a:srgbClr>
            </a:outerShdw>
          </a:effectLst>
        </p:spPr>
      </p:sp>
      <p:sp>
        <p:nvSpPr>
          <p:cNvPr id="67" name="Text 56"/>
          <p:cNvSpPr txBox="1"/>
          <p:nvPr/>
        </p:nvSpPr>
        <p:spPr>
          <a:xfrm>
            <a:off x="9318650" y="4390949"/>
            <a:ext cx="210312" cy="228600"/>
          </a:xfrm>
          <a:prstGeom prst="rect">
            <a:avLst/>
          </a:prstGeom>
          <a:noFill/>
          <a:ln/>
        </p:spPr>
        <p:txBody>
          <a:bodyPr wrap="square" lIns="0" tIns="0" rIns="0" bIns="0" rtlCol="0" anchor="ctr"/>
          <a:lstStyle/>
          <a:p>
            <a:pPr marL="0" indent="0" algn="l">
              <a:buNone/>
            </a:pPr>
            <a:r>
              <a:rPr lang="en-US" sz="1200" b="1" dirty="0">
                <a:solidFill>
                  <a:srgbClr val="38BDF8"/>
                </a:solidFill>
                <a:latin typeface="Space Grotesk" pitchFamily="34" charset="0"/>
                <a:ea typeface="Space Grotesk" pitchFamily="34" charset="-122"/>
                <a:cs typeface="Space Grotesk" pitchFamily="34" charset="-120"/>
              </a:rPr>
              <a:t>6</a:t>
            </a:r>
            <a:endParaRPr lang="en-US" sz="1200" dirty="0"/>
          </a:p>
        </p:txBody>
      </p:sp>
      <p:sp>
        <p:nvSpPr>
          <p:cNvPr id="68" name="Shape 57"/>
          <p:cNvSpPr/>
          <p:nvPr/>
        </p:nvSpPr>
        <p:spPr>
          <a:xfrm>
            <a:off x="8632850" y="4809744"/>
            <a:ext cx="1466698" cy="1333195"/>
          </a:xfrm>
          <a:prstGeom prst="roundRect">
            <a:avLst>
              <a:gd name="adj" fmla="val 3919"/>
            </a:avLst>
          </a:prstGeom>
          <a:solidFill>
            <a:srgbClr val="1E293B">
              <a:alpha val="60000"/>
            </a:srgbClr>
          </a:solidFill>
          <a:ln w="12700">
            <a:solidFill>
              <a:srgbClr val="475569">
                <a:alpha val="50000"/>
              </a:srgbClr>
            </a:solidFill>
            <a:prstDash val="solid"/>
          </a:ln>
        </p:spPr>
      </p:sp>
      <p:pic>
        <p:nvPicPr>
          <p:cNvPr id="69" name="Image 9" descr="preencoded.png"/>
          <p:cNvPicPr>
            <a:picLocks noChangeAspect="1"/>
          </p:cNvPicPr>
          <p:nvPr/>
        </p:nvPicPr>
        <p:blipFill>
          <a:blip r:embed="rId11"/>
          <a:srcRect l="-304522" r="-304522"/>
          <a:stretch/>
        </p:blipFill>
        <p:spPr>
          <a:xfrm>
            <a:off x="8757209" y="4934102"/>
            <a:ext cx="1218895" cy="171907"/>
          </a:xfrm>
          <a:prstGeom prst="rect">
            <a:avLst/>
          </a:prstGeom>
        </p:spPr>
      </p:pic>
      <p:sp>
        <p:nvSpPr>
          <p:cNvPr id="70" name="Text 58"/>
          <p:cNvSpPr txBox="1"/>
          <p:nvPr/>
        </p:nvSpPr>
        <p:spPr>
          <a:xfrm>
            <a:off x="8757209" y="5191049"/>
            <a:ext cx="738835" cy="171907"/>
          </a:xfrm>
          <a:prstGeom prst="rect">
            <a:avLst/>
          </a:prstGeom>
          <a:noFill/>
          <a:ln/>
        </p:spPr>
        <p:txBody>
          <a:bodyPr wrap="square" lIns="0" tIns="0" rIns="0" bIns="0" rtlCol="0" anchor="ctr"/>
          <a:lstStyle/>
          <a:p>
            <a:pPr marL="0" indent="0" algn="l">
              <a:buNone/>
            </a:pPr>
            <a:r>
              <a:rPr lang="en-US" sz="1000" b="1" dirty="0">
                <a:solidFill>
                  <a:srgbClr val="FFFFFF"/>
                </a:solidFill>
                <a:latin typeface="Space Grotesk" pitchFamily="34" charset="0"/>
                <a:ea typeface="Space Grotesk" pitchFamily="34" charset="-122"/>
                <a:cs typeface="Space Grotesk" pitchFamily="34" charset="-120"/>
              </a:rPr>
              <a:t>Deep Dive</a:t>
            </a:r>
            <a:endParaRPr lang="en-US" sz="1000" dirty="0"/>
          </a:p>
        </p:txBody>
      </p:sp>
      <p:sp>
        <p:nvSpPr>
          <p:cNvPr id="71" name="Text 59"/>
          <p:cNvSpPr txBox="1"/>
          <p:nvPr/>
        </p:nvSpPr>
        <p:spPr>
          <a:xfrm>
            <a:off x="8757209" y="5410505"/>
            <a:ext cx="1143000" cy="457200"/>
          </a:xfrm>
          <a:prstGeom prst="rect">
            <a:avLst/>
          </a:prstGeom>
          <a:noFill/>
          <a:ln/>
        </p:spPr>
        <p:txBody>
          <a:bodyPr wrap="square" lIns="0" tIns="0" rIns="0" bIns="0" rtlCol="0" anchor="ctr"/>
          <a:lstStyle/>
          <a:p>
            <a:pPr marL="0" indent="0" algn="l">
              <a:buNone/>
            </a:pPr>
            <a:r>
              <a:rPr lang="en-US" sz="900" dirty="0">
                <a:solidFill>
                  <a:srgbClr val="9CA3AF"/>
                </a:solidFill>
                <a:latin typeface="Inter" pitchFamily="34" charset="0"/>
                <a:ea typeface="Inter" pitchFamily="34" charset="-122"/>
                <a:cs typeface="Inter" pitchFamily="34" charset="-120"/>
              </a:rPr>
              <a:t>Analyze high-risk &amp; long session anomalies</a:t>
            </a:r>
            <a:endParaRPr lang="en-US" sz="900" dirty="0"/>
          </a:p>
        </p:txBody>
      </p:sp>
      <p:sp>
        <p:nvSpPr>
          <p:cNvPr id="72" name="Shape 60"/>
          <p:cNvSpPr/>
          <p:nvPr/>
        </p:nvSpPr>
        <p:spPr>
          <a:xfrm>
            <a:off x="10848442" y="4352544"/>
            <a:ext cx="304495" cy="304495"/>
          </a:xfrm>
          <a:prstGeom prst="ellipse">
            <a:avLst/>
          </a:prstGeom>
          <a:solidFill>
            <a:srgbClr val="0B1120"/>
          </a:solidFill>
          <a:ln w="25400">
            <a:solidFill>
              <a:srgbClr val="38BDF8"/>
            </a:solidFill>
            <a:prstDash val="solid"/>
          </a:ln>
          <a:effectLst>
            <a:outerShdw blurRad="12700" dist="12700" dir="16200000" algn="bl" rotWithShape="0">
              <a:srgbClr val="0B1120">
                <a:alpha val="100000"/>
              </a:srgbClr>
            </a:outerShdw>
          </a:effectLst>
        </p:spPr>
      </p:sp>
      <p:sp>
        <p:nvSpPr>
          <p:cNvPr id="73" name="Text 61"/>
          <p:cNvSpPr txBox="1"/>
          <p:nvPr/>
        </p:nvSpPr>
        <p:spPr>
          <a:xfrm>
            <a:off x="10959084" y="4390949"/>
            <a:ext cx="200254" cy="228600"/>
          </a:xfrm>
          <a:prstGeom prst="rect">
            <a:avLst/>
          </a:prstGeom>
          <a:noFill/>
          <a:ln/>
        </p:spPr>
        <p:txBody>
          <a:bodyPr wrap="square" lIns="0" tIns="0" rIns="0" bIns="0" rtlCol="0" anchor="ctr"/>
          <a:lstStyle/>
          <a:p>
            <a:pPr marL="0" indent="0" algn="l">
              <a:buNone/>
            </a:pPr>
            <a:r>
              <a:rPr lang="en-US" sz="1200" b="1" dirty="0">
                <a:solidFill>
                  <a:srgbClr val="38BDF8"/>
                </a:solidFill>
                <a:latin typeface="Space Grotesk" pitchFamily="34" charset="0"/>
                <a:ea typeface="Space Grotesk" pitchFamily="34" charset="-122"/>
                <a:cs typeface="Space Grotesk" pitchFamily="34" charset="-120"/>
              </a:rPr>
              <a:t>7</a:t>
            </a:r>
            <a:endParaRPr lang="en-US" sz="1200" dirty="0"/>
          </a:p>
        </p:txBody>
      </p:sp>
      <p:sp>
        <p:nvSpPr>
          <p:cNvPr id="74" name="Shape 62"/>
          <p:cNvSpPr/>
          <p:nvPr/>
        </p:nvSpPr>
        <p:spPr>
          <a:xfrm>
            <a:off x="10267798" y="4809744"/>
            <a:ext cx="1466698" cy="1333195"/>
          </a:xfrm>
          <a:prstGeom prst="roundRect">
            <a:avLst>
              <a:gd name="adj" fmla="val 3919"/>
            </a:avLst>
          </a:prstGeom>
          <a:solidFill>
            <a:srgbClr val="1E293B">
              <a:alpha val="60000"/>
            </a:srgbClr>
          </a:solidFill>
          <a:ln w="12700">
            <a:solidFill>
              <a:srgbClr val="475569">
                <a:alpha val="50000"/>
              </a:srgbClr>
            </a:solidFill>
            <a:prstDash val="solid"/>
          </a:ln>
        </p:spPr>
      </p:sp>
      <p:pic>
        <p:nvPicPr>
          <p:cNvPr id="75" name="Image 10" descr="preencoded.png"/>
          <p:cNvPicPr>
            <a:picLocks noChangeAspect="1"/>
          </p:cNvPicPr>
          <p:nvPr/>
        </p:nvPicPr>
        <p:blipFill>
          <a:blip r:embed="rId12"/>
          <a:srcRect l="-422696" r="-422696"/>
          <a:stretch/>
        </p:blipFill>
        <p:spPr>
          <a:xfrm>
            <a:off x="10392156" y="4934102"/>
            <a:ext cx="1218895" cy="171907"/>
          </a:xfrm>
          <a:prstGeom prst="rect">
            <a:avLst/>
          </a:prstGeom>
        </p:spPr>
      </p:pic>
      <p:sp>
        <p:nvSpPr>
          <p:cNvPr id="76" name="Text 63"/>
          <p:cNvSpPr txBox="1"/>
          <p:nvPr/>
        </p:nvSpPr>
        <p:spPr>
          <a:xfrm>
            <a:off x="10392156" y="5191049"/>
            <a:ext cx="624535" cy="171907"/>
          </a:xfrm>
          <a:prstGeom prst="rect">
            <a:avLst/>
          </a:prstGeom>
          <a:noFill/>
          <a:ln/>
        </p:spPr>
        <p:txBody>
          <a:bodyPr wrap="square" lIns="0" tIns="0" rIns="0" bIns="0" rtlCol="0" anchor="ctr"/>
          <a:lstStyle/>
          <a:p>
            <a:pPr marL="0" indent="0" algn="l">
              <a:buNone/>
            </a:pPr>
            <a:r>
              <a:rPr lang="en-US" sz="1000" b="1" dirty="0">
                <a:solidFill>
                  <a:srgbClr val="FFFFFF"/>
                </a:solidFill>
                <a:latin typeface="Space Grotesk" pitchFamily="34" charset="0"/>
                <a:ea typeface="Space Grotesk" pitchFamily="34" charset="-122"/>
                <a:cs typeface="Space Grotesk" pitchFamily="34" charset="-120"/>
              </a:rPr>
              <a:t>Insights</a:t>
            </a:r>
            <a:endParaRPr lang="en-US" sz="1000" dirty="0"/>
          </a:p>
        </p:txBody>
      </p:sp>
      <p:sp>
        <p:nvSpPr>
          <p:cNvPr id="77" name="Text 64"/>
          <p:cNvSpPr txBox="1"/>
          <p:nvPr/>
        </p:nvSpPr>
        <p:spPr>
          <a:xfrm>
            <a:off x="10392156" y="5410505"/>
            <a:ext cx="1162202" cy="305410"/>
          </a:xfrm>
          <a:prstGeom prst="rect">
            <a:avLst/>
          </a:prstGeom>
          <a:noFill/>
          <a:ln/>
        </p:spPr>
        <p:txBody>
          <a:bodyPr wrap="square" lIns="0" tIns="0" rIns="0" bIns="0" rtlCol="0" anchor="ctr"/>
          <a:lstStyle/>
          <a:p>
            <a:pPr marL="0" indent="0" algn="l">
              <a:buNone/>
            </a:pPr>
            <a:r>
              <a:rPr lang="en-US" sz="900" dirty="0">
                <a:solidFill>
                  <a:srgbClr val="9CA3AF"/>
                </a:solidFill>
                <a:latin typeface="Inter" pitchFamily="34" charset="0"/>
                <a:ea typeface="Inter" pitchFamily="34" charset="-122"/>
                <a:cs typeface="Inter" pitchFamily="34" charset="-120"/>
              </a:rPr>
              <a:t>Summarize findings for stakeholders</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120"/>
          </a:solidFill>
          <a:ln/>
        </p:spPr>
      </p:sp>
      <p:sp>
        <p:nvSpPr>
          <p:cNvPr id="3" name="Shape 1"/>
          <p:cNvSpPr/>
          <p:nvPr/>
        </p:nvSpPr>
        <p:spPr>
          <a:xfrm>
            <a:off x="0" y="0"/>
            <a:ext cx="12191695" cy="6858000"/>
          </a:xfrm>
          <a:prstGeom prst="rect">
            <a:avLst/>
          </a:prstGeom>
          <a:solidFill>
            <a:srgbClr val="0B1120"/>
          </a:solidFill>
          <a:ln/>
        </p:spPr>
      </p:sp>
      <p:sp>
        <p:nvSpPr>
          <p:cNvPr id="4" name="Shape 2"/>
          <p:cNvSpPr/>
          <p:nvPr/>
        </p:nvSpPr>
        <p:spPr>
          <a:xfrm>
            <a:off x="975665" y="0"/>
            <a:ext cx="9144" cy="6858000"/>
          </a:xfrm>
          <a:prstGeom prst="rect">
            <a:avLst/>
          </a:prstGeom>
          <a:solidFill>
            <a:srgbClr val="FFFFFF">
              <a:alpha val="5000"/>
            </a:srgbClr>
          </a:solidFill>
          <a:ln/>
        </p:spPr>
      </p:sp>
      <p:sp>
        <p:nvSpPr>
          <p:cNvPr id="5" name="Shape 3"/>
          <p:cNvSpPr/>
          <p:nvPr/>
        </p:nvSpPr>
        <p:spPr>
          <a:xfrm>
            <a:off x="4389120" y="0"/>
            <a:ext cx="9144" cy="6858000"/>
          </a:xfrm>
          <a:prstGeom prst="rect">
            <a:avLst/>
          </a:prstGeom>
          <a:solidFill>
            <a:srgbClr val="FFFFFF">
              <a:alpha val="5000"/>
            </a:srgbClr>
          </a:solidFill>
          <a:ln/>
        </p:spPr>
      </p:sp>
      <p:sp>
        <p:nvSpPr>
          <p:cNvPr id="6" name="Shape 4"/>
          <p:cNvSpPr/>
          <p:nvPr/>
        </p:nvSpPr>
        <p:spPr>
          <a:xfrm>
            <a:off x="7802575" y="0"/>
            <a:ext cx="9144" cy="6858000"/>
          </a:xfrm>
          <a:prstGeom prst="rect">
            <a:avLst/>
          </a:prstGeom>
          <a:solidFill>
            <a:srgbClr val="FFFFFF">
              <a:alpha val="5000"/>
            </a:srgbClr>
          </a:solidFill>
          <a:ln/>
        </p:spPr>
      </p:sp>
      <p:sp>
        <p:nvSpPr>
          <p:cNvPr id="7" name="Shape 5"/>
          <p:cNvSpPr/>
          <p:nvPr/>
        </p:nvSpPr>
        <p:spPr>
          <a:xfrm>
            <a:off x="11216945" y="0"/>
            <a:ext cx="9144" cy="6858000"/>
          </a:xfrm>
          <a:prstGeom prst="rect">
            <a:avLst/>
          </a:prstGeom>
          <a:solidFill>
            <a:srgbClr val="FFFFFF">
              <a:alpha val="5000"/>
            </a:srgbClr>
          </a:solidFill>
          <a:ln/>
        </p:spPr>
      </p:sp>
      <p:sp>
        <p:nvSpPr>
          <p:cNvPr id="8" name="Shape 6"/>
          <p:cNvSpPr/>
          <p:nvPr/>
        </p:nvSpPr>
        <p:spPr>
          <a:xfrm>
            <a:off x="0" y="1028700"/>
            <a:ext cx="12191695" cy="9144"/>
          </a:xfrm>
          <a:prstGeom prst="rect">
            <a:avLst/>
          </a:prstGeom>
          <a:solidFill>
            <a:srgbClr val="FFFFFF">
              <a:alpha val="5000"/>
            </a:srgbClr>
          </a:solidFill>
          <a:ln/>
        </p:spPr>
      </p:sp>
      <p:sp>
        <p:nvSpPr>
          <p:cNvPr id="9" name="Shape 7"/>
          <p:cNvSpPr/>
          <p:nvPr/>
        </p:nvSpPr>
        <p:spPr>
          <a:xfrm>
            <a:off x="0" y="6163056"/>
            <a:ext cx="12191695" cy="9144"/>
          </a:xfrm>
          <a:prstGeom prst="rect">
            <a:avLst/>
          </a:prstGeom>
          <a:solidFill>
            <a:srgbClr val="FFFFFF">
              <a:alpha val="5000"/>
            </a:srgbClr>
          </a:solidFill>
          <a:ln/>
        </p:spPr>
      </p:sp>
      <p:sp>
        <p:nvSpPr>
          <p:cNvPr id="10" name="Shape 8"/>
          <p:cNvSpPr/>
          <p:nvPr/>
        </p:nvSpPr>
        <p:spPr>
          <a:xfrm>
            <a:off x="8534095" y="0"/>
            <a:ext cx="3657600" cy="3657600"/>
          </a:xfrm>
          <a:prstGeom prst="roundRect">
            <a:avLst>
              <a:gd name="adj" fmla="val 25000"/>
            </a:avLst>
          </a:prstGeom>
          <a:solidFill>
            <a:srgbClr val="1E3A8A">
              <a:alpha val="10000"/>
            </a:srgbClr>
          </a:solidFill>
          <a:ln/>
        </p:spPr>
      </p:sp>
      <p:sp>
        <p:nvSpPr>
          <p:cNvPr id="11" name="Text 9"/>
          <p:cNvSpPr txBox="1"/>
          <p:nvPr/>
        </p:nvSpPr>
        <p:spPr>
          <a:xfrm>
            <a:off x="10862086" y="6388140"/>
            <a:ext cx="638251" cy="133502"/>
          </a:xfrm>
          <a:prstGeom prst="rect">
            <a:avLst/>
          </a:prstGeom>
          <a:noFill/>
          <a:ln/>
        </p:spPr>
        <p:txBody>
          <a:bodyPr wrap="square" lIns="0" tIns="0" rIns="0" bIns="0" rtlCol="0" anchor="ctr"/>
          <a:lstStyle/>
          <a:p>
            <a:pPr marL="0" indent="0" algn="l">
              <a:buNone/>
            </a:pPr>
            <a:r>
              <a:rPr lang="en-US" sz="900" dirty="0">
                <a:solidFill>
                  <a:srgbClr val="6B7280"/>
                </a:solidFill>
                <a:latin typeface="ui-monospace" pitchFamily="34" charset="0"/>
                <a:ea typeface="ui-monospace" pitchFamily="34" charset="-122"/>
                <a:cs typeface="ui-monospace" pitchFamily="34" charset="-120"/>
              </a:rPr>
              <a:t>SLIDE 06</a:t>
            </a:r>
            <a:endParaRPr lang="en-US" sz="900" dirty="0"/>
          </a:p>
        </p:txBody>
      </p:sp>
      <p:sp>
        <p:nvSpPr>
          <p:cNvPr id="14" name="Shape 12"/>
          <p:cNvSpPr/>
          <p:nvPr/>
        </p:nvSpPr>
        <p:spPr>
          <a:xfrm>
            <a:off x="609905" y="1485900"/>
            <a:ext cx="10972800" cy="9144"/>
          </a:xfrm>
          <a:prstGeom prst="rect">
            <a:avLst/>
          </a:prstGeom>
          <a:solidFill>
            <a:srgbClr val="1F2937"/>
          </a:solidFill>
          <a:ln/>
        </p:spPr>
      </p:sp>
      <p:pic>
        <p:nvPicPr>
          <p:cNvPr id="15" name="Image 0" descr="preencoded.png"/>
          <p:cNvPicPr>
            <a:picLocks noChangeAspect="1"/>
          </p:cNvPicPr>
          <p:nvPr/>
        </p:nvPicPr>
        <p:blipFill>
          <a:blip r:embed="rId3"/>
          <a:srcRect l="-837" r="-837"/>
          <a:stretch/>
        </p:blipFill>
        <p:spPr>
          <a:xfrm>
            <a:off x="609905" y="466344"/>
            <a:ext cx="152705" cy="133502"/>
          </a:xfrm>
          <a:prstGeom prst="rect">
            <a:avLst/>
          </a:prstGeom>
        </p:spPr>
      </p:pic>
      <p:sp>
        <p:nvSpPr>
          <p:cNvPr id="16" name="Shape 13"/>
          <p:cNvSpPr/>
          <p:nvPr/>
        </p:nvSpPr>
        <p:spPr>
          <a:xfrm>
            <a:off x="11277295" y="1181405"/>
            <a:ext cx="75895" cy="75895"/>
          </a:xfrm>
          <a:prstGeom prst="roundRect">
            <a:avLst>
              <a:gd name="adj" fmla="val 1204822"/>
            </a:avLst>
          </a:prstGeom>
          <a:solidFill>
            <a:srgbClr val="374151"/>
          </a:solidFill>
          <a:ln/>
        </p:spPr>
      </p:sp>
      <p:sp>
        <p:nvSpPr>
          <p:cNvPr id="17" name="Shape 14"/>
          <p:cNvSpPr/>
          <p:nvPr/>
        </p:nvSpPr>
        <p:spPr>
          <a:xfrm>
            <a:off x="11505895" y="1181405"/>
            <a:ext cx="75895" cy="75895"/>
          </a:xfrm>
          <a:prstGeom prst="roundRect">
            <a:avLst>
              <a:gd name="adj" fmla="val 1204822"/>
            </a:avLst>
          </a:prstGeom>
          <a:solidFill>
            <a:srgbClr val="374151"/>
          </a:solidFill>
          <a:ln/>
        </p:spPr>
      </p:sp>
      <p:sp>
        <p:nvSpPr>
          <p:cNvPr id="18" name="Text 15"/>
          <p:cNvSpPr txBox="1"/>
          <p:nvPr/>
        </p:nvSpPr>
        <p:spPr>
          <a:xfrm>
            <a:off x="875995" y="457200"/>
            <a:ext cx="2143354" cy="143561"/>
          </a:xfrm>
          <a:prstGeom prst="rect">
            <a:avLst/>
          </a:prstGeom>
          <a:noFill/>
          <a:ln/>
        </p:spPr>
        <p:txBody>
          <a:bodyPr wrap="square" lIns="0" tIns="0" rIns="0" bIns="0" rtlCol="0" anchor="ctr"/>
          <a:lstStyle/>
          <a:p>
            <a:pPr marL="0" indent="0" algn="l">
              <a:buNone/>
            </a:pPr>
            <a:r>
              <a:rPr lang="en-US" sz="900" b="1" dirty="0">
                <a:solidFill>
                  <a:srgbClr val="FFFFFF"/>
                </a:solidFill>
                <a:latin typeface="Inter" pitchFamily="34" charset="0"/>
                <a:ea typeface="Inter" pitchFamily="34" charset="-122"/>
                <a:cs typeface="Inter" pitchFamily="34" charset="-120"/>
              </a:rPr>
              <a:t>DATA QUALITY &amp; ENGINEERING</a:t>
            </a:r>
            <a:endParaRPr lang="en-US" sz="900" dirty="0"/>
          </a:p>
        </p:txBody>
      </p:sp>
      <p:sp>
        <p:nvSpPr>
          <p:cNvPr id="19" name="Text 16"/>
          <p:cNvSpPr txBox="1"/>
          <p:nvPr/>
        </p:nvSpPr>
        <p:spPr>
          <a:xfrm>
            <a:off x="609905" y="676656"/>
            <a:ext cx="6496812" cy="581558"/>
          </a:xfrm>
          <a:prstGeom prst="rect">
            <a:avLst/>
          </a:prstGeom>
          <a:noFill/>
          <a:ln/>
        </p:spPr>
        <p:txBody>
          <a:bodyPr wrap="square" lIns="0" tIns="0" rIns="0" bIns="0" rtlCol="0" anchor="ctr"/>
          <a:lstStyle/>
          <a:p>
            <a:pPr marL="0" indent="0" algn="l">
              <a:buNone/>
            </a:pPr>
            <a:r>
              <a:rPr lang="en-US" sz="3600" b="1" dirty="0">
                <a:solidFill>
                  <a:srgbClr val="FFFFFF"/>
                </a:solidFill>
                <a:latin typeface="Space Grotesk" pitchFamily="34" charset="0"/>
                <a:ea typeface="Space Grotesk" pitchFamily="34" charset="-122"/>
                <a:cs typeface="Space Grotesk" pitchFamily="34" charset="-120"/>
              </a:rPr>
              <a:t>Data Cleaning &amp; Preparation</a:t>
            </a:r>
            <a:endParaRPr lang="en-US" sz="3600" dirty="0"/>
          </a:p>
        </p:txBody>
      </p:sp>
      <p:sp>
        <p:nvSpPr>
          <p:cNvPr id="20" name="Text 17"/>
          <p:cNvSpPr txBox="1"/>
          <p:nvPr/>
        </p:nvSpPr>
        <p:spPr>
          <a:xfrm>
            <a:off x="9670694" y="961949"/>
            <a:ext cx="2015338" cy="162763"/>
          </a:xfrm>
          <a:prstGeom prst="rect">
            <a:avLst/>
          </a:prstGeom>
          <a:noFill/>
          <a:ln/>
        </p:spPr>
        <p:txBody>
          <a:bodyPr wrap="square" lIns="0" tIns="0" rIns="0" bIns="0" rtlCol="0" anchor="ctr"/>
          <a:lstStyle/>
          <a:p>
            <a:pPr marL="0" indent="0" algn="r">
              <a:buNone/>
            </a:pPr>
            <a:r>
              <a:rPr lang="en-US" sz="1000" dirty="0">
                <a:solidFill>
                  <a:srgbClr val="9CA3AF"/>
                </a:solidFill>
                <a:latin typeface="Inter" pitchFamily="34" charset="0"/>
                <a:ea typeface="Inter" pitchFamily="34" charset="-122"/>
                <a:cs typeface="Inter" pitchFamily="34" charset="-120"/>
              </a:rPr>
              <a:t>Cybersecurity Analysis Report</a:t>
            </a:r>
            <a:endParaRPr lang="en-US" sz="1000" dirty="0"/>
          </a:p>
        </p:txBody>
      </p:sp>
      <p:sp>
        <p:nvSpPr>
          <p:cNvPr id="21" name="Shape 18"/>
          <p:cNvSpPr/>
          <p:nvPr/>
        </p:nvSpPr>
        <p:spPr>
          <a:xfrm>
            <a:off x="609905" y="1800454"/>
            <a:ext cx="3504895" cy="4295851"/>
          </a:xfrm>
          <a:prstGeom prst="roundRect">
            <a:avLst>
              <a:gd name="adj" fmla="val 851"/>
            </a:avLst>
          </a:prstGeom>
          <a:solidFill>
            <a:srgbClr val="1E293B">
              <a:alpha val="40000"/>
            </a:srgbClr>
          </a:solidFill>
          <a:ln w="12700">
            <a:solidFill>
              <a:srgbClr val="38BDF8">
                <a:alpha val="20000"/>
              </a:srgbClr>
            </a:solidFill>
            <a:prstDash val="solid"/>
          </a:ln>
        </p:spPr>
      </p:sp>
      <p:sp>
        <p:nvSpPr>
          <p:cNvPr id="22" name="Shape 19"/>
          <p:cNvSpPr/>
          <p:nvPr/>
        </p:nvSpPr>
        <p:spPr>
          <a:xfrm>
            <a:off x="847649" y="2048256"/>
            <a:ext cx="457200" cy="457200"/>
          </a:xfrm>
          <a:prstGeom prst="roundRect">
            <a:avLst>
              <a:gd name="adj" fmla="val 33333"/>
            </a:avLst>
          </a:prstGeom>
          <a:noFill/>
          <a:ln w="12700">
            <a:solidFill>
              <a:srgbClr val="E5E7EB"/>
            </a:solidFill>
            <a:prstDash val="solid"/>
          </a:ln>
        </p:spPr>
      </p:sp>
      <p:pic>
        <p:nvPicPr>
          <p:cNvPr id="23" name="Image 1" descr="preencoded.png"/>
          <p:cNvPicPr>
            <a:picLocks noChangeAspect="1"/>
          </p:cNvPicPr>
          <p:nvPr/>
        </p:nvPicPr>
        <p:blipFill>
          <a:blip r:embed="rId4"/>
          <a:srcRect/>
          <a:stretch/>
        </p:blipFill>
        <p:spPr>
          <a:xfrm>
            <a:off x="981151" y="2180844"/>
            <a:ext cx="190195" cy="190195"/>
          </a:xfrm>
          <a:prstGeom prst="rect">
            <a:avLst/>
          </a:prstGeom>
        </p:spPr>
      </p:pic>
      <p:sp>
        <p:nvSpPr>
          <p:cNvPr id="24" name="Text 20"/>
          <p:cNvSpPr txBox="1"/>
          <p:nvPr/>
        </p:nvSpPr>
        <p:spPr>
          <a:xfrm>
            <a:off x="1457554" y="2029054"/>
            <a:ext cx="1019556" cy="247802"/>
          </a:xfrm>
          <a:prstGeom prst="rect">
            <a:avLst/>
          </a:prstGeom>
          <a:noFill/>
          <a:ln/>
        </p:spPr>
        <p:txBody>
          <a:bodyPr wrap="square" lIns="0" tIns="0" rIns="0" bIns="0" rtlCol="0" anchor="ctr"/>
          <a:lstStyle/>
          <a:p>
            <a:pPr marL="0" indent="0" algn="l">
              <a:buNone/>
            </a:pPr>
            <a:r>
              <a:rPr lang="en-US" sz="1500" b="1" dirty="0">
                <a:solidFill>
                  <a:srgbClr val="FFFFFF"/>
                </a:solidFill>
                <a:latin typeface="Space Grotesk" pitchFamily="34" charset="0"/>
                <a:ea typeface="Space Grotesk" pitchFamily="34" charset="-122"/>
                <a:cs typeface="Space Grotesk" pitchFamily="34" charset="-120"/>
              </a:rPr>
              <a:t>Duplicate</a:t>
            </a:r>
            <a:endParaRPr lang="en-US" sz="1500" dirty="0"/>
          </a:p>
        </p:txBody>
      </p:sp>
      <p:sp>
        <p:nvSpPr>
          <p:cNvPr id="25" name="Text 21"/>
          <p:cNvSpPr txBox="1"/>
          <p:nvPr/>
        </p:nvSpPr>
        <p:spPr>
          <a:xfrm>
            <a:off x="1457554" y="2266798"/>
            <a:ext cx="914400" cy="247802"/>
          </a:xfrm>
          <a:prstGeom prst="rect">
            <a:avLst/>
          </a:prstGeom>
          <a:noFill/>
          <a:ln/>
        </p:spPr>
        <p:txBody>
          <a:bodyPr wrap="square" lIns="0" tIns="0" rIns="0" bIns="0" rtlCol="0" anchor="ctr"/>
          <a:lstStyle/>
          <a:p>
            <a:pPr marL="0" indent="0" algn="l">
              <a:buNone/>
            </a:pPr>
            <a:r>
              <a:rPr lang="en-US" sz="1500" b="1" dirty="0">
                <a:solidFill>
                  <a:srgbClr val="FFFFFF"/>
                </a:solidFill>
                <a:latin typeface="Space Grotesk" pitchFamily="34" charset="0"/>
                <a:ea typeface="Space Grotesk" pitchFamily="34" charset="-122"/>
                <a:cs typeface="Space Grotesk" pitchFamily="34" charset="-120"/>
              </a:rPr>
              <a:t>Removal</a:t>
            </a:r>
            <a:endParaRPr lang="en-US" sz="1500" dirty="0"/>
          </a:p>
        </p:txBody>
      </p:sp>
      <p:sp>
        <p:nvSpPr>
          <p:cNvPr id="26" name="Text 22"/>
          <p:cNvSpPr txBox="1"/>
          <p:nvPr/>
        </p:nvSpPr>
        <p:spPr>
          <a:xfrm>
            <a:off x="847649" y="2686507"/>
            <a:ext cx="3129077" cy="1248156"/>
          </a:xfrm>
          <a:prstGeom prst="rect">
            <a:avLst/>
          </a:prstGeom>
          <a:noFill/>
          <a:ln/>
        </p:spPr>
        <p:txBody>
          <a:bodyPr wrap="square" lIns="0" tIns="0" rIns="0" bIns="0" rtlCol="0" anchor="ctr"/>
          <a:lstStyle/>
          <a:p>
            <a:pPr marL="0" indent="0" algn="l">
              <a:buNone/>
            </a:pPr>
            <a:r>
              <a:rPr lang="en-US" sz="1000" dirty="0">
                <a:solidFill>
                  <a:srgbClr val="D1D5DB"/>
                </a:solidFill>
                <a:latin typeface="Inter" pitchFamily="34" charset="0"/>
                <a:ea typeface="Inter" pitchFamily="34" charset="-122"/>
                <a:cs typeface="Inter" pitchFamily="34" charset="-120"/>
              </a:rPr>
              <a:t>Duplicate records were rigorously identified and removed from the dataset. This critical step prevents skewed analysis results and ensures that traffic volume metrics accurately reflect unique interaction sessions rather than redundant log entries.</a:t>
            </a:r>
            <a:endParaRPr lang="en-US" sz="1000" dirty="0"/>
          </a:p>
        </p:txBody>
      </p:sp>
      <p:sp>
        <p:nvSpPr>
          <p:cNvPr id="27" name="Shape 23"/>
          <p:cNvSpPr/>
          <p:nvPr/>
        </p:nvSpPr>
        <p:spPr>
          <a:xfrm>
            <a:off x="847649" y="5544007"/>
            <a:ext cx="3029407" cy="9144"/>
          </a:xfrm>
          <a:prstGeom prst="rect">
            <a:avLst/>
          </a:prstGeom>
          <a:solidFill>
            <a:srgbClr val="E5E7EB"/>
          </a:solidFill>
          <a:ln/>
        </p:spPr>
      </p:sp>
      <p:pic>
        <p:nvPicPr>
          <p:cNvPr id="28" name="Image 2" descr="preencoded.png"/>
          <p:cNvPicPr>
            <a:picLocks noChangeAspect="1"/>
          </p:cNvPicPr>
          <p:nvPr/>
        </p:nvPicPr>
        <p:blipFill>
          <a:blip r:embed="rId5"/>
          <a:srcRect/>
          <a:stretch/>
        </p:blipFill>
        <p:spPr>
          <a:xfrm>
            <a:off x="847649" y="5724144"/>
            <a:ext cx="114300" cy="114300"/>
          </a:xfrm>
          <a:prstGeom prst="rect">
            <a:avLst/>
          </a:prstGeom>
        </p:spPr>
      </p:pic>
      <p:sp>
        <p:nvSpPr>
          <p:cNvPr id="29" name="Text 24"/>
          <p:cNvSpPr txBox="1"/>
          <p:nvPr/>
        </p:nvSpPr>
        <p:spPr>
          <a:xfrm>
            <a:off x="1037844" y="5705856"/>
            <a:ext cx="1619402" cy="143561"/>
          </a:xfrm>
          <a:prstGeom prst="rect">
            <a:avLst/>
          </a:prstGeom>
          <a:noFill/>
          <a:ln/>
        </p:spPr>
        <p:txBody>
          <a:bodyPr wrap="square" lIns="0" tIns="0" rIns="0" bIns="0" rtlCol="0" anchor="ctr"/>
          <a:lstStyle/>
          <a:p>
            <a:pPr marL="0" indent="0" algn="l">
              <a:buNone/>
            </a:pPr>
            <a:r>
              <a:rPr lang="en-US" sz="900" dirty="0">
                <a:solidFill>
                  <a:srgbClr val="FFFFFF"/>
                </a:solidFill>
                <a:latin typeface="Inter" pitchFamily="34" charset="0"/>
                <a:ea typeface="Inter" pitchFamily="34" charset="-122"/>
                <a:cs typeface="Inter" pitchFamily="34" charset="-120"/>
              </a:rPr>
              <a:t>Ensures analytical accuracy</a:t>
            </a:r>
            <a:endParaRPr lang="en-US" sz="900" dirty="0"/>
          </a:p>
        </p:txBody>
      </p:sp>
      <p:sp>
        <p:nvSpPr>
          <p:cNvPr id="30" name="Shape 25"/>
          <p:cNvSpPr/>
          <p:nvPr/>
        </p:nvSpPr>
        <p:spPr>
          <a:xfrm>
            <a:off x="4343400" y="1800454"/>
            <a:ext cx="3504895" cy="4295851"/>
          </a:xfrm>
          <a:prstGeom prst="roundRect">
            <a:avLst>
              <a:gd name="adj" fmla="val 851"/>
            </a:avLst>
          </a:prstGeom>
          <a:solidFill>
            <a:srgbClr val="1E293B">
              <a:alpha val="40000"/>
            </a:srgbClr>
          </a:solidFill>
          <a:ln w="12700">
            <a:solidFill>
              <a:srgbClr val="38BDF8">
                <a:alpha val="20000"/>
              </a:srgbClr>
            </a:solidFill>
            <a:prstDash val="solid"/>
          </a:ln>
        </p:spPr>
      </p:sp>
      <p:sp>
        <p:nvSpPr>
          <p:cNvPr id="31" name="Shape 26"/>
          <p:cNvSpPr/>
          <p:nvPr/>
        </p:nvSpPr>
        <p:spPr>
          <a:xfrm>
            <a:off x="4581144" y="2048256"/>
            <a:ext cx="457200" cy="457200"/>
          </a:xfrm>
          <a:prstGeom prst="roundRect">
            <a:avLst>
              <a:gd name="adj" fmla="val 33333"/>
            </a:avLst>
          </a:prstGeom>
          <a:noFill/>
          <a:ln w="12700">
            <a:solidFill>
              <a:srgbClr val="E5E7EB"/>
            </a:solidFill>
            <a:prstDash val="solid"/>
          </a:ln>
        </p:spPr>
      </p:sp>
      <p:pic>
        <p:nvPicPr>
          <p:cNvPr id="32" name="Image 3" descr="preencoded.png"/>
          <p:cNvPicPr>
            <a:picLocks noChangeAspect="1"/>
          </p:cNvPicPr>
          <p:nvPr/>
        </p:nvPicPr>
        <p:blipFill>
          <a:blip r:embed="rId6"/>
          <a:srcRect/>
          <a:stretch/>
        </p:blipFill>
        <p:spPr>
          <a:xfrm>
            <a:off x="4714646" y="2180844"/>
            <a:ext cx="190195" cy="190195"/>
          </a:xfrm>
          <a:prstGeom prst="rect">
            <a:avLst/>
          </a:prstGeom>
        </p:spPr>
      </p:pic>
      <p:sp>
        <p:nvSpPr>
          <p:cNvPr id="33" name="Text 27"/>
          <p:cNvSpPr txBox="1"/>
          <p:nvPr/>
        </p:nvSpPr>
        <p:spPr>
          <a:xfrm>
            <a:off x="5191049" y="2029054"/>
            <a:ext cx="571500" cy="247802"/>
          </a:xfrm>
          <a:prstGeom prst="rect">
            <a:avLst/>
          </a:prstGeom>
          <a:noFill/>
          <a:ln/>
        </p:spPr>
        <p:txBody>
          <a:bodyPr wrap="square" lIns="0" tIns="0" rIns="0" bIns="0" rtlCol="0" anchor="ctr"/>
          <a:lstStyle/>
          <a:p>
            <a:pPr marL="0" indent="0" algn="l">
              <a:buNone/>
            </a:pPr>
            <a:r>
              <a:rPr lang="en-US" sz="1500" b="1" dirty="0">
                <a:solidFill>
                  <a:srgbClr val="FFFFFF"/>
                </a:solidFill>
                <a:latin typeface="Space Grotesk" pitchFamily="34" charset="0"/>
                <a:ea typeface="Space Grotesk" pitchFamily="34" charset="-122"/>
                <a:cs typeface="Space Grotesk" pitchFamily="34" charset="-120"/>
              </a:rPr>
              <a:t>Data</a:t>
            </a:r>
            <a:endParaRPr lang="en-US" sz="1500" dirty="0"/>
          </a:p>
        </p:txBody>
      </p:sp>
      <p:sp>
        <p:nvSpPr>
          <p:cNvPr id="34" name="Text 28"/>
          <p:cNvSpPr txBox="1"/>
          <p:nvPr/>
        </p:nvSpPr>
        <p:spPr>
          <a:xfrm>
            <a:off x="5191049" y="2266798"/>
            <a:ext cx="1629461" cy="247802"/>
          </a:xfrm>
          <a:prstGeom prst="rect">
            <a:avLst/>
          </a:prstGeom>
          <a:noFill/>
          <a:ln/>
        </p:spPr>
        <p:txBody>
          <a:bodyPr wrap="square" lIns="0" tIns="0" rIns="0" bIns="0" rtlCol="0" anchor="ctr"/>
          <a:lstStyle/>
          <a:p>
            <a:pPr marL="0" indent="0" algn="l">
              <a:buNone/>
            </a:pPr>
            <a:r>
              <a:rPr lang="en-US" sz="1500" b="1" dirty="0">
                <a:solidFill>
                  <a:srgbClr val="FFFFFF"/>
                </a:solidFill>
                <a:latin typeface="Space Grotesk" pitchFamily="34" charset="0"/>
                <a:ea typeface="Space Grotesk" pitchFamily="34" charset="-122"/>
                <a:cs typeface="Space Grotesk" pitchFamily="34" charset="-120"/>
              </a:rPr>
              <a:t>Standardization</a:t>
            </a:r>
            <a:endParaRPr lang="en-US" sz="1500" dirty="0"/>
          </a:p>
        </p:txBody>
      </p:sp>
      <p:sp>
        <p:nvSpPr>
          <p:cNvPr id="35" name="Text 29"/>
          <p:cNvSpPr txBox="1"/>
          <p:nvPr/>
        </p:nvSpPr>
        <p:spPr>
          <a:xfrm>
            <a:off x="4581144" y="2686507"/>
            <a:ext cx="3053182" cy="1248156"/>
          </a:xfrm>
          <a:prstGeom prst="rect">
            <a:avLst/>
          </a:prstGeom>
          <a:noFill/>
          <a:ln/>
        </p:spPr>
        <p:txBody>
          <a:bodyPr wrap="square" lIns="0" tIns="0" rIns="0" bIns="0" rtlCol="0" anchor="ctr"/>
          <a:lstStyle/>
          <a:p>
            <a:pPr marL="0" indent="0" algn="l">
              <a:buNone/>
            </a:pPr>
            <a:r>
              <a:rPr lang="en-US" sz="1000" dirty="0">
                <a:solidFill>
                  <a:srgbClr val="D1D5DB"/>
                </a:solidFill>
                <a:latin typeface="Inter" pitchFamily="34" charset="0"/>
                <a:ea typeface="Inter" pitchFamily="34" charset="-122"/>
                <a:cs typeface="Inter" pitchFamily="34" charset="-120"/>
              </a:rPr>
              <a:t>Inconsistent data formats were normalized across the dataset. Country codes were converted to uppercase for consistent grouping, and timestamp fields were formatted into proper SQL datetime objects to enable precise time-series analysis.</a:t>
            </a:r>
            <a:endParaRPr lang="en-US" sz="1000" dirty="0"/>
          </a:p>
        </p:txBody>
      </p:sp>
      <p:sp>
        <p:nvSpPr>
          <p:cNvPr id="36" name="Shape 30"/>
          <p:cNvSpPr/>
          <p:nvPr/>
        </p:nvSpPr>
        <p:spPr>
          <a:xfrm>
            <a:off x="4581144" y="5544007"/>
            <a:ext cx="3029407" cy="9144"/>
          </a:xfrm>
          <a:prstGeom prst="rect">
            <a:avLst/>
          </a:prstGeom>
          <a:solidFill>
            <a:srgbClr val="E5E7EB"/>
          </a:solidFill>
          <a:ln/>
        </p:spPr>
      </p:sp>
      <p:pic>
        <p:nvPicPr>
          <p:cNvPr id="37" name="Image 4" descr="preencoded.png"/>
          <p:cNvPicPr>
            <a:picLocks noChangeAspect="1"/>
          </p:cNvPicPr>
          <p:nvPr/>
        </p:nvPicPr>
        <p:blipFill>
          <a:blip r:embed="rId5"/>
          <a:srcRect/>
          <a:stretch/>
        </p:blipFill>
        <p:spPr>
          <a:xfrm>
            <a:off x="4581144" y="5724144"/>
            <a:ext cx="114300" cy="114300"/>
          </a:xfrm>
          <a:prstGeom prst="rect">
            <a:avLst/>
          </a:prstGeom>
        </p:spPr>
      </p:pic>
      <p:sp>
        <p:nvSpPr>
          <p:cNvPr id="38" name="Text 31"/>
          <p:cNvSpPr txBox="1"/>
          <p:nvPr/>
        </p:nvSpPr>
        <p:spPr>
          <a:xfrm>
            <a:off x="4772254" y="5705856"/>
            <a:ext cx="1581912" cy="143561"/>
          </a:xfrm>
          <a:prstGeom prst="rect">
            <a:avLst/>
          </a:prstGeom>
          <a:noFill/>
          <a:ln/>
        </p:spPr>
        <p:txBody>
          <a:bodyPr wrap="square" lIns="0" tIns="0" rIns="0" bIns="0" rtlCol="0" anchor="ctr"/>
          <a:lstStyle/>
          <a:p>
            <a:pPr marL="0" indent="0" algn="l">
              <a:buNone/>
            </a:pPr>
            <a:r>
              <a:rPr lang="en-US" sz="900" dirty="0">
                <a:solidFill>
                  <a:srgbClr val="FFFFFF"/>
                </a:solidFill>
                <a:latin typeface="Inter" pitchFamily="34" charset="0"/>
                <a:ea typeface="Inter" pitchFamily="34" charset="-122"/>
                <a:cs typeface="Inter" pitchFamily="34" charset="-120"/>
              </a:rPr>
              <a:t>Unified format for grouping</a:t>
            </a:r>
            <a:endParaRPr lang="en-US" sz="900" dirty="0"/>
          </a:p>
        </p:txBody>
      </p:sp>
      <p:sp>
        <p:nvSpPr>
          <p:cNvPr id="39" name="Shape 32"/>
          <p:cNvSpPr/>
          <p:nvPr/>
        </p:nvSpPr>
        <p:spPr>
          <a:xfrm>
            <a:off x="8076895" y="1800454"/>
            <a:ext cx="3504895" cy="4295851"/>
          </a:xfrm>
          <a:prstGeom prst="roundRect">
            <a:avLst>
              <a:gd name="adj" fmla="val 851"/>
            </a:avLst>
          </a:prstGeom>
          <a:solidFill>
            <a:srgbClr val="1E293B">
              <a:alpha val="40000"/>
            </a:srgbClr>
          </a:solidFill>
          <a:ln w="12700">
            <a:solidFill>
              <a:srgbClr val="38BDF8">
                <a:alpha val="20000"/>
              </a:srgbClr>
            </a:solidFill>
            <a:prstDash val="solid"/>
          </a:ln>
        </p:spPr>
      </p:sp>
      <p:sp>
        <p:nvSpPr>
          <p:cNvPr id="40" name="Shape 33"/>
          <p:cNvSpPr/>
          <p:nvPr/>
        </p:nvSpPr>
        <p:spPr>
          <a:xfrm>
            <a:off x="8315554" y="2048256"/>
            <a:ext cx="457200" cy="457200"/>
          </a:xfrm>
          <a:prstGeom prst="roundRect">
            <a:avLst>
              <a:gd name="adj" fmla="val 33333"/>
            </a:avLst>
          </a:prstGeom>
          <a:noFill/>
          <a:ln w="12700">
            <a:solidFill>
              <a:srgbClr val="E5E7EB"/>
            </a:solidFill>
            <a:prstDash val="solid"/>
          </a:ln>
        </p:spPr>
      </p:sp>
      <p:pic>
        <p:nvPicPr>
          <p:cNvPr id="41" name="Image 5" descr="preencoded.png"/>
          <p:cNvPicPr>
            <a:picLocks noChangeAspect="1"/>
          </p:cNvPicPr>
          <p:nvPr/>
        </p:nvPicPr>
        <p:blipFill>
          <a:blip r:embed="rId7"/>
          <a:srcRect l="-1648" r="-1648"/>
          <a:stretch/>
        </p:blipFill>
        <p:spPr>
          <a:xfrm>
            <a:off x="8458200" y="2180844"/>
            <a:ext cx="171907" cy="190195"/>
          </a:xfrm>
          <a:prstGeom prst="rect">
            <a:avLst/>
          </a:prstGeom>
        </p:spPr>
      </p:pic>
      <p:sp>
        <p:nvSpPr>
          <p:cNvPr id="42" name="Text 34"/>
          <p:cNvSpPr txBox="1"/>
          <p:nvPr/>
        </p:nvSpPr>
        <p:spPr>
          <a:xfrm>
            <a:off x="8924544" y="2029054"/>
            <a:ext cx="848563" cy="247802"/>
          </a:xfrm>
          <a:prstGeom prst="rect">
            <a:avLst/>
          </a:prstGeom>
          <a:noFill/>
          <a:ln/>
        </p:spPr>
        <p:txBody>
          <a:bodyPr wrap="square" lIns="0" tIns="0" rIns="0" bIns="0" rtlCol="0" anchor="ctr"/>
          <a:lstStyle/>
          <a:p>
            <a:pPr marL="0" indent="0" algn="l">
              <a:buNone/>
            </a:pPr>
            <a:r>
              <a:rPr lang="en-US" sz="1500" b="1" dirty="0">
                <a:solidFill>
                  <a:srgbClr val="FFFFFF"/>
                </a:solidFill>
                <a:latin typeface="Space Grotesk" pitchFamily="34" charset="0"/>
                <a:ea typeface="Space Grotesk" pitchFamily="34" charset="-122"/>
                <a:cs typeface="Space Grotesk" pitchFamily="34" charset="-120"/>
              </a:rPr>
              <a:t>Feature</a:t>
            </a:r>
            <a:endParaRPr lang="en-US" sz="1500" dirty="0"/>
          </a:p>
        </p:txBody>
      </p:sp>
      <p:sp>
        <p:nvSpPr>
          <p:cNvPr id="43" name="Text 35"/>
          <p:cNvSpPr txBox="1"/>
          <p:nvPr/>
        </p:nvSpPr>
        <p:spPr>
          <a:xfrm>
            <a:off x="8924544" y="2266798"/>
            <a:ext cx="1248156" cy="247802"/>
          </a:xfrm>
          <a:prstGeom prst="rect">
            <a:avLst/>
          </a:prstGeom>
          <a:noFill/>
          <a:ln/>
        </p:spPr>
        <p:txBody>
          <a:bodyPr wrap="square" lIns="0" tIns="0" rIns="0" bIns="0" rtlCol="0" anchor="ctr"/>
          <a:lstStyle/>
          <a:p>
            <a:pPr marL="0" indent="0" algn="l">
              <a:buNone/>
            </a:pPr>
            <a:r>
              <a:rPr lang="en-US" sz="1500" b="1" dirty="0">
                <a:solidFill>
                  <a:srgbClr val="FFFFFF"/>
                </a:solidFill>
                <a:latin typeface="Space Grotesk" pitchFamily="34" charset="0"/>
                <a:ea typeface="Space Grotesk" pitchFamily="34" charset="-122"/>
                <a:cs typeface="Space Grotesk" pitchFamily="34" charset="-120"/>
              </a:rPr>
              <a:t>Engineering</a:t>
            </a:r>
            <a:endParaRPr lang="en-US" sz="1500" dirty="0"/>
          </a:p>
        </p:txBody>
      </p:sp>
      <p:sp>
        <p:nvSpPr>
          <p:cNvPr id="44" name="Text 36"/>
          <p:cNvSpPr txBox="1"/>
          <p:nvPr/>
        </p:nvSpPr>
        <p:spPr>
          <a:xfrm>
            <a:off x="8315554" y="2686507"/>
            <a:ext cx="3110789" cy="1028700"/>
          </a:xfrm>
          <a:prstGeom prst="rect">
            <a:avLst/>
          </a:prstGeom>
          <a:noFill/>
          <a:ln/>
        </p:spPr>
        <p:txBody>
          <a:bodyPr wrap="square" lIns="0" tIns="0" rIns="0" bIns="0" rtlCol="0" anchor="ctr"/>
          <a:lstStyle/>
          <a:p>
            <a:pPr marL="0" indent="0" algn="l">
              <a:buNone/>
            </a:pPr>
            <a:r>
              <a:rPr lang="en-US" sz="1000" dirty="0">
                <a:solidFill>
                  <a:srgbClr val="D1D5DB"/>
                </a:solidFill>
                <a:latin typeface="Inter" pitchFamily="34" charset="0"/>
                <a:ea typeface="Inter" pitchFamily="34" charset="-122"/>
                <a:cs typeface="Inter" pitchFamily="34" charset="-120"/>
              </a:rPr>
              <a:t>A new metric, session_duration, was derived by calculating the time difference between session start and end times. This feature is instrumental in detecting persistent connections that deviate from normal user browsing behavior.</a:t>
            </a:r>
            <a:endParaRPr lang="en-US" sz="1000" dirty="0"/>
          </a:p>
        </p:txBody>
      </p:sp>
      <p:sp>
        <p:nvSpPr>
          <p:cNvPr id="45" name="Shape 37"/>
          <p:cNvSpPr/>
          <p:nvPr/>
        </p:nvSpPr>
        <p:spPr>
          <a:xfrm>
            <a:off x="8315554" y="5544007"/>
            <a:ext cx="3029407" cy="9144"/>
          </a:xfrm>
          <a:prstGeom prst="rect">
            <a:avLst/>
          </a:prstGeom>
          <a:solidFill>
            <a:srgbClr val="E5E7EB"/>
          </a:solidFill>
          <a:ln/>
        </p:spPr>
      </p:sp>
      <p:pic>
        <p:nvPicPr>
          <p:cNvPr id="46" name="Image 6" descr="preencoded.png"/>
          <p:cNvPicPr>
            <a:picLocks noChangeAspect="1"/>
          </p:cNvPicPr>
          <p:nvPr/>
        </p:nvPicPr>
        <p:blipFill>
          <a:blip r:embed="rId5"/>
          <a:srcRect/>
          <a:stretch/>
        </p:blipFill>
        <p:spPr>
          <a:xfrm>
            <a:off x="8315554" y="5724144"/>
            <a:ext cx="114300" cy="114300"/>
          </a:xfrm>
          <a:prstGeom prst="rect">
            <a:avLst/>
          </a:prstGeom>
        </p:spPr>
      </p:pic>
      <p:sp>
        <p:nvSpPr>
          <p:cNvPr id="47" name="Text 38"/>
          <p:cNvSpPr txBox="1"/>
          <p:nvPr/>
        </p:nvSpPr>
        <p:spPr>
          <a:xfrm>
            <a:off x="8505749" y="5705856"/>
            <a:ext cx="1743761" cy="143561"/>
          </a:xfrm>
          <a:prstGeom prst="rect">
            <a:avLst/>
          </a:prstGeom>
          <a:noFill/>
          <a:ln/>
        </p:spPr>
        <p:txBody>
          <a:bodyPr wrap="square" lIns="0" tIns="0" rIns="0" bIns="0" rtlCol="0" anchor="ctr"/>
          <a:lstStyle/>
          <a:p>
            <a:pPr marL="0" indent="0" algn="l">
              <a:buNone/>
            </a:pPr>
            <a:r>
              <a:rPr lang="en-US" sz="900" dirty="0">
                <a:solidFill>
                  <a:srgbClr val="FFFFFF"/>
                </a:solidFill>
                <a:latin typeface="Inter" pitchFamily="34" charset="0"/>
                <a:ea typeface="Inter" pitchFamily="34" charset="-122"/>
                <a:cs typeface="Inter" pitchFamily="34" charset="-120"/>
              </a:rPr>
              <a:t>Identifies suspicious longevity</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120"/>
          </a:solidFill>
          <a:ln/>
        </p:spPr>
      </p:sp>
      <p:sp>
        <p:nvSpPr>
          <p:cNvPr id="3" name="Shape 1"/>
          <p:cNvSpPr/>
          <p:nvPr/>
        </p:nvSpPr>
        <p:spPr>
          <a:xfrm>
            <a:off x="0" y="0"/>
            <a:ext cx="12191695" cy="6858000"/>
          </a:xfrm>
          <a:prstGeom prst="rect">
            <a:avLst/>
          </a:prstGeom>
          <a:solidFill>
            <a:srgbClr val="0B1120"/>
          </a:solidFill>
          <a:ln/>
        </p:spPr>
      </p:sp>
      <p:sp>
        <p:nvSpPr>
          <p:cNvPr id="4" name="Shape 2"/>
          <p:cNvSpPr/>
          <p:nvPr/>
        </p:nvSpPr>
        <p:spPr>
          <a:xfrm>
            <a:off x="0" y="0"/>
            <a:ext cx="12191695" cy="6858000"/>
          </a:xfrm>
          <a:prstGeom prst="rect">
            <a:avLst/>
          </a:prstGeom>
          <a:solidFill>
            <a:srgbClr val="0B1120"/>
          </a:solidFill>
          <a:ln/>
        </p:spPr>
      </p:sp>
      <p:sp>
        <p:nvSpPr>
          <p:cNvPr id="5" name="Shape 3"/>
          <p:cNvSpPr/>
          <p:nvPr/>
        </p:nvSpPr>
        <p:spPr>
          <a:xfrm>
            <a:off x="8534095" y="3200400"/>
            <a:ext cx="3657600" cy="3657600"/>
          </a:xfrm>
          <a:prstGeom prst="roundRect">
            <a:avLst>
              <a:gd name="adj" fmla="val 25000"/>
            </a:avLst>
          </a:prstGeom>
          <a:solidFill>
            <a:srgbClr val="1E3A8A">
              <a:alpha val="10000"/>
            </a:srgbClr>
          </a:solidFill>
          <a:ln/>
        </p:spPr>
      </p:sp>
      <p:sp>
        <p:nvSpPr>
          <p:cNvPr id="6" name="Shape 4"/>
          <p:cNvSpPr/>
          <p:nvPr/>
        </p:nvSpPr>
        <p:spPr>
          <a:xfrm>
            <a:off x="457200" y="6391656"/>
            <a:ext cx="11277295" cy="9144"/>
          </a:xfrm>
          <a:prstGeom prst="rect">
            <a:avLst/>
          </a:prstGeom>
          <a:solidFill>
            <a:srgbClr val="1F2937"/>
          </a:solidFill>
          <a:ln/>
        </p:spPr>
      </p:sp>
      <p:sp>
        <p:nvSpPr>
          <p:cNvPr id="8" name="Text 6"/>
          <p:cNvSpPr txBox="1"/>
          <p:nvPr/>
        </p:nvSpPr>
        <p:spPr>
          <a:xfrm>
            <a:off x="10790834" y="6476695"/>
            <a:ext cx="581558" cy="143561"/>
          </a:xfrm>
          <a:prstGeom prst="rect">
            <a:avLst/>
          </a:prstGeom>
          <a:noFill/>
          <a:ln/>
        </p:spPr>
        <p:txBody>
          <a:bodyPr wrap="square" lIns="0" tIns="0" rIns="0" bIns="0" rtlCol="0" anchor="ctr"/>
          <a:lstStyle/>
          <a:p>
            <a:pPr marL="0" indent="0" algn="l">
              <a:buNone/>
            </a:pPr>
            <a:r>
              <a:rPr lang="en-US" sz="900" dirty="0">
                <a:solidFill>
                  <a:srgbClr val="4B5563"/>
                </a:solidFill>
                <a:latin typeface="Inter" pitchFamily="34" charset="0"/>
                <a:ea typeface="Inter" pitchFamily="34" charset="-122"/>
                <a:cs typeface="Inter" pitchFamily="34" charset="-120"/>
              </a:rPr>
              <a:t>SLIDE 07</a:t>
            </a:r>
            <a:endParaRPr lang="en-US" sz="900" dirty="0"/>
          </a:p>
        </p:txBody>
      </p:sp>
      <p:sp>
        <p:nvSpPr>
          <p:cNvPr id="9" name="Shape 7"/>
          <p:cNvSpPr/>
          <p:nvPr/>
        </p:nvSpPr>
        <p:spPr>
          <a:xfrm>
            <a:off x="0" y="1028700"/>
            <a:ext cx="12191695" cy="9144"/>
          </a:xfrm>
          <a:prstGeom prst="rect">
            <a:avLst/>
          </a:prstGeom>
          <a:solidFill>
            <a:srgbClr val="1F2937"/>
          </a:solidFill>
          <a:ln/>
        </p:spPr>
      </p:sp>
      <p:pic>
        <p:nvPicPr>
          <p:cNvPr id="10" name="Image 0" descr="preencoded.png"/>
          <p:cNvPicPr>
            <a:picLocks noChangeAspect="1"/>
          </p:cNvPicPr>
          <p:nvPr/>
        </p:nvPicPr>
        <p:blipFill>
          <a:blip r:embed="rId3"/>
          <a:srcRect/>
          <a:stretch/>
        </p:blipFill>
        <p:spPr>
          <a:xfrm>
            <a:off x="457200" y="314554"/>
            <a:ext cx="133502" cy="133502"/>
          </a:xfrm>
          <a:prstGeom prst="rect">
            <a:avLst/>
          </a:prstGeom>
        </p:spPr>
      </p:pic>
      <p:sp>
        <p:nvSpPr>
          <p:cNvPr id="11" name="Shape 8"/>
          <p:cNvSpPr/>
          <p:nvPr/>
        </p:nvSpPr>
        <p:spPr>
          <a:xfrm>
            <a:off x="8935517" y="620878"/>
            <a:ext cx="2800807" cy="256946"/>
          </a:xfrm>
          <a:prstGeom prst="roundRect">
            <a:avLst>
              <a:gd name="adj" fmla="val 52722"/>
            </a:avLst>
          </a:prstGeom>
          <a:solidFill>
            <a:srgbClr val="1E293B">
              <a:alpha val="80000"/>
            </a:srgbClr>
          </a:solidFill>
          <a:ln w="12700">
            <a:solidFill>
              <a:srgbClr val="475569"/>
            </a:solidFill>
            <a:prstDash val="solid"/>
          </a:ln>
        </p:spPr>
      </p:sp>
      <p:sp>
        <p:nvSpPr>
          <p:cNvPr id="12" name="Text 9"/>
          <p:cNvSpPr txBox="1"/>
          <p:nvPr/>
        </p:nvSpPr>
        <p:spPr>
          <a:xfrm>
            <a:off x="666598" y="304495"/>
            <a:ext cx="2153412" cy="143561"/>
          </a:xfrm>
          <a:prstGeom prst="rect">
            <a:avLst/>
          </a:prstGeom>
          <a:noFill/>
          <a:ln/>
        </p:spPr>
        <p:txBody>
          <a:bodyPr wrap="square" lIns="0" tIns="0" rIns="0" bIns="0" rtlCol="0" anchor="ctr"/>
          <a:lstStyle/>
          <a:p>
            <a:pPr marL="0" indent="0" algn="l">
              <a:buNone/>
            </a:pPr>
            <a:r>
              <a:rPr lang="en-US" sz="900" b="1" dirty="0">
                <a:solidFill>
                  <a:srgbClr val="FFFFFF"/>
                </a:solidFill>
                <a:latin typeface="Inter" pitchFamily="34" charset="0"/>
                <a:ea typeface="Inter" pitchFamily="34" charset="-122"/>
                <a:cs typeface="Inter" pitchFamily="34" charset="-120"/>
              </a:rPr>
              <a:t>EXPLORATORY DATA ANALYSIS</a:t>
            </a:r>
            <a:endParaRPr lang="en-US" sz="900" dirty="0"/>
          </a:p>
        </p:txBody>
      </p:sp>
      <p:sp>
        <p:nvSpPr>
          <p:cNvPr id="13" name="Text 10"/>
          <p:cNvSpPr txBox="1"/>
          <p:nvPr/>
        </p:nvSpPr>
        <p:spPr>
          <a:xfrm>
            <a:off x="457200" y="466344"/>
            <a:ext cx="4048963" cy="438912"/>
          </a:xfrm>
          <a:prstGeom prst="rect">
            <a:avLst/>
          </a:prstGeom>
          <a:noFill/>
          <a:ln/>
        </p:spPr>
        <p:txBody>
          <a:bodyPr wrap="square" lIns="0" tIns="0" rIns="0" bIns="0" rtlCol="0" anchor="ctr"/>
          <a:lstStyle/>
          <a:p>
            <a:pPr marL="0" indent="0" algn="l">
              <a:buNone/>
            </a:pPr>
            <a:r>
              <a:rPr lang="en-US" sz="2700" b="1" dirty="0">
                <a:solidFill>
                  <a:srgbClr val="FFFFFF"/>
                </a:solidFill>
                <a:latin typeface="Space Grotesk" pitchFamily="34" charset="0"/>
                <a:ea typeface="Space Grotesk" pitchFamily="34" charset="-122"/>
                <a:cs typeface="Space Grotesk" pitchFamily="34" charset="-120"/>
              </a:rPr>
              <a:t>Traffic Volume Analysis</a:t>
            </a:r>
            <a:endParaRPr lang="en-US" sz="2700" dirty="0"/>
          </a:p>
        </p:txBody>
      </p:sp>
      <p:pic>
        <p:nvPicPr>
          <p:cNvPr id="14" name="Image 1" descr="preencoded.png"/>
          <p:cNvPicPr>
            <a:picLocks noChangeAspect="1"/>
          </p:cNvPicPr>
          <p:nvPr/>
        </p:nvPicPr>
        <p:blipFill>
          <a:blip r:embed="rId4"/>
          <a:srcRect l="-1677" r="-1677"/>
          <a:stretch/>
        </p:blipFill>
        <p:spPr>
          <a:xfrm>
            <a:off x="9021470" y="691286"/>
            <a:ext cx="95098" cy="105156"/>
          </a:xfrm>
          <a:prstGeom prst="rect">
            <a:avLst/>
          </a:prstGeom>
        </p:spPr>
      </p:pic>
      <p:sp>
        <p:nvSpPr>
          <p:cNvPr id="15" name="Text 11"/>
          <p:cNvSpPr txBox="1"/>
          <p:nvPr/>
        </p:nvSpPr>
        <p:spPr>
          <a:xfrm>
            <a:off x="9154973" y="668426"/>
            <a:ext cx="2575865" cy="143561"/>
          </a:xfrm>
          <a:prstGeom prst="rect">
            <a:avLst/>
          </a:prstGeom>
          <a:noFill/>
          <a:ln/>
        </p:spPr>
        <p:txBody>
          <a:bodyPr wrap="square" lIns="0" tIns="0" rIns="0" bIns="0" rtlCol="0" anchor="ctr"/>
          <a:lstStyle/>
          <a:p>
            <a:pPr marL="0" indent="0" algn="l">
              <a:buNone/>
            </a:pPr>
            <a:r>
              <a:rPr lang="en-US" sz="800" dirty="0">
                <a:solidFill>
                  <a:srgbClr val="94A3B8"/>
                </a:solidFill>
                <a:latin typeface="Courier New" pitchFamily="34" charset="0"/>
                <a:ea typeface="Courier New" pitchFamily="34" charset="-122"/>
                <a:cs typeface="Courier New" pitchFamily="34" charset="-120"/>
              </a:rPr>
              <a:t>SELECT AVG(bytes_in), AVG(bytes_out)...</a:t>
            </a:r>
            <a:endParaRPr lang="en-US" sz="800" dirty="0"/>
          </a:p>
        </p:txBody>
      </p:sp>
      <p:sp>
        <p:nvSpPr>
          <p:cNvPr id="16" name="Shape 12"/>
          <p:cNvSpPr/>
          <p:nvPr/>
        </p:nvSpPr>
        <p:spPr>
          <a:xfrm>
            <a:off x="457200" y="1266444"/>
            <a:ext cx="8287207" cy="4895698"/>
          </a:xfrm>
          <a:prstGeom prst="roundRect">
            <a:avLst>
              <a:gd name="adj" fmla="val 436"/>
            </a:avLst>
          </a:prstGeom>
          <a:solidFill>
            <a:srgbClr val="1E293B">
              <a:alpha val="40000"/>
            </a:srgbClr>
          </a:solidFill>
          <a:ln w="12700">
            <a:solidFill>
              <a:srgbClr val="38BDF8">
                <a:alpha val="20000"/>
              </a:srgbClr>
            </a:solidFill>
            <a:prstDash val="solid"/>
          </a:ln>
        </p:spPr>
      </p:sp>
      <p:sp>
        <p:nvSpPr>
          <p:cNvPr id="17" name="Shape 13"/>
          <p:cNvSpPr/>
          <p:nvPr/>
        </p:nvSpPr>
        <p:spPr>
          <a:xfrm>
            <a:off x="7140550" y="1524305"/>
            <a:ext cx="114300" cy="114300"/>
          </a:xfrm>
          <a:prstGeom prst="roundRect">
            <a:avLst>
              <a:gd name="adj" fmla="val 266667"/>
            </a:avLst>
          </a:prstGeom>
          <a:solidFill>
            <a:srgbClr val="6366F1"/>
          </a:solidFill>
          <a:ln/>
        </p:spPr>
      </p:sp>
      <p:sp>
        <p:nvSpPr>
          <p:cNvPr id="18" name="Shape 14"/>
          <p:cNvSpPr/>
          <p:nvPr/>
        </p:nvSpPr>
        <p:spPr>
          <a:xfrm>
            <a:off x="8973007" y="3798418"/>
            <a:ext cx="2762402" cy="1114654"/>
          </a:xfrm>
          <a:prstGeom prst="roundRect">
            <a:avLst>
              <a:gd name="adj" fmla="val 8414"/>
            </a:avLst>
          </a:prstGeom>
          <a:solidFill>
            <a:srgbClr val="1E293B">
              <a:alpha val="40000"/>
            </a:srgbClr>
          </a:solidFill>
          <a:ln w="12700">
            <a:solidFill>
              <a:srgbClr val="38BDF8">
                <a:alpha val="20000"/>
              </a:srgbClr>
            </a:solidFill>
            <a:prstDash val="solid"/>
          </a:ln>
        </p:spPr>
      </p:sp>
      <p:pic>
        <p:nvPicPr>
          <p:cNvPr id="19" name="Image 2" descr="preencoded.png"/>
          <p:cNvPicPr>
            <a:picLocks noChangeAspect="1"/>
          </p:cNvPicPr>
          <p:nvPr/>
        </p:nvPicPr>
        <p:blipFill>
          <a:blip r:embed="rId5"/>
          <a:srcRect l="-133" r="-133"/>
          <a:stretch/>
        </p:blipFill>
        <p:spPr>
          <a:xfrm>
            <a:off x="9134856" y="4579315"/>
            <a:ext cx="85954" cy="114300"/>
          </a:xfrm>
          <a:prstGeom prst="rect">
            <a:avLst/>
          </a:prstGeom>
        </p:spPr>
      </p:pic>
      <p:sp>
        <p:nvSpPr>
          <p:cNvPr id="20" name="Text 15"/>
          <p:cNvSpPr txBox="1"/>
          <p:nvPr/>
        </p:nvSpPr>
        <p:spPr>
          <a:xfrm>
            <a:off x="9258300" y="4561027"/>
            <a:ext cx="1000354" cy="152705"/>
          </a:xfrm>
          <a:prstGeom prst="rect">
            <a:avLst/>
          </a:prstGeom>
          <a:noFill/>
          <a:ln/>
        </p:spPr>
        <p:txBody>
          <a:bodyPr wrap="square" lIns="0" tIns="0" rIns="0" bIns="0" rtlCol="0" anchor="ctr"/>
          <a:lstStyle/>
          <a:p>
            <a:pPr marL="0" indent="0" algn="l">
              <a:buNone/>
            </a:pPr>
            <a:r>
              <a:rPr lang="en-US" sz="900" dirty="0">
                <a:solidFill>
                  <a:srgbClr val="F87171"/>
                </a:solidFill>
                <a:latin typeface="Inter" pitchFamily="34" charset="0"/>
                <a:ea typeface="Inter" pitchFamily="34" charset="-122"/>
                <a:cs typeface="Inter" pitchFamily="34" charset="-120"/>
              </a:rPr>
              <a:t>450% vs Normal</a:t>
            </a:r>
            <a:endParaRPr lang="en-US" sz="900" dirty="0"/>
          </a:p>
        </p:txBody>
      </p:sp>
      <p:sp>
        <p:nvSpPr>
          <p:cNvPr id="21" name="Shape 16"/>
          <p:cNvSpPr/>
          <p:nvPr/>
        </p:nvSpPr>
        <p:spPr>
          <a:xfrm>
            <a:off x="8973007" y="5056632"/>
            <a:ext cx="2762402" cy="1114654"/>
          </a:xfrm>
          <a:prstGeom prst="roundRect">
            <a:avLst>
              <a:gd name="adj" fmla="val 8414"/>
            </a:avLst>
          </a:prstGeom>
          <a:solidFill>
            <a:srgbClr val="1E293B">
              <a:alpha val="40000"/>
            </a:srgbClr>
          </a:solidFill>
          <a:ln w="12700">
            <a:solidFill>
              <a:srgbClr val="38BDF8">
                <a:alpha val="20000"/>
              </a:srgbClr>
            </a:solidFill>
            <a:prstDash val="solid"/>
          </a:ln>
        </p:spPr>
      </p:sp>
      <p:pic>
        <p:nvPicPr>
          <p:cNvPr id="22" name="Image 3" descr="preencoded.png"/>
          <p:cNvPicPr>
            <a:picLocks noChangeAspect="1"/>
          </p:cNvPicPr>
          <p:nvPr/>
        </p:nvPicPr>
        <p:blipFill>
          <a:blip r:embed="rId6"/>
          <a:srcRect/>
          <a:stretch/>
        </p:blipFill>
        <p:spPr>
          <a:xfrm>
            <a:off x="9134856" y="5838444"/>
            <a:ext cx="114300" cy="114300"/>
          </a:xfrm>
          <a:prstGeom prst="rect">
            <a:avLst/>
          </a:prstGeom>
        </p:spPr>
      </p:pic>
      <p:sp>
        <p:nvSpPr>
          <p:cNvPr id="23" name="Text 17"/>
          <p:cNvSpPr txBox="1"/>
          <p:nvPr/>
        </p:nvSpPr>
        <p:spPr>
          <a:xfrm>
            <a:off x="9286646" y="5819242"/>
            <a:ext cx="1248156" cy="152705"/>
          </a:xfrm>
          <a:prstGeom prst="rect">
            <a:avLst/>
          </a:prstGeom>
          <a:noFill/>
          <a:ln/>
        </p:spPr>
        <p:txBody>
          <a:bodyPr wrap="square" lIns="0" tIns="0" rIns="0" bIns="0" rtlCol="0" anchor="ctr"/>
          <a:lstStyle/>
          <a:p>
            <a:pPr marL="0" indent="0" algn="l">
              <a:buNone/>
            </a:pPr>
            <a:r>
              <a:rPr lang="en-US" sz="900" dirty="0">
                <a:solidFill>
                  <a:srgbClr val="6B7280"/>
                </a:solidFill>
                <a:latin typeface="Inter" pitchFamily="34" charset="0"/>
                <a:ea typeface="Inter" pitchFamily="34" charset="-122"/>
                <a:cs typeface="Inter" pitchFamily="34" charset="-120"/>
              </a:rPr>
              <a:t>Primarily Error Codes</a:t>
            </a:r>
            <a:endParaRPr lang="en-US" sz="900" dirty="0"/>
          </a:p>
        </p:txBody>
      </p:sp>
      <p:sp>
        <p:nvSpPr>
          <p:cNvPr id="24" name="Text 18"/>
          <p:cNvSpPr txBox="1"/>
          <p:nvPr/>
        </p:nvSpPr>
        <p:spPr>
          <a:xfrm>
            <a:off x="694944" y="1524305"/>
            <a:ext cx="3167482" cy="219456"/>
          </a:xfrm>
          <a:prstGeom prst="rect">
            <a:avLst/>
          </a:prstGeom>
          <a:noFill/>
          <a:ln/>
        </p:spPr>
        <p:txBody>
          <a:bodyPr wrap="square" lIns="0" tIns="0" rIns="0" bIns="0" rtlCol="0" anchor="ctr"/>
          <a:lstStyle/>
          <a:p>
            <a:pPr marL="0" indent="0" algn="l">
              <a:buNone/>
            </a:pPr>
            <a:r>
              <a:rPr lang="en-US" sz="1300" b="1" dirty="0">
                <a:solidFill>
                  <a:srgbClr val="FFFFFF"/>
                </a:solidFill>
                <a:latin typeface="Space Grotesk" pitchFamily="34" charset="0"/>
                <a:ea typeface="Space Grotesk" pitchFamily="34" charset="-122"/>
                <a:cs typeface="Space Grotesk" pitchFamily="34" charset="-120"/>
              </a:rPr>
              <a:t>Inbound vs. Outbound Traffic Volume</a:t>
            </a:r>
            <a:endParaRPr lang="en-US" sz="1300" dirty="0"/>
          </a:p>
        </p:txBody>
      </p:sp>
      <p:sp>
        <p:nvSpPr>
          <p:cNvPr id="25" name="Text 19"/>
          <p:cNvSpPr txBox="1"/>
          <p:nvPr/>
        </p:nvSpPr>
        <p:spPr>
          <a:xfrm>
            <a:off x="5997550" y="1505102"/>
            <a:ext cx="1077163" cy="143561"/>
          </a:xfrm>
          <a:prstGeom prst="rect">
            <a:avLst/>
          </a:prstGeom>
          <a:noFill/>
          <a:ln/>
        </p:spPr>
        <p:txBody>
          <a:bodyPr wrap="square" lIns="0" tIns="0" rIns="0" bIns="0" rtlCol="0" anchor="ctr"/>
          <a:lstStyle/>
          <a:p>
            <a:pPr marL="0" indent="0" algn="l">
              <a:buNone/>
            </a:pPr>
            <a:r>
              <a:rPr lang="en-US" sz="900" dirty="0">
                <a:solidFill>
                  <a:srgbClr val="D1D5DB"/>
                </a:solidFill>
                <a:latin typeface="Inter" pitchFamily="34" charset="0"/>
                <a:ea typeface="Inter" pitchFamily="34" charset="-122"/>
                <a:cs typeface="Inter" pitchFamily="34" charset="-120"/>
              </a:rPr>
              <a:t>Bytes In (Request)</a:t>
            </a:r>
            <a:endParaRPr lang="en-US" sz="900" dirty="0"/>
          </a:p>
        </p:txBody>
      </p:sp>
      <p:sp>
        <p:nvSpPr>
          <p:cNvPr id="26" name="Text 20"/>
          <p:cNvSpPr txBox="1"/>
          <p:nvPr/>
        </p:nvSpPr>
        <p:spPr>
          <a:xfrm>
            <a:off x="7330745" y="1505102"/>
            <a:ext cx="1267358" cy="143561"/>
          </a:xfrm>
          <a:prstGeom prst="rect">
            <a:avLst/>
          </a:prstGeom>
          <a:noFill/>
          <a:ln/>
        </p:spPr>
        <p:txBody>
          <a:bodyPr wrap="square" lIns="0" tIns="0" rIns="0" bIns="0" rtlCol="0" anchor="ctr"/>
          <a:lstStyle/>
          <a:p>
            <a:pPr marL="0" indent="0" algn="l">
              <a:buNone/>
            </a:pPr>
            <a:r>
              <a:rPr lang="en-US" sz="900" dirty="0">
                <a:solidFill>
                  <a:srgbClr val="D1D5DB"/>
                </a:solidFill>
                <a:latin typeface="Inter" pitchFamily="34" charset="0"/>
                <a:ea typeface="Inter" pitchFamily="34" charset="-122"/>
                <a:cs typeface="Inter" pitchFamily="34" charset="-120"/>
              </a:rPr>
              <a:t>Bytes Out (Response)</a:t>
            </a:r>
            <a:endParaRPr lang="en-US" sz="900" dirty="0"/>
          </a:p>
        </p:txBody>
      </p:sp>
      <p:sp>
        <p:nvSpPr>
          <p:cNvPr id="27" name="Text 21"/>
          <p:cNvSpPr txBox="1"/>
          <p:nvPr/>
        </p:nvSpPr>
        <p:spPr>
          <a:xfrm>
            <a:off x="9134856" y="3989527"/>
            <a:ext cx="1629461" cy="143561"/>
          </a:xfrm>
          <a:prstGeom prst="rect">
            <a:avLst/>
          </a:prstGeom>
          <a:noFill/>
          <a:ln/>
        </p:spPr>
        <p:txBody>
          <a:bodyPr wrap="square" lIns="0" tIns="0" rIns="0" bIns="0" rtlCol="0" anchor="ctr"/>
          <a:lstStyle/>
          <a:p>
            <a:pPr marL="0" indent="0" algn="l">
              <a:buNone/>
            </a:pPr>
            <a:r>
              <a:rPr lang="en-US" sz="900" b="1" dirty="0">
                <a:solidFill>
                  <a:srgbClr val="9CA3AF"/>
                </a:solidFill>
                <a:latin typeface="Inter" pitchFamily="34" charset="0"/>
                <a:ea typeface="Inter" pitchFamily="34" charset="-122"/>
                <a:cs typeface="Inter" pitchFamily="34" charset="-120"/>
              </a:rPr>
              <a:t>AVG SUSPICIOUS PAYLOAD</a:t>
            </a:r>
            <a:endParaRPr lang="en-US" sz="900" dirty="0"/>
          </a:p>
        </p:txBody>
      </p:sp>
      <p:sp>
        <p:nvSpPr>
          <p:cNvPr id="28" name="Text 22"/>
          <p:cNvSpPr txBox="1"/>
          <p:nvPr/>
        </p:nvSpPr>
        <p:spPr>
          <a:xfrm>
            <a:off x="9134856" y="4160520"/>
            <a:ext cx="1424635" cy="372161"/>
          </a:xfrm>
          <a:prstGeom prst="rect">
            <a:avLst/>
          </a:prstGeom>
          <a:noFill/>
          <a:ln/>
        </p:spPr>
        <p:txBody>
          <a:bodyPr wrap="square" lIns="0" tIns="0" rIns="0" bIns="0" rtlCol="0" anchor="ctr"/>
          <a:lstStyle/>
          <a:p>
            <a:pPr marL="0" indent="0" algn="l">
              <a:buNone/>
            </a:pPr>
            <a:r>
              <a:rPr lang="en-US" sz="2200" b="1" dirty="0">
                <a:solidFill>
                  <a:srgbClr val="FFFFFF"/>
                </a:solidFill>
                <a:latin typeface="Courier New" pitchFamily="34" charset="0"/>
                <a:ea typeface="Courier New" pitchFamily="34" charset="-122"/>
                <a:cs typeface="Courier New" pitchFamily="34" charset="-120"/>
              </a:rPr>
              <a:t>14.2 KB</a:t>
            </a:r>
            <a:endParaRPr lang="en-US" sz="2200" dirty="0"/>
          </a:p>
        </p:txBody>
      </p:sp>
      <p:sp>
        <p:nvSpPr>
          <p:cNvPr id="29" name="Text 23"/>
          <p:cNvSpPr txBox="1"/>
          <p:nvPr/>
        </p:nvSpPr>
        <p:spPr>
          <a:xfrm>
            <a:off x="9134856" y="5247742"/>
            <a:ext cx="1257300" cy="143561"/>
          </a:xfrm>
          <a:prstGeom prst="rect">
            <a:avLst/>
          </a:prstGeom>
          <a:noFill/>
          <a:ln/>
        </p:spPr>
        <p:txBody>
          <a:bodyPr wrap="square" lIns="0" tIns="0" rIns="0" bIns="0" rtlCol="0" anchor="ctr"/>
          <a:lstStyle/>
          <a:p>
            <a:pPr marL="0" indent="0" algn="l">
              <a:buNone/>
            </a:pPr>
            <a:r>
              <a:rPr lang="en-US" sz="900" b="1" dirty="0">
                <a:solidFill>
                  <a:srgbClr val="9CA3AF"/>
                </a:solidFill>
                <a:latin typeface="Inter" pitchFamily="34" charset="0"/>
                <a:ea typeface="Inter" pitchFamily="34" charset="-122"/>
                <a:cs typeface="Inter" pitchFamily="34" charset="-120"/>
              </a:rPr>
              <a:t>AVG RESPONSE SIZE</a:t>
            </a:r>
            <a:endParaRPr lang="en-US" sz="900" dirty="0"/>
          </a:p>
        </p:txBody>
      </p:sp>
      <p:sp>
        <p:nvSpPr>
          <p:cNvPr id="30" name="Text 24"/>
          <p:cNvSpPr txBox="1"/>
          <p:nvPr/>
        </p:nvSpPr>
        <p:spPr>
          <a:xfrm>
            <a:off x="9134856" y="5418734"/>
            <a:ext cx="1252728" cy="372161"/>
          </a:xfrm>
          <a:prstGeom prst="rect">
            <a:avLst/>
          </a:prstGeom>
          <a:noFill/>
          <a:ln/>
        </p:spPr>
        <p:txBody>
          <a:bodyPr wrap="square" lIns="0" tIns="0" rIns="0" bIns="0" rtlCol="0" anchor="ctr"/>
          <a:lstStyle/>
          <a:p>
            <a:pPr marL="0" indent="0" algn="l">
              <a:buNone/>
            </a:pPr>
            <a:r>
              <a:rPr lang="en-US" sz="2200" b="1" dirty="0">
                <a:solidFill>
                  <a:srgbClr val="818CF8"/>
                </a:solidFill>
                <a:latin typeface="Courier New" pitchFamily="34" charset="0"/>
                <a:ea typeface="Courier New" pitchFamily="34" charset="-122"/>
                <a:cs typeface="Courier New" pitchFamily="34" charset="-120"/>
              </a:rPr>
              <a:t>0.4 KB</a:t>
            </a:r>
            <a:endParaRPr lang="en-US" sz="2200" dirty="0"/>
          </a:p>
        </p:txBody>
      </p:sp>
      <p:pic>
        <p:nvPicPr>
          <p:cNvPr id="31" name="Image 4" descr="preencoded.png"/>
          <p:cNvPicPr>
            <a:picLocks noChangeAspect="1"/>
          </p:cNvPicPr>
          <p:nvPr/>
        </p:nvPicPr>
        <p:blipFill>
          <a:blip r:embed="rId7"/>
          <a:srcRect l="-6" r="-6"/>
          <a:stretch/>
        </p:blipFill>
        <p:spPr>
          <a:xfrm>
            <a:off x="694944" y="1848002"/>
            <a:ext cx="7810805" cy="4076395"/>
          </a:xfrm>
          <a:prstGeom prst="rect">
            <a:avLst/>
          </a:prstGeom>
        </p:spPr>
      </p:pic>
      <p:sp>
        <p:nvSpPr>
          <p:cNvPr id="32" name="Shape 25"/>
          <p:cNvSpPr/>
          <p:nvPr/>
        </p:nvSpPr>
        <p:spPr>
          <a:xfrm>
            <a:off x="8973007" y="1380744"/>
            <a:ext cx="2762402" cy="2266798"/>
          </a:xfrm>
          <a:prstGeom prst="roundRect">
            <a:avLst>
              <a:gd name="adj" fmla="val 2034"/>
            </a:avLst>
          </a:prstGeom>
          <a:solidFill>
            <a:srgbClr val="0F172A">
              <a:alpha val="90000"/>
            </a:srgbClr>
          </a:solidFill>
          <a:ln w="12700">
            <a:solidFill>
              <a:srgbClr val="38BDF8"/>
            </a:solidFill>
            <a:prstDash val="solid"/>
          </a:ln>
          <a:effectLst>
            <a:outerShdw blurRad="190500" dist="38100" dir="5400000" algn="bl" rotWithShape="0">
              <a:srgbClr val="000000">
                <a:alpha val="40000"/>
              </a:srgbClr>
            </a:outerShdw>
          </a:effectLst>
        </p:spPr>
      </p:sp>
      <p:pic>
        <p:nvPicPr>
          <p:cNvPr id="33" name="Image 5" descr="preencoded.png"/>
          <p:cNvPicPr>
            <a:picLocks noChangeAspect="1"/>
          </p:cNvPicPr>
          <p:nvPr/>
        </p:nvPicPr>
        <p:blipFill>
          <a:blip r:embed="rId8"/>
          <a:srcRect/>
          <a:stretch/>
        </p:blipFill>
        <p:spPr>
          <a:xfrm>
            <a:off x="9201607" y="1695298"/>
            <a:ext cx="190195" cy="190195"/>
          </a:xfrm>
          <a:prstGeom prst="rect">
            <a:avLst/>
          </a:prstGeom>
        </p:spPr>
      </p:pic>
      <p:sp>
        <p:nvSpPr>
          <p:cNvPr id="34" name="Text 26"/>
          <p:cNvSpPr txBox="1"/>
          <p:nvPr/>
        </p:nvSpPr>
        <p:spPr>
          <a:xfrm>
            <a:off x="9506102" y="1647749"/>
            <a:ext cx="1681582" cy="219456"/>
          </a:xfrm>
          <a:prstGeom prst="rect">
            <a:avLst/>
          </a:prstGeom>
          <a:noFill/>
          <a:ln/>
        </p:spPr>
        <p:txBody>
          <a:bodyPr wrap="square" lIns="0" tIns="0" rIns="0" bIns="0" rtlCol="0" anchor="ctr"/>
          <a:lstStyle/>
          <a:p>
            <a:pPr marL="0" indent="0" algn="l">
              <a:buNone/>
            </a:pPr>
            <a:r>
              <a:rPr lang="en-US" sz="1300" b="1" dirty="0">
                <a:solidFill>
                  <a:srgbClr val="FFFFFF"/>
                </a:solidFill>
                <a:latin typeface="Space Grotesk" pitchFamily="34" charset="0"/>
                <a:ea typeface="Space Grotesk" pitchFamily="34" charset="-122"/>
                <a:cs typeface="Space Grotesk" pitchFamily="34" charset="-120"/>
              </a:rPr>
              <a:t>Asymmetric Traffic</a:t>
            </a:r>
            <a:endParaRPr lang="en-US" sz="1300" dirty="0"/>
          </a:p>
        </p:txBody>
      </p:sp>
      <p:sp>
        <p:nvSpPr>
          <p:cNvPr id="35" name="Text 27"/>
          <p:cNvSpPr txBox="1"/>
          <p:nvPr/>
        </p:nvSpPr>
        <p:spPr>
          <a:xfrm>
            <a:off x="9201607" y="2018995"/>
            <a:ext cx="2386584" cy="600761"/>
          </a:xfrm>
          <a:prstGeom prst="rect">
            <a:avLst/>
          </a:prstGeom>
          <a:noFill/>
          <a:ln/>
        </p:spPr>
        <p:txBody>
          <a:bodyPr wrap="square" lIns="0" tIns="0" rIns="0" bIns="0" rtlCol="0" anchor="ctr"/>
          <a:lstStyle/>
          <a:p>
            <a:pPr marL="0" indent="0" algn="l">
              <a:buNone/>
            </a:pPr>
            <a:r>
              <a:rPr lang="en-US" sz="1000" dirty="0">
                <a:solidFill>
                  <a:srgbClr val="D1D5DB"/>
                </a:solidFill>
                <a:latin typeface="Inter" pitchFamily="34" charset="0"/>
                <a:ea typeface="Inter" pitchFamily="34" charset="-122"/>
                <a:cs typeface="Inter" pitchFamily="34" charset="-120"/>
              </a:rPr>
              <a:t>Identified sessions with unusually high Incoming Traffic (payloads) but minimal Outgoing Responses.</a:t>
            </a:r>
            <a:endParaRPr lang="en-US" sz="1000" dirty="0"/>
          </a:p>
        </p:txBody>
      </p:sp>
      <p:sp>
        <p:nvSpPr>
          <p:cNvPr id="36" name="Shape 28"/>
          <p:cNvSpPr/>
          <p:nvPr/>
        </p:nvSpPr>
        <p:spPr>
          <a:xfrm>
            <a:off x="9201607" y="2764231"/>
            <a:ext cx="2333549" cy="9144"/>
          </a:xfrm>
          <a:prstGeom prst="rect">
            <a:avLst/>
          </a:prstGeom>
          <a:solidFill>
            <a:srgbClr val="374151"/>
          </a:solidFill>
          <a:ln/>
        </p:spPr>
      </p:sp>
      <p:pic>
        <p:nvPicPr>
          <p:cNvPr id="37" name="Image 6" descr="preencoded.png"/>
          <p:cNvPicPr>
            <a:picLocks noChangeAspect="1"/>
          </p:cNvPicPr>
          <p:nvPr/>
        </p:nvPicPr>
        <p:blipFill>
          <a:blip r:embed="rId9"/>
          <a:srcRect l="-2571" r="-2571"/>
          <a:stretch/>
        </p:blipFill>
        <p:spPr>
          <a:xfrm>
            <a:off x="9201607" y="2921508"/>
            <a:ext cx="105156" cy="114300"/>
          </a:xfrm>
          <a:prstGeom prst="rect">
            <a:avLst/>
          </a:prstGeom>
        </p:spPr>
      </p:pic>
      <p:sp>
        <p:nvSpPr>
          <p:cNvPr id="38" name="Text 29"/>
          <p:cNvSpPr txBox="1"/>
          <p:nvPr/>
        </p:nvSpPr>
        <p:spPr>
          <a:xfrm>
            <a:off x="9201607" y="2907792"/>
            <a:ext cx="2391156" cy="514807"/>
          </a:xfrm>
          <a:prstGeom prst="rect">
            <a:avLst/>
          </a:prstGeom>
          <a:noFill/>
          <a:ln/>
        </p:spPr>
        <p:txBody>
          <a:bodyPr wrap="square" lIns="0" tIns="0" rIns="0" bIns="0" rtlCol="0" anchor="ctr"/>
          <a:lstStyle/>
          <a:p>
            <a:pPr marL="0" indent="0" algn="l">
              <a:buNone/>
            </a:pPr>
            <a:r>
              <a:rPr lang="en-US" sz="900" dirty="0">
                <a:solidFill>
                  <a:srgbClr val="9CA3AF"/>
                </a:solidFill>
                <a:latin typeface="Inter" pitchFamily="34" charset="0"/>
                <a:ea typeface="Inter" pitchFamily="34" charset="-122"/>
                <a:cs typeface="Inter" pitchFamily="34" charset="-120"/>
              </a:rPr>
              <a:t>Indicates potential probing, fuzzing, or reconnaissance attempts where the server rejects the request.</a:t>
            </a:r>
            <a:endParaRPr lang="en-US" sz="900" dirty="0"/>
          </a:p>
        </p:txBody>
      </p:sp>
      <p:sp>
        <p:nvSpPr>
          <p:cNvPr id="39" name="Text 30"/>
          <p:cNvSpPr txBox="1"/>
          <p:nvPr/>
        </p:nvSpPr>
        <p:spPr>
          <a:xfrm>
            <a:off x="9241642" y="1458346"/>
            <a:ext cx="1257300" cy="143561"/>
          </a:xfrm>
          <a:prstGeom prst="rect">
            <a:avLst/>
          </a:prstGeom>
          <a:noFill/>
          <a:ln/>
        </p:spPr>
        <p:txBody>
          <a:bodyPr wrap="square" lIns="0" tIns="0" rIns="0" bIns="0" rtlCol="0" anchor="ctr"/>
          <a:lstStyle/>
          <a:p>
            <a:pPr marL="0" indent="0" algn="l">
              <a:buNone/>
            </a:pPr>
            <a:r>
              <a:rPr lang="en-US" sz="900" b="1" dirty="0">
                <a:solidFill>
                  <a:srgbClr val="FFFFFF"/>
                </a:solidFill>
                <a:latin typeface="Inter" pitchFamily="34" charset="0"/>
                <a:ea typeface="Inter" pitchFamily="34" charset="-122"/>
                <a:cs typeface="Inter" pitchFamily="34" charset="-120"/>
              </a:rPr>
              <a:t>KEY OBSERVATION</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120"/>
          </a:solidFill>
          <a:ln/>
        </p:spPr>
      </p:sp>
      <p:sp>
        <p:nvSpPr>
          <p:cNvPr id="3" name="Shape 1"/>
          <p:cNvSpPr/>
          <p:nvPr/>
        </p:nvSpPr>
        <p:spPr>
          <a:xfrm>
            <a:off x="0" y="0"/>
            <a:ext cx="12191695" cy="6858000"/>
          </a:xfrm>
          <a:prstGeom prst="rect">
            <a:avLst/>
          </a:prstGeom>
          <a:solidFill>
            <a:srgbClr val="0B1120"/>
          </a:solidFill>
          <a:ln/>
        </p:spPr>
      </p:sp>
      <p:sp>
        <p:nvSpPr>
          <p:cNvPr id="4" name="Shape 2"/>
          <p:cNvSpPr/>
          <p:nvPr/>
        </p:nvSpPr>
        <p:spPr>
          <a:xfrm>
            <a:off x="0" y="0"/>
            <a:ext cx="12191695" cy="6858000"/>
          </a:xfrm>
          <a:prstGeom prst="rect">
            <a:avLst/>
          </a:prstGeom>
          <a:solidFill>
            <a:srgbClr val="0B1120">
              <a:alpha val="50000"/>
            </a:srgbClr>
          </a:solidFill>
          <a:ln/>
        </p:spPr>
      </p:sp>
      <p:sp>
        <p:nvSpPr>
          <p:cNvPr id="5" name="Shape 3"/>
          <p:cNvSpPr/>
          <p:nvPr/>
        </p:nvSpPr>
        <p:spPr>
          <a:xfrm>
            <a:off x="0" y="0"/>
            <a:ext cx="3657600" cy="3657600"/>
          </a:xfrm>
          <a:prstGeom prst="roundRect">
            <a:avLst>
              <a:gd name="adj" fmla="val 25000"/>
            </a:avLst>
          </a:prstGeom>
          <a:solidFill>
            <a:srgbClr val="312E81">
              <a:alpha val="20000"/>
            </a:srgbClr>
          </a:solidFill>
          <a:ln/>
        </p:spPr>
      </p:sp>
      <p:sp>
        <p:nvSpPr>
          <p:cNvPr id="6" name="Shape 4"/>
          <p:cNvSpPr/>
          <p:nvPr/>
        </p:nvSpPr>
        <p:spPr>
          <a:xfrm>
            <a:off x="457200" y="6391656"/>
            <a:ext cx="11277295" cy="9144"/>
          </a:xfrm>
          <a:prstGeom prst="rect">
            <a:avLst/>
          </a:prstGeom>
          <a:solidFill>
            <a:srgbClr val="1F2937"/>
          </a:solidFill>
          <a:ln/>
        </p:spPr>
      </p:sp>
      <p:sp>
        <p:nvSpPr>
          <p:cNvPr id="8" name="Text 6"/>
          <p:cNvSpPr txBox="1"/>
          <p:nvPr/>
        </p:nvSpPr>
        <p:spPr>
          <a:xfrm>
            <a:off x="10728655" y="6486754"/>
            <a:ext cx="638251" cy="133502"/>
          </a:xfrm>
          <a:prstGeom prst="rect">
            <a:avLst/>
          </a:prstGeom>
          <a:noFill/>
          <a:ln/>
        </p:spPr>
        <p:txBody>
          <a:bodyPr wrap="square" lIns="0" tIns="0" rIns="0" bIns="0" rtlCol="0" anchor="ctr"/>
          <a:lstStyle/>
          <a:p>
            <a:pPr marL="0" indent="0" algn="l">
              <a:buNone/>
            </a:pPr>
            <a:r>
              <a:rPr lang="en-US" sz="900" dirty="0">
                <a:solidFill>
                  <a:srgbClr val="4B5563"/>
                </a:solidFill>
                <a:latin typeface="ui-monospace" pitchFamily="34" charset="0"/>
                <a:ea typeface="ui-monospace" pitchFamily="34" charset="-122"/>
                <a:cs typeface="ui-monospace" pitchFamily="34" charset="-120"/>
              </a:rPr>
              <a:t>SLIDE 08</a:t>
            </a:r>
            <a:endParaRPr lang="en-US" sz="900" dirty="0"/>
          </a:p>
        </p:txBody>
      </p:sp>
      <p:sp>
        <p:nvSpPr>
          <p:cNvPr id="9" name="Shape 7"/>
          <p:cNvSpPr/>
          <p:nvPr/>
        </p:nvSpPr>
        <p:spPr>
          <a:xfrm>
            <a:off x="0" y="1028700"/>
            <a:ext cx="12191695" cy="9144"/>
          </a:xfrm>
          <a:prstGeom prst="rect">
            <a:avLst/>
          </a:prstGeom>
          <a:solidFill>
            <a:srgbClr val="1F2937"/>
          </a:solidFill>
          <a:ln/>
        </p:spPr>
      </p:sp>
      <p:pic>
        <p:nvPicPr>
          <p:cNvPr id="10" name="Image 0" descr="preencoded.png"/>
          <p:cNvPicPr>
            <a:picLocks noChangeAspect="1"/>
          </p:cNvPicPr>
          <p:nvPr/>
        </p:nvPicPr>
        <p:blipFill>
          <a:blip r:embed="rId3"/>
          <a:srcRect/>
          <a:stretch/>
        </p:blipFill>
        <p:spPr>
          <a:xfrm>
            <a:off x="457200" y="314554"/>
            <a:ext cx="133502" cy="133502"/>
          </a:xfrm>
          <a:prstGeom prst="rect">
            <a:avLst/>
          </a:prstGeom>
        </p:spPr>
      </p:pic>
      <p:sp>
        <p:nvSpPr>
          <p:cNvPr id="11" name="Shape 8"/>
          <p:cNvSpPr/>
          <p:nvPr/>
        </p:nvSpPr>
        <p:spPr>
          <a:xfrm>
            <a:off x="7209130" y="620878"/>
            <a:ext cx="4533595" cy="256946"/>
          </a:xfrm>
          <a:prstGeom prst="roundRect">
            <a:avLst>
              <a:gd name="adj" fmla="val 52722"/>
            </a:avLst>
          </a:prstGeom>
          <a:solidFill>
            <a:srgbClr val="1E293B">
              <a:alpha val="80000"/>
            </a:srgbClr>
          </a:solidFill>
          <a:ln w="12700">
            <a:solidFill>
              <a:srgbClr val="475569"/>
            </a:solidFill>
            <a:prstDash val="solid"/>
          </a:ln>
        </p:spPr>
      </p:sp>
      <p:sp>
        <p:nvSpPr>
          <p:cNvPr id="12" name="Text 9"/>
          <p:cNvSpPr txBox="1"/>
          <p:nvPr/>
        </p:nvSpPr>
        <p:spPr>
          <a:xfrm>
            <a:off x="666598" y="304495"/>
            <a:ext cx="2153412" cy="143561"/>
          </a:xfrm>
          <a:prstGeom prst="rect">
            <a:avLst/>
          </a:prstGeom>
          <a:noFill/>
          <a:ln/>
        </p:spPr>
        <p:txBody>
          <a:bodyPr wrap="square" lIns="0" tIns="0" rIns="0" bIns="0" rtlCol="0" anchor="ctr"/>
          <a:lstStyle/>
          <a:p>
            <a:pPr marL="0" indent="0" algn="l">
              <a:buNone/>
            </a:pPr>
            <a:r>
              <a:rPr lang="en-US" sz="900" b="1" dirty="0">
                <a:solidFill>
                  <a:srgbClr val="F472B6"/>
                </a:solidFill>
                <a:latin typeface="Inter" pitchFamily="34" charset="0"/>
                <a:ea typeface="Inter" pitchFamily="34" charset="-122"/>
                <a:cs typeface="Inter" pitchFamily="34" charset="-120"/>
              </a:rPr>
              <a:t>EXPLORATORY DATA ANALYSIS</a:t>
            </a:r>
            <a:endParaRPr lang="en-US" sz="900" dirty="0"/>
          </a:p>
        </p:txBody>
      </p:sp>
      <p:sp>
        <p:nvSpPr>
          <p:cNvPr id="13" name="Text 10"/>
          <p:cNvSpPr txBox="1"/>
          <p:nvPr/>
        </p:nvSpPr>
        <p:spPr>
          <a:xfrm>
            <a:off x="457200" y="466344"/>
            <a:ext cx="5677510" cy="438912"/>
          </a:xfrm>
          <a:prstGeom prst="rect">
            <a:avLst/>
          </a:prstGeom>
          <a:noFill/>
          <a:ln/>
        </p:spPr>
        <p:txBody>
          <a:bodyPr wrap="square" lIns="0" tIns="0" rIns="0" bIns="0" rtlCol="0" anchor="ctr"/>
          <a:lstStyle/>
          <a:p>
            <a:pPr marL="0" indent="0" algn="l">
              <a:buNone/>
            </a:pPr>
            <a:r>
              <a:rPr lang="en-US" sz="2700" b="1" dirty="0">
                <a:solidFill>
                  <a:srgbClr val="FFFFFF"/>
                </a:solidFill>
                <a:latin typeface="Space Grotesk" pitchFamily="34" charset="0"/>
                <a:ea typeface="Space Grotesk" pitchFamily="34" charset="-122"/>
                <a:cs typeface="Space Grotesk" pitchFamily="34" charset="-120"/>
              </a:rPr>
              <a:t>Country-wise Traffic Distribution</a:t>
            </a:r>
            <a:endParaRPr lang="en-US" sz="2700" dirty="0"/>
          </a:p>
        </p:txBody>
      </p:sp>
      <p:pic>
        <p:nvPicPr>
          <p:cNvPr id="14" name="Image 1" descr="preencoded.png"/>
          <p:cNvPicPr>
            <a:picLocks noChangeAspect="1"/>
          </p:cNvPicPr>
          <p:nvPr/>
        </p:nvPicPr>
        <p:blipFill>
          <a:blip r:embed="rId4"/>
          <a:srcRect l="-1677" r="-1677"/>
          <a:stretch/>
        </p:blipFill>
        <p:spPr>
          <a:xfrm>
            <a:off x="7295083" y="691286"/>
            <a:ext cx="95098" cy="105156"/>
          </a:xfrm>
          <a:prstGeom prst="rect">
            <a:avLst/>
          </a:prstGeom>
        </p:spPr>
      </p:pic>
      <p:sp>
        <p:nvSpPr>
          <p:cNvPr id="15" name="Text 11"/>
          <p:cNvSpPr txBox="1"/>
          <p:nvPr/>
        </p:nvSpPr>
        <p:spPr>
          <a:xfrm>
            <a:off x="7428586" y="668426"/>
            <a:ext cx="4309567" cy="143561"/>
          </a:xfrm>
          <a:prstGeom prst="rect">
            <a:avLst/>
          </a:prstGeom>
          <a:noFill/>
          <a:ln/>
        </p:spPr>
        <p:txBody>
          <a:bodyPr wrap="square" lIns="0" tIns="0" rIns="0" bIns="0" rtlCol="0" anchor="ctr"/>
          <a:lstStyle/>
          <a:p>
            <a:pPr marL="0" indent="0" algn="l">
              <a:buNone/>
            </a:pPr>
            <a:r>
              <a:rPr lang="en-US" sz="800" dirty="0">
                <a:solidFill>
                  <a:srgbClr val="94A3B8"/>
                </a:solidFill>
                <a:latin typeface="Courier New" pitchFamily="34" charset="0"/>
                <a:ea typeface="Courier New" pitchFamily="34" charset="-122"/>
                <a:cs typeface="Courier New" pitchFamily="34" charset="-120"/>
              </a:rPr>
              <a:t>SELECT src_ip_country_code, COUNT(*) FROM traffic_logs GROUP BY...</a:t>
            </a:r>
            <a:endParaRPr lang="en-US" sz="800" dirty="0"/>
          </a:p>
        </p:txBody>
      </p:sp>
      <p:sp>
        <p:nvSpPr>
          <p:cNvPr id="16" name="Shape 12"/>
          <p:cNvSpPr/>
          <p:nvPr/>
        </p:nvSpPr>
        <p:spPr>
          <a:xfrm>
            <a:off x="457200" y="1266444"/>
            <a:ext cx="8287207" cy="4895698"/>
          </a:xfrm>
          <a:prstGeom prst="roundRect">
            <a:avLst>
              <a:gd name="adj" fmla="val 436"/>
            </a:avLst>
          </a:prstGeom>
          <a:solidFill>
            <a:srgbClr val="1E293B">
              <a:alpha val="40000"/>
            </a:srgbClr>
          </a:solidFill>
          <a:ln w="12700">
            <a:solidFill>
              <a:srgbClr val="38BDF8">
                <a:alpha val="20000"/>
              </a:srgbClr>
            </a:solidFill>
            <a:prstDash val="solid"/>
          </a:ln>
        </p:spPr>
      </p:sp>
      <p:sp>
        <p:nvSpPr>
          <p:cNvPr id="17" name="Shape 13"/>
          <p:cNvSpPr/>
          <p:nvPr/>
        </p:nvSpPr>
        <p:spPr>
          <a:xfrm>
            <a:off x="7361834" y="1524305"/>
            <a:ext cx="114300" cy="114300"/>
          </a:xfrm>
          <a:prstGeom prst="roundRect">
            <a:avLst>
              <a:gd name="adj" fmla="val 266667"/>
            </a:avLst>
          </a:prstGeom>
          <a:solidFill>
            <a:srgbClr val="3B82F6"/>
          </a:solidFill>
          <a:ln/>
        </p:spPr>
      </p:sp>
      <p:sp>
        <p:nvSpPr>
          <p:cNvPr id="18" name="Shape 14"/>
          <p:cNvSpPr/>
          <p:nvPr/>
        </p:nvSpPr>
        <p:spPr>
          <a:xfrm>
            <a:off x="8973007" y="3812134"/>
            <a:ext cx="2762402" cy="952805"/>
          </a:xfrm>
          <a:prstGeom prst="roundRect">
            <a:avLst>
              <a:gd name="adj" fmla="val 11516"/>
            </a:avLst>
          </a:prstGeom>
          <a:solidFill>
            <a:srgbClr val="1E293B">
              <a:alpha val="40000"/>
            </a:srgbClr>
          </a:solidFill>
          <a:ln w="12700">
            <a:solidFill>
              <a:srgbClr val="38BDF8">
                <a:alpha val="20000"/>
              </a:srgbClr>
            </a:solidFill>
            <a:prstDash val="solid"/>
          </a:ln>
        </p:spPr>
      </p:sp>
      <p:sp>
        <p:nvSpPr>
          <p:cNvPr id="19" name="Shape 15"/>
          <p:cNvSpPr/>
          <p:nvPr/>
        </p:nvSpPr>
        <p:spPr>
          <a:xfrm>
            <a:off x="9134856" y="4545482"/>
            <a:ext cx="2438705" cy="57607"/>
          </a:xfrm>
          <a:prstGeom prst="roundRect">
            <a:avLst>
              <a:gd name="adj" fmla="val 1587307"/>
            </a:avLst>
          </a:prstGeom>
          <a:solidFill>
            <a:srgbClr val="374151"/>
          </a:solidFill>
          <a:ln/>
        </p:spPr>
      </p:sp>
      <p:sp>
        <p:nvSpPr>
          <p:cNvPr id="20" name="Shape 16"/>
          <p:cNvSpPr/>
          <p:nvPr/>
        </p:nvSpPr>
        <p:spPr>
          <a:xfrm>
            <a:off x="9134856" y="4545482"/>
            <a:ext cx="1028700" cy="57607"/>
          </a:xfrm>
          <a:prstGeom prst="rect">
            <a:avLst/>
          </a:prstGeom>
          <a:solidFill>
            <a:srgbClr val="3B82F6"/>
          </a:solidFill>
          <a:ln/>
        </p:spPr>
      </p:sp>
      <p:sp>
        <p:nvSpPr>
          <p:cNvPr id="21" name="Shape 17"/>
          <p:cNvSpPr/>
          <p:nvPr/>
        </p:nvSpPr>
        <p:spPr>
          <a:xfrm>
            <a:off x="8973007" y="4917643"/>
            <a:ext cx="2762402" cy="1009498"/>
          </a:xfrm>
          <a:prstGeom prst="roundRect">
            <a:avLst>
              <a:gd name="adj" fmla="val 10254"/>
            </a:avLst>
          </a:prstGeom>
          <a:solidFill>
            <a:srgbClr val="1E293B">
              <a:alpha val="40000"/>
            </a:srgbClr>
          </a:solidFill>
          <a:ln w="12700">
            <a:solidFill>
              <a:srgbClr val="38BDF8">
                <a:alpha val="20000"/>
              </a:srgbClr>
            </a:solidFill>
            <a:prstDash val="solid"/>
          </a:ln>
        </p:spPr>
      </p:sp>
      <p:sp>
        <p:nvSpPr>
          <p:cNvPr id="22" name="Text 18"/>
          <p:cNvSpPr txBox="1"/>
          <p:nvPr/>
        </p:nvSpPr>
        <p:spPr>
          <a:xfrm>
            <a:off x="694944" y="1524305"/>
            <a:ext cx="3424428" cy="219456"/>
          </a:xfrm>
          <a:prstGeom prst="rect">
            <a:avLst/>
          </a:prstGeom>
          <a:noFill/>
          <a:ln/>
        </p:spPr>
        <p:txBody>
          <a:bodyPr wrap="square" lIns="0" tIns="0" rIns="0" bIns="0" rtlCol="0" anchor="ctr"/>
          <a:lstStyle/>
          <a:p>
            <a:pPr marL="0" indent="0" algn="l">
              <a:buNone/>
            </a:pPr>
            <a:r>
              <a:rPr lang="en-US" sz="1300" b="1" dirty="0">
                <a:solidFill>
                  <a:srgbClr val="FFFFFF"/>
                </a:solidFill>
                <a:latin typeface="Space Grotesk" pitchFamily="34" charset="0"/>
                <a:ea typeface="Space Grotesk" pitchFamily="34" charset="-122"/>
                <a:cs typeface="Space Grotesk" pitchFamily="34" charset="-120"/>
              </a:rPr>
              <a:t>Suspicious Interaction Counts by Origin</a:t>
            </a:r>
            <a:endParaRPr lang="en-US" sz="1300" dirty="0"/>
          </a:p>
        </p:txBody>
      </p:sp>
      <p:sp>
        <p:nvSpPr>
          <p:cNvPr id="23" name="Text 19"/>
          <p:cNvSpPr txBox="1"/>
          <p:nvPr/>
        </p:nvSpPr>
        <p:spPr>
          <a:xfrm>
            <a:off x="7552944" y="1505102"/>
            <a:ext cx="1047902" cy="143561"/>
          </a:xfrm>
          <a:prstGeom prst="rect">
            <a:avLst/>
          </a:prstGeom>
          <a:noFill/>
          <a:ln/>
        </p:spPr>
        <p:txBody>
          <a:bodyPr wrap="square" lIns="0" tIns="0" rIns="0" bIns="0" rtlCol="0" anchor="ctr"/>
          <a:lstStyle/>
          <a:p>
            <a:pPr marL="0" indent="0" algn="l">
              <a:buNone/>
            </a:pPr>
            <a:r>
              <a:rPr lang="en-US" sz="900" dirty="0">
                <a:solidFill>
                  <a:srgbClr val="D1D5DB"/>
                </a:solidFill>
                <a:latin typeface="Inter" pitchFamily="34" charset="0"/>
                <a:ea typeface="Inter" pitchFamily="34" charset="-122"/>
                <a:cs typeface="Inter" pitchFamily="34" charset="-120"/>
              </a:rPr>
              <a:t>Flagged Sessions</a:t>
            </a:r>
            <a:endParaRPr lang="en-US" sz="900" dirty="0"/>
          </a:p>
        </p:txBody>
      </p:sp>
      <p:sp>
        <p:nvSpPr>
          <p:cNvPr id="24" name="Text 20"/>
          <p:cNvSpPr txBox="1"/>
          <p:nvPr/>
        </p:nvSpPr>
        <p:spPr>
          <a:xfrm>
            <a:off x="9134856" y="3973982"/>
            <a:ext cx="1095451" cy="143561"/>
          </a:xfrm>
          <a:prstGeom prst="rect">
            <a:avLst/>
          </a:prstGeom>
          <a:noFill/>
          <a:ln/>
        </p:spPr>
        <p:txBody>
          <a:bodyPr wrap="square" lIns="0" tIns="0" rIns="0" bIns="0" rtlCol="0" anchor="ctr"/>
          <a:lstStyle/>
          <a:p>
            <a:pPr marL="0" indent="0" algn="l">
              <a:buNone/>
            </a:pPr>
            <a:r>
              <a:rPr lang="en-US" sz="900" b="1" dirty="0">
                <a:solidFill>
                  <a:srgbClr val="9CA3AF"/>
                </a:solidFill>
                <a:latin typeface="Inter" pitchFamily="34" charset="0"/>
                <a:ea typeface="Inter" pitchFamily="34" charset="-122"/>
                <a:cs typeface="Inter" pitchFamily="34" charset="-120"/>
              </a:rPr>
              <a:t>TOP SOURCE (US)</a:t>
            </a:r>
            <a:endParaRPr lang="en-US" sz="900" dirty="0"/>
          </a:p>
        </p:txBody>
      </p:sp>
      <p:sp>
        <p:nvSpPr>
          <p:cNvPr id="25" name="Text 21"/>
          <p:cNvSpPr txBox="1"/>
          <p:nvPr/>
        </p:nvSpPr>
        <p:spPr>
          <a:xfrm>
            <a:off x="9134856" y="4165092"/>
            <a:ext cx="590702" cy="305410"/>
          </a:xfrm>
          <a:prstGeom prst="rect">
            <a:avLst/>
          </a:prstGeom>
          <a:noFill/>
          <a:ln/>
        </p:spPr>
        <p:txBody>
          <a:bodyPr wrap="square" lIns="0" tIns="0" rIns="0" bIns="0" rtlCol="0" anchor="ctr"/>
          <a:lstStyle/>
          <a:p>
            <a:pPr marL="0" indent="0" algn="l">
              <a:buNone/>
            </a:pPr>
            <a:r>
              <a:rPr lang="en-US" sz="1800" b="1" dirty="0">
                <a:solidFill>
                  <a:srgbClr val="FFFFFF"/>
                </a:solidFill>
                <a:latin typeface="Courier New" pitchFamily="34" charset="0"/>
                <a:ea typeface="Courier New" pitchFamily="34" charset="-122"/>
                <a:cs typeface="Courier New" pitchFamily="34" charset="-120"/>
              </a:rPr>
              <a:t>42%</a:t>
            </a:r>
            <a:endParaRPr lang="en-US" sz="1800" dirty="0"/>
          </a:p>
        </p:txBody>
      </p:sp>
      <p:sp>
        <p:nvSpPr>
          <p:cNvPr id="26" name="Text 22"/>
          <p:cNvSpPr txBox="1"/>
          <p:nvPr/>
        </p:nvSpPr>
        <p:spPr>
          <a:xfrm>
            <a:off x="9546336" y="4260190"/>
            <a:ext cx="1224382" cy="181051"/>
          </a:xfrm>
          <a:prstGeom prst="rect">
            <a:avLst/>
          </a:prstGeom>
          <a:noFill/>
          <a:ln/>
        </p:spPr>
        <p:txBody>
          <a:bodyPr wrap="square" lIns="0" tIns="0" rIns="0" bIns="0" rtlCol="0" anchor="ctr"/>
          <a:lstStyle/>
          <a:p>
            <a:pPr marL="0" indent="0" algn="l">
              <a:buNone/>
            </a:pPr>
            <a:r>
              <a:rPr lang="en-US" sz="1000" dirty="0">
                <a:solidFill>
                  <a:srgbClr val="6B7280"/>
                </a:solidFill>
                <a:latin typeface="Courier New" pitchFamily="34" charset="0"/>
                <a:ea typeface="Courier New" pitchFamily="34" charset="-122"/>
                <a:cs typeface="Courier New" pitchFamily="34" charset="-120"/>
              </a:rPr>
              <a:t>of all traffic</a:t>
            </a:r>
            <a:endParaRPr lang="en-US" sz="1000" dirty="0"/>
          </a:p>
        </p:txBody>
      </p:sp>
      <p:sp>
        <p:nvSpPr>
          <p:cNvPr id="27" name="Text 23"/>
          <p:cNvSpPr txBox="1"/>
          <p:nvPr/>
        </p:nvSpPr>
        <p:spPr>
          <a:xfrm>
            <a:off x="9134856" y="5079492"/>
            <a:ext cx="1124712" cy="143561"/>
          </a:xfrm>
          <a:prstGeom prst="rect">
            <a:avLst/>
          </a:prstGeom>
          <a:noFill/>
          <a:ln/>
        </p:spPr>
        <p:txBody>
          <a:bodyPr wrap="square" lIns="0" tIns="0" rIns="0" bIns="0" rtlCol="0" anchor="ctr"/>
          <a:lstStyle/>
          <a:p>
            <a:pPr marL="0" indent="0" algn="l">
              <a:buNone/>
            </a:pPr>
            <a:r>
              <a:rPr lang="en-US" sz="900" b="1" dirty="0">
                <a:solidFill>
                  <a:srgbClr val="9CA3AF"/>
                </a:solidFill>
                <a:latin typeface="Inter" pitchFamily="34" charset="0"/>
                <a:ea typeface="Inter" pitchFamily="34" charset="-122"/>
                <a:cs typeface="Inter" pitchFamily="34" charset="-120"/>
              </a:rPr>
              <a:t>TOP 3 COUNTRIES</a:t>
            </a:r>
            <a:endParaRPr lang="en-US" sz="900" dirty="0"/>
          </a:p>
        </p:txBody>
      </p:sp>
      <p:sp>
        <p:nvSpPr>
          <p:cNvPr id="28" name="Text 24"/>
          <p:cNvSpPr txBox="1"/>
          <p:nvPr/>
        </p:nvSpPr>
        <p:spPr>
          <a:xfrm>
            <a:off x="9134856" y="5269687"/>
            <a:ext cx="590702" cy="305410"/>
          </a:xfrm>
          <a:prstGeom prst="rect">
            <a:avLst/>
          </a:prstGeom>
          <a:noFill/>
          <a:ln/>
        </p:spPr>
        <p:txBody>
          <a:bodyPr wrap="square" lIns="0" tIns="0" rIns="0" bIns="0" rtlCol="0" anchor="ctr"/>
          <a:lstStyle/>
          <a:p>
            <a:pPr marL="0" indent="0" algn="l">
              <a:buNone/>
            </a:pPr>
            <a:r>
              <a:rPr lang="en-US" sz="1800" b="1" dirty="0">
                <a:solidFill>
                  <a:srgbClr val="FFFFFF"/>
                </a:solidFill>
                <a:latin typeface="Courier New" pitchFamily="34" charset="0"/>
                <a:ea typeface="Courier New" pitchFamily="34" charset="-122"/>
                <a:cs typeface="Courier New" pitchFamily="34" charset="-120"/>
              </a:rPr>
              <a:t>68%</a:t>
            </a:r>
            <a:endParaRPr lang="en-US" sz="1800" dirty="0"/>
          </a:p>
        </p:txBody>
      </p:sp>
      <p:sp>
        <p:nvSpPr>
          <p:cNvPr id="29" name="Text 25"/>
          <p:cNvSpPr txBox="1"/>
          <p:nvPr/>
        </p:nvSpPr>
        <p:spPr>
          <a:xfrm>
            <a:off x="9546336" y="5364785"/>
            <a:ext cx="747979" cy="181051"/>
          </a:xfrm>
          <a:prstGeom prst="rect">
            <a:avLst/>
          </a:prstGeom>
          <a:noFill/>
          <a:ln/>
        </p:spPr>
        <p:txBody>
          <a:bodyPr wrap="square" lIns="0" tIns="0" rIns="0" bIns="0" rtlCol="0" anchor="ctr"/>
          <a:lstStyle/>
          <a:p>
            <a:pPr marL="0" indent="0" algn="l">
              <a:buNone/>
            </a:pPr>
            <a:r>
              <a:rPr lang="en-US" sz="1000" dirty="0">
                <a:solidFill>
                  <a:srgbClr val="6B7280"/>
                </a:solidFill>
                <a:latin typeface="Courier New" pitchFamily="34" charset="0"/>
                <a:ea typeface="Courier New" pitchFamily="34" charset="-122"/>
                <a:cs typeface="Courier New" pitchFamily="34" charset="-120"/>
              </a:rPr>
              <a:t>Combined</a:t>
            </a:r>
            <a:endParaRPr lang="en-US" sz="1000" dirty="0"/>
          </a:p>
        </p:txBody>
      </p:sp>
      <p:pic>
        <p:nvPicPr>
          <p:cNvPr id="30" name="Image 2" descr="preencoded.png"/>
          <p:cNvPicPr>
            <a:picLocks noChangeAspect="1"/>
          </p:cNvPicPr>
          <p:nvPr/>
        </p:nvPicPr>
        <p:blipFill>
          <a:blip r:embed="rId5"/>
          <a:srcRect/>
          <a:stretch/>
        </p:blipFill>
        <p:spPr>
          <a:xfrm>
            <a:off x="9134856" y="5627218"/>
            <a:ext cx="114300" cy="114300"/>
          </a:xfrm>
          <a:prstGeom prst="rect">
            <a:avLst/>
          </a:prstGeom>
        </p:spPr>
      </p:pic>
      <p:sp>
        <p:nvSpPr>
          <p:cNvPr id="31" name="Text 26"/>
          <p:cNvSpPr txBox="1"/>
          <p:nvPr/>
        </p:nvSpPr>
        <p:spPr>
          <a:xfrm>
            <a:off x="9249156" y="5612587"/>
            <a:ext cx="1133856" cy="143561"/>
          </a:xfrm>
          <a:prstGeom prst="rect">
            <a:avLst/>
          </a:prstGeom>
          <a:noFill/>
          <a:ln/>
        </p:spPr>
        <p:txBody>
          <a:bodyPr wrap="square" lIns="0" tIns="0" rIns="0" bIns="0" rtlCol="0" anchor="ctr"/>
          <a:lstStyle/>
          <a:p>
            <a:pPr marL="0" indent="0" algn="l">
              <a:buNone/>
            </a:pPr>
            <a:r>
              <a:rPr lang="en-US" sz="900" dirty="0">
                <a:solidFill>
                  <a:srgbClr val="F472B6"/>
                </a:solidFill>
                <a:latin typeface="Inter" pitchFamily="34" charset="0"/>
                <a:ea typeface="Inter" pitchFamily="34" charset="-122"/>
                <a:cs typeface="Inter" pitchFamily="34" charset="-120"/>
              </a:rPr>
              <a:t>High Concentration</a:t>
            </a:r>
            <a:endParaRPr lang="en-US" sz="900" dirty="0"/>
          </a:p>
        </p:txBody>
      </p:sp>
      <p:pic>
        <p:nvPicPr>
          <p:cNvPr id="32" name="Image 3" descr="preencoded.png"/>
          <p:cNvPicPr>
            <a:picLocks noChangeAspect="1"/>
          </p:cNvPicPr>
          <p:nvPr/>
        </p:nvPicPr>
        <p:blipFill>
          <a:blip r:embed="rId6"/>
          <a:srcRect l="-6" r="-6"/>
          <a:stretch/>
        </p:blipFill>
        <p:spPr>
          <a:xfrm>
            <a:off x="694944" y="1848002"/>
            <a:ext cx="7810805" cy="4076395"/>
          </a:xfrm>
          <a:prstGeom prst="rect">
            <a:avLst/>
          </a:prstGeom>
        </p:spPr>
      </p:pic>
      <p:sp>
        <p:nvSpPr>
          <p:cNvPr id="33" name="Shape 27"/>
          <p:cNvSpPr/>
          <p:nvPr/>
        </p:nvSpPr>
        <p:spPr>
          <a:xfrm>
            <a:off x="8973007" y="1266444"/>
            <a:ext cx="2762402" cy="2400300"/>
          </a:xfrm>
          <a:prstGeom prst="rect">
            <a:avLst/>
          </a:prstGeom>
          <a:solidFill>
            <a:srgbClr val="0F172A">
              <a:alpha val="80000"/>
            </a:srgbClr>
          </a:solidFill>
          <a:ln/>
          <a:effectLst>
            <a:outerShdw blurRad="190500" dist="38100" dir="5400000" algn="bl" rotWithShape="0">
              <a:srgbClr val="000000">
                <a:alpha val="30000"/>
              </a:srgbClr>
            </a:outerShdw>
          </a:effectLst>
        </p:spPr>
      </p:sp>
      <p:sp>
        <p:nvSpPr>
          <p:cNvPr id="34" name="Shape 28"/>
          <p:cNvSpPr/>
          <p:nvPr/>
        </p:nvSpPr>
        <p:spPr>
          <a:xfrm>
            <a:off x="8973007" y="1266444"/>
            <a:ext cx="38405" cy="2400300"/>
          </a:xfrm>
          <a:prstGeom prst="rect">
            <a:avLst/>
          </a:prstGeom>
          <a:solidFill>
            <a:srgbClr val="F472B6"/>
          </a:solidFill>
          <a:ln/>
        </p:spPr>
      </p:sp>
      <p:sp>
        <p:nvSpPr>
          <p:cNvPr id="35" name="Shape 29"/>
          <p:cNvSpPr/>
          <p:nvPr/>
        </p:nvSpPr>
        <p:spPr>
          <a:xfrm>
            <a:off x="9163202" y="1152144"/>
            <a:ext cx="1028700" cy="228600"/>
          </a:xfrm>
          <a:prstGeom prst="roundRect">
            <a:avLst>
              <a:gd name="adj" fmla="val 400000"/>
            </a:avLst>
          </a:prstGeom>
          <a:solidFill>
            <a:srgbClr val="DB2777"/>
          </a:solidFill>
          <a:ln/>
        </p:spPr>
      </p:sp>
      <p:sp>
        <p:nvSpPr>
          <p:cNvPr id="36" name="Text 30"/>
          <p:cNvSpPr txBox="1"/>
          <p:nvPr/>
        </p:nvSpPr>
        <p:spPr>
          <a:xfrm>
            <a:off x="9277502" y="1190549"/>
            <a:ext cx="886054" cy="143561"/>
          </a:xfrm>
          <a:prstGeom prst="rect">
            <a:avLst/>
          </a:prstGeom>
          <a:noFill/>
          <a:ln/>
        </p:spPr>
        <p:txBody>
          <a:bodyPr wrap="square" lIns="0" tIns="0" rIns="0" bIns="0" rtlCol="0" anchor="ctr"/>
          <a:lstStyle/>
          <a:p>
            <a:pPr marL="0" indent="0" algn="l">
              <a:buNone/>
            </a:pPr>
            <a:r>
              <a:rPr lang="en-US" sz="900" b="1" dirty="0">
                <a:solidFill>
                  <a:srgbClr val="FFFFFF"/>
                </a:solidFill>
                <a:latin typeface="Inter" pitchFamily="34" charset="0"/>
                <a:ea typeface="Inter" pitchFamily="34" charset="-122"/>
                <a:cs typeface="Inter" pitchFamily="34" charset="-120"/>
              </a:rPr>
              <a:t>KEY INSIGHT</a:t>
            </a:r>
            <a:endParaRPr lang="en-US" sz="900" dirty="0"/>
          </a:p>
        </p:txBody>
      </p:sp>
      <p:pic>
        <p:nvPicPr>
          <p:cNvPr id="37" name="Image 4" descr="preencoded.png"/>
          <p:cNvPicPr>
            <a:picLocks noChangeAspect="1"/>
          </p:cNvPicPr>
          <p:nvPr/>
        </p:nvPicPr>
        <p:blipFill>
          <a:blip r:embed="rId7"/>
          <a:srcRect/>
          <a:stretch/>
        </p:blipFill>
        <p:spPr>
          <a:xfrm>
            <a:off x="9201607" y="1533449"/>
            <a:ext cx="228600" cy="228600"/>
          </a:xfrm>
          <a:prstGeom prst="rect">
            <a:avLst/>
          </a:prstGeom>
        </p:spPr>
      </p:pic>
      <p:sp>
        <p:nvSpPr>
          <p:cNvPr id="38" name="Text 31"/>
          <p:cNvSpPr txBox="1"/>
          <p:nvPr/>
        </p:nvSpPr>
        <p:spPr>
          <a:xfrm>
            <a:off x="9201607" y="1886407"/>
            <a:ext cx="1500530" cy="219456"/>
          </a:xfrm>
          <a:prstGeom prst="rect">
            <a:avLst/>
          </a:prstGeom>
          <a:noFill/>
          <a:ln/>
        </p:spPr>
        <p:txBody>
          <a:bodyPr wrap="square" lIns="0" tIns="0" rIns="0" bIns="0" rtlCol="0" anchor="ctr"/>
          <a:lstStyle/>
          <a:p>
            <a:pPr marL="0" indent="0" algn="l">
              <a:buNone/>
            </a:pPr>
            <a:r>
              <a:rPr lang="en-US" sz="1300" b="1" dirty="0">
                <a:solidFill>
                  <a:srgbClr val="FFFFFF"/>
                </a:solidFill>
                <a:latin typeface="Space Grotesk" pitchFamily="34" charset="0"/>
                <a:ea typeface="Space Grotesk" pitchFamily="34" charset="-122"/>
                <a:cs typeface="Space Grotesk" pitchFamily="34" charset="-120"/>
              </a:rPr>
              <a:t>Targeted Origins</a:t>
            </a:r>
            <a:endParaRPr lang="en-US" sz="1300" dirty="0"/>
          </a:p>
        </p:txBody>
      </p:sp>
      <p:sp>
        <p:nvSpPr>
          <p:cNvPr id="39" name="Text 32"/>
          <p:cNvSpPr txBox="1"/>
          <p:nvPr/>
        </p:nvSpPr>
        <p:spPr>
          <a:xfrm>
            <a:off x="9201607" y="2229307"/>
            <a:ext cx="2424989" cy="600761"/>
          </a:xfrm>
          <a:prstGeom prst="rect">
            <a:avLst/>
          </a:prstGeom>
          <a:noFill/>
          <a:ln/>
        </p:spPr>
        <p:txBody>
          <a:bodyPr wrap="square" lIns="0" tIns="0" rIns="0" bIns="0" rtlCol="0" anchor="ctr"/>
          <a:lstStyle/>
          <a:p>
            <a:pPr marL="0" indent="0" algn="l">
              <a:buNone/>
            </a:pPr>
            <a:r>
              <a:rPr lang="en-US" sz="1000" dirty="0">
                <a:solidFill>
                  <a:srgbClr val="D1D5DB"/>
                </a:solidFill>
                <a:latin typeface="Inter" pitchFamily="34" charset="0"/>
                <a:ea typeface="Inter" pitchFamily="34" charset="-122"/>
                <a:cs typeface="Inter" pitchFamily="34" charset="-120"/>
              </a:rPr>
              <a:t>A small number of countries account for a disproportionately large share of flagged interactions.</a:t>
            </a:r>
            <a:endParaRPr lang="en-US" sz="1000" dirty="0"/>
          </a:p>
        </p:txBody>
      </p:sp>
      <p:sp>
        <p:nvSpPr>
          <p:cNvPr id="40" name="Shape 33"/>
          <p:cNvSpPr/>
          <p:nvPr/>
        </p:nvSpPr>
        <p:spPr>
          <a:xfrm>
            <a:off x="9201607" y="2974543"/>
            <a:ext cx="2343607" cy="9144"/>
          </a:xfrm>
          <a:prstGeom prst="rect">
            <a:avLst/>
          </a:prstGeom>
          <a:solidFill>
            <a:srgbClr val="374151"/>
          </a:solidFill>
          <a:ln/>
        </p:spPr>
      </p:sp>
      <p:pic>
        <p:nvPicPr>
          <p:cNvPr id="41" name="Image 5" descr="preencoded.png"/>
          <p:cNvPicPr>
            <a:picLocks noChangeAspect="1"/>
          </p:cNvPicPr>
          <p:nvPr/>
        </p:nvPicPr>
        <p:blipFill>
          <a:blip r:embed="rId8"/>
          <a:srcRect l="-2571" r="-2571"/>
          <a:stretch/>
        </p:blipFill>
        <p:spPr>
          <a:xfrm>
            <a:off x="9201607" y="3130906"/>
            <a:ext cx="105156" cy="114300"/>
          </a:xfrm>
          <a:prstGeom prst="rect">
            <a:avLst/>
          </a:prstGeom>
        </p:spPr>
      </p:pic>
      <p:sp>
        <p:nvSpPr>
          <p:cNvPr id="42" name="Text 34"/>
          <p:cNvSpPr txBox="1"/>
          <p:nvPr/>
        </p:nvSpPr>
        <p:spPr>
          <a:xfrm>
            <a:off x="9201607" y="3117190"/>
            <a:ext cx="2371954" cy="333756"/>
          </a:xfrm>
          <a:prstGeom prst="rect">
            <a:avLst/>
          </a:prstGeom>
          <a:noFill/>
          <a:ln/>
        </p:spPr>
        <p:txBody>
          <a:bodyPr wrap="square" lIns="0" tIns="0" rIns="0" bIns="0" rtlCol="0" anchor="ctr"/>
          <a:lstStyle/>
          <a:p>
            <a:pPr marL="0" indent="0" algn="l">
              <a:buNone/>
            </a:pPr>
            <a:r>
              <a:rPr lang="en-US" sz="900" dirty="0">
                <a:solidFill>
                  <a:srgbClr val="9CA3AF"/>
                </a:solidFill>
                <a:latin typeface="Inter" pitchFamily="34" charset="0"/>
                <a:ea typeface="Inter" pitchFamily="34" charset="-122"/>
                <a:cs typeface="Inter" pitchFamily="34" charset="-120"/>
              </a:rPr>
              <a:t>Suggests automated botnets or coordinated attacks from specific regions.</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120"/>
          </a:solidFill>
          <a:ln/>
        </p:spPr>
      </p:sp>
      <p:sp>
        <p:nvSpPr>
          <p:cNvPr id="3" name="Shape 1"/>
          <p:cNvSpPr/>
          <p:nvPr/>
        </p:nvSpPr>
        <p:spPr>
          <a:xfrm>
            <a:off x="0" y="0"/>
            <a:ext cx="12191695" cy="6858000"/>
          </a:xfrm>
          <a:prstGeom prst="rect">
            <a:avLst/>
          </a:prstGeom>
          <a:solidFill>
            <a:srgbClr val="0B1120"/>
          </a:solidFill>
          <a:ln/>
        </p:spPr>
      </p:sp>
      <p:sp>
        <p:nvSpPr>
          <p:cNvPr id="4" name="Shape 2"/>
          <p:cNvSpPr/>
          <p:nvPr/>
        </p:nvSpPr>
        <p:spPr>
          <a:xfrm>
            <a:off x="8534095" y="3200400"/>
            <a:ext cx="3657600" cy="3657600"/>
          </a:xfrm>
          <a:prstGeom prst="roundRect">
            <a:avLst>
              <a:gd name="adj" fmla="val 25000"/>
            </a:avLst>
          </a:prstGeom>
          <a:solidFill>
            <a:srgbClr val="1E3A8A">
              <a:alpha val="20000"/>
            </a:srgbClr>
          </a:solidFill>
          <a:ln/>
        </p:spPr>
      </p:sp>
      <p:sp>
        <p:nvSpPr>
          <p:cNvPr id="5" name="Shape 3"/>
          <p:cNvSpPr/>
          <p:nvPr/>
        </p:nvSpPr>
        <p:spPr>
          <a:xfrm>
            <a:off x="457200" y="6391656"/>
            <a:ext cx="11277295" cy="9144"/>
          </a:xfrm>
          <a:prstGeom prst="rect">
            <a:avLst/>
          </a:prstGeom>
          <a:solidFill>
            <a:srgbClr val="1F2937"/>
          </a:solidFill>
          <a:ln/>
        </p:spPr>
      </p:sp>
      <p:sp>
        <p:nvSpPr>
          <p:cNvPr id="7" name="Text 5"/>
          <p:cNvSpPr txBox="1"/>
          <p:nvPr/>
        </p:nvSpPr>
        <p:spPr>
          <a:xfrm>
            <a:off x="10728655" y="6486754"/>
            <a:ext cx="638251" cy="133502"/>
          </a:xfrm>
          <a:prstGeom prst="rect">
            <a:avLst/>
          </a:prstGeom>
          <a:noFill/>
          <a:ln/>
        </p:spPr>
        <p:txBody>
          <a:bodyPr wrap="square" lIns="0" tIns="0" rIns="0" bIns="0" rtlCol="0" anchor="ctr"/>
          <a:lstStyle/>
          <a:p>
            <a:pPr marL="0" indent="0" algn="l">
              <a:buNone/>
            </a:pPr>
            <a:r>
              <a:rPr lang="en-US" sz="900" dirty="0">
                <a:solidFill>
                  <a:srgbClr val="4B5563"/>
                </a:solidFill>
                <a:latin typeface="ui-monospace" pitchFamily="34" charset="0"/>
                <a:ea typeface="ui-monospace" pitchFamily="34" charset="-122"/>
                <a:cs typeface="ui-monospace" pitchFamily="34" charset="-120"/>
              </a:rPr>
              <a:t>SLIDE 09</a:t>
            </a:r>
            <a:endParaRPr lang="en-US" sz="900" dirty="0"/>
          </a:p>
        </p:txBody>
      </p:sp>
      <p:sp>
        <p:nvSpPr>
          <p:cNvPr id="8" name="Shape 6"/>
          <p:cNvSpPr/>
          <p:nvPr/>
        </p:nvSpPr>
        <p:spPr>
          <a:xfrm>
            <a:off x="0" y="1028700"/>
            <a:ext cx="12191695" cy="9144"/>
          </a:xfrm>
          <a:prstGeom prst="rect">
            <a:avLst/>
          </a:prstGeom>
          <a:solidFill>
            <a:srgbClr val="1F2937"/>
          </a:solidFill>
          <a:ln/>
        </p:spPr>
      </p:sp>
      <p:pic>
        <p:nvPicPr>
          <p:cNvPr id="9" name="Image 0" descr="preencoded.png"/>
          <p:cNvPicPr>
            <a:picLocks noChangeAspect="1"/>
          </p:cNvPicPr>
          <p:nvPr/>
        </p:nvPicPr>
        <p:blipFill>
          <a:blip r:embed="rId3"/>
          <a:srcRect l="-1507" r="-1507"/>
          <a:stretch/>
        </p:blipFill>
        <p:spPr>
          <a:xfrm>
            <a:off x="457200" y="314554"/>
            <a:ext cx="171907" cy="133502"/>
          </a:xfrm>
          <a:prstGeom prst="rect">
            <a:avLst/>
          </a:prstGeom>
        </p:spPr>
      </p:pic>
      <p:sp>
        <p:nvSpPr>
          <p:cNvPr id="10" name="Shape 7"/>
          <p:cNvSpPr/>
          <p:nvPr/>
        </p:nvSpPr>
        <p:spPr>
          <a:xfrm>
            <a:off x="7849210" y="620878"/>
            <a:ext cx="3886200" cy="256946"/>
          </a:xfrm>
          <a:prstGeom prst="roundRect">
            <a:avLst>
              <a:gd name="adj" fmla="val 52722"/>
            </a:avLst>
          </a:prstGeom>
          <a:solidFill>
            <a:srgbClr val="1E293B">
              <a:alpha val="80000"/>
            </a:srgbClr>
          </a:solidFill>
          <a:ln w="12700">
            <a:solidFill>
              <a:srgbClr val="475569"/>
            </a:solidFill>
            <a:prstDash val="solid"/>
          </a:ln>
        </p:spPr>
      </p:sp>
      <p:sp>
        <p:nvSpPr>
          <p:cNvPr id="11" name="Text 8"/>
          <p:cNvSpPr txBox="1"/>
          <p:nvPr/>
        </p:nvSpPr>
        <p:spPr>
          <a:xfrm>
            <a:off x="705002" y="304495"/>
            <a:ext cx="2153412" cy="143561"/>
          </a:xfrm>
          <a:prstGeom prst="rect">
            <a:avLst/>
          </a:prstGeom>
          <a:noFill/>
          <a:ln/>
        </p:spPr>
        <p:txBody>
          <a:bodyPr wrap="square" lIns="0" tIns="0" rIns="0" bIns="0" rtlCol="0" anchor="ctr"/>
          <a:lstStyle/>
          <a:p>
            <a:pPr marL="0" indent="0" algn="l">
              <a:buNone/>
            </a:pPr>
            <a:r>
              <a:rPr lang="en-US" sz="900" b="1" dirty="0">
                <a:solidFill>
                  <a:srgbClr val="F472B6"/>
                </a:solidFill>
                <a:latin typeface="Inter" pitchFamily="34" charset="0"/>
                <a:ea typeface="Inter" pitchFamily="34" charset="-122"/>
                <a:cs typeface="Inter" pitchFamily="34" charset="-120"/>
              </a:rPr>
              <a:t>EXPLORATORY DATA ANALYSIS</a:t>
            </a:r>
            <a:endParaRPr lang="en-US" sz="900" dirty="0"/>
          </a:p>
        </p:txBody>
      </p:sp>
      <p:sp>
        <p:nvSpPr>
          <p:cNvPr id="12" name="Text 9"/>
          <p:cNvSpPr txBox="1"/>
          <p:nvPr/>
        </p:nvSpPr>
        <p:spPr>
          <a:xfrm>
            <a:off x="457200" y="466344"/>
            <a:ext cx="3534156" cy="438912"/>
          </a:xfrm>
          <a:prstGeom prst="rect">
            <a:avLst/>
          </a:prstGeom>
          <a:noFill/>
          <a:ln/>
        </p:spPr>
        <p:txBody>
          <a:bodyPr wrap="square" lIns="0" tIns="0" rIns="0" bIns="0" rtlCol="0" anchor="ctr"/>
          <a:lstStyle/>
          <a:p>
            <a:pPr marL="0" indent="0" algn="l">
              <a:buNone/>
            </a:pPr>
            <a:r>
              <a:rPr lang="en-US" sz="2700" b="1" dirty="0">
                <a:solidFill>
                  <a:srgbClr val="FFFFFF"/>
                </a:solidFill>
                <a:latin typeface="Space Grotesk" pitchFamily="34" charset="0"/>
                <a:ea typeface="Space Grotesk" pitchFamily="34" charset="-122"/>
                <a:cs typeface="Space Grotesk" pitchFamily="34" charset="-120"/>
              </a:rPr>
              <a:t>Port Usage Analysis</a:t>
            </a:r>
            <a:endParaRPr lang="en-US" sz="2700" dirty="0"/>
          </a:p>
        </p:txBody>
      </p:sp>
      <p:pic>
        <p:nvPicPr>
          <p:cNvPr id="13" name="Image 1" descr="preencoded.png"/>
          <p:cNvPicPr>
            <a:picLocks noChangeAspect="1"/>
          </p:cNvPicPr>
          <p:nvPr/>
        </p:nvPicPr>
        <p:blipFill>
          <a:blip r:embed="rId4"/>
          <a:srcRect l="-1677" r="-1677"/>
          <a:stretch/>
        </p:blipFill>
        <p:spPr>
          <a:xfrm>
            <a:off x="7934249" y="691286"/>
            <a:ext cx="95098" cy="105156"/>
          </a:xfrm>
          <a:prstGeom prst="rect">
            <a:avLst/>
          </a:prstGeom>
        </p:spPr>
      </p:pic>
      <p:sp>
        <p:nvSpPr>
          <p:cNvPr id="14" name="Text 10"/>
          <p:cNvSpPr txBox="1"/>
          <p:nvPr/>
        </p:nvSpPr>
        <p:spPr>
          <a:xfrm>
            <a:off x="8067751" y="668426"/>
            <a:ext cx="3662172" cy="143561"/>
          </a:xfrm>
          <a:prstGeom prst="rect">
            <a:avLst/>
          </a:prstGeom>
          <a:noFill/>
          <a:ln/>
        </p:spPr>
        <p:txBody>
          <a:bodyPr wrap="square" lIns="0" tIns="0" rIns="0" bIns="0" rtlCol="0" anchor="ctr"/>
          <a:lstStyle/>
          <a:p>
            <a:pPr marL="0" indent="0" algn="l">
              <a:buNone/>
            </a:pPr>
            <a:r>
              <a:rPr lang="en-US" sz="800" dirty="0">
                <a:solidFill>
                  <a:srgbClr val="94A3B8"/>
                </a:solidFill>
                <a:latin typeface="Courier New" pitchFamily="34" charset="0"/>
                <a:ea typeface="Courier New" pitchFamily="34" charset="-122"/>
                <a:cs typeface="Courier New" pitchFamily="34" charset="-120"/>
              </a:rPr>
              <a:t>SELECT dst_port, COUNT(*) FROM logs GROUP BY dst_port...</a:t>
            </a:r>
            <a:endParaRPr lang="en-US" sz="800" dirty="0"/>
          </a:p>
        </p:txBody>
      </p:sp>
      <p:sp>
        <p:nvSpPr>
          <p:cNvPr id="15" name="Shape 11"/>
          <p:cNvSpPr/>
          <p:nvPr/>
        </p:nvSpPr>
        <p:spPr>
          <a:xfrm>
            <a:off x="457200" y="1190549"/>
            <a:ext cx="4209898" cy="5124298"/>
          </a:xfrm>
          <a:prstGeom prst="roundRect">
            <a:avLst>
              <a:gd name="adj" fmla="val 590"/>
            </a:avLst>
          </a:prstGeom>
          <a:solidFill>
            <a:srgbClr val="1E293B">
              <a:alpha val="40000"/>
            </a:srgbClr>
          </a:solidFill>
          <a:ln w="12700">
            <a:solidFill>
              <a:srgbClr val="38BDF8">
                <a:alpha val="20000"/>
              </a:srgbClr>
            </a:solidFill>
            <a:prstDash val="solid"/>
          </a:ln>
        </p:spPr>
      </p:sp>
      <p:sp>
        <p:nvSpPr>
          <p:cNvPr id="16" name="Shape 12"/>
          <p:cNvSpPr/>
          <p:nvPr/>
        </p:nvSpPr>
        <p:spPr>
          <a:xfrm>
            <a:off x="2796235" y="1485900"/>
            <a:ext cx="105156" cy="114300"/>
          </a:xfrm>
          <a:prstGeom prst="roundRect">
            <a:avLst>
              <a:gd name="adj" fmla="val 316206"/>
            </a:avLst>
          </a:prstGeom>
          <a:solidFill>
            <a:srgbClr val="EC4899"/>
          </a:solidFill>
          <a:ln/>
        </p:spPr>
      </p:sp>
      <p:sp>
        <p:nvSpPr>
          <p:cNvPr id="17" name="Shape 13"/>
          <p:cNvSpPr/>
          <p:nvPr/>
        </p:nvSpPr>
        <p:spPr>
          <a:xfrm>
            <a:off x="3749954" y="1485900"/>
            <a:ext cx="105156" cy="114300"/>
          </a:xfrm>
          <a:prstGeom prst="roundRect">
            <a:avLst>
              <a:gd name="adj" fmla="val 316206"/>
            </a:avLst>
          </a:prstGeom>
          <a:solidFill>
            <a:srgbClr val="4B5563"/>
          </a:solidFill>
          <a:ln/>
        </p:spPr>
      </p:sp>
      <p:sp>
        <p:nvSpPr>
          <p:cNvPr id="18" name="Shape 14"/>
          <p:cNvSpPr/>
          <p:nvPr/>
        </p:nvSpPr>
        <p:spPr>
          <a:xfrm>
            <a:off x="4894783" y="2676449"/>
            <a:ext cx="6848856" cy="1123798"/>
          </a:xfrm>
          <a:prstGeom prst="roundRect">
            <a:avLst>
              <a:gd name="adj" fmla="val 8275"/>
            </a:avLst>
          </a:prstGeom>
          <a:solidFill>
            <a:srgbClr val="1E293B">
              <a:alpha val="40000"/>
            </a:srgbClr>
          </a:solidFill>
          <a:ln w="12700">
            <a:solidFill>
              <a:srgbClr val="38BDF8">
                <a:alpha val="20000"/>
              </a:srgbClr>
            </a:solidFill>
            <a:prstDash val="solid"/>
          </a:ln>
        </p:spPr>
      </p:sp>
      <p:sp>
        <p:nvSpPr>
          <p:cNvPr id="19" name="Shape 15"/>
          <p:cNvSpPr/>
          <p:nvPr/>
        </p:nvSpPr>
        <p:spPr>
          <a:xfrm>
            <a:off x="4894783" y="3914546"/>
            <a:ext cx="6848856" cy="1123798"/>
          </a:xfrm>
          <a:prstGeom prst="roundRect">
            <a:avLst>
              <a:gd name="adj" fmla="val 8275"/>
            </a:avLst>
          </a:prstGeom>
          <a:solidFill>
            <a:srgbClr val="1E293B">
              <a:alpha val="40000"/>
            </a:srgbClr>
          </a:solidFill>
          <a:ln w="12700">
            <a:solidFill>
              <a:srgbClr val="38BDF8">
                <a:alpha val="20000"/>
              </a:srgbClr>
            </a:solidFill>
            <a:prstDash val="solid"/>
          </a:ln>
        </p:spPr>
      </p:sp>
      <p:sp>
        <p:nvSpPr>
          <p:cNvPr id="20" name="Text 16"/>
          <p:cNvSpPr txBox="1"/>
          <p:nvPr/>
        </p:nvSpPr>
        <p:spPr>
          <a:xfrm>
            <a:off x="657454" y="1410005"/>
            <a:ext cx="1491386" cy="486461"/>
          </a:xfrm>
          <a:prstGeom prst="rect">
            <a:avLst/>
          </a:prstGeom>
          <a:noFill/>
          <a:ln/>
        </p:spPr>
        <p:txBody>
          <a:bodyPr wrap="square" lIns="0" tIns="0" rIns="0" bIns="0" rtlCol="0" anchor="ctr"/>
          <a:lstStyle/>
          <a:p>
            <a:pPr marL="0" indent="0" algn="l">
              <a:buNone/>
            </a:pPr>
            <a:r>
              <a:rPr lang="en-US" sz="1300" b="1" dirty="0">
                <a:solidFill>
                  <a:srgbClr val="FFFFFF"/>
                </a:solidFill>
                <a:latin typeface="Space Grotesk" pitchFamily="34" charset="0"/>
                <a:ea typeface="Space Grotesk" pitchFamily="34" charset="-122"/>
                <a:cs typeface="Space Grotesk" pitchFamily="34" charset="-120"/>
              </a:rPr>
              <a:t>Destination Port Distribution</a:t>
            </a:r>
            <a:endParaRPr lang="en-US" sz="1300" dirty="0"/>
          </a:p>
        </p:txBody>
      </p:sp>
      <p:sp>
        <p:nvSpPr>
          <p:cNvPr id="21" name="Text 17"/>
          <p:cNvSpPr txBox="1"/>
          <p:nvPr/>
        </p:nvSpPr>
        <p:spPr>
          <a:xfrm>
            <a:off x="2972714" y="1390802"/>
            <a:ext cx="467258" cy="295351"/>
          </a:xfrm>
          <a:prstGeom prst="rect">
            <a:avLst/>
          </a:prstGeom>
          <a:noFill/>
          <a:ln/>
        </p:spPr>
        <p:txBody>
          <a:bodyPr wrap="square" lIns="0" tIns="0" rIns="0" bIns="0" rtlCol="0" anchor="ctr"/>
          <a:lstStyle/>
          <a:p>
            <a:pPr marL="0" indent="0" algn="l">
              <a:buNone/>
            </a:pPr>
            <a:r>
              <a:rPr lang="en-US" sz="900" dirty="0">
                <a:solidFill>
                  <a:srgbClr val="D1D5DB"/>
                </a:solidFill>
                <a:latin typeface="Inter" pitchFamily="34" charset="0"/>
                <a:ea typeface="Inter" pitchFamily="34" charset="-122"/>
                <a:cs typeface="Inter" pitchFamily="34" charset="-120"/>
              </a:rPr>
              <a:t>HTTPS (443)</a:t>
            </a:r>
            <a:endParaRPr lang="en-US" sz="900" dirty="0"/>
          </a:p>
        </p:txBody>
      </p:sp>
      <p:sp>
        <p:nvSpPr>
          <p:cNvPr id="22" name="Text 18"/>
          <p:cNvSpPr txBox="1"/>
          <p:nvPr/>
        </p:nvSpPr>
        <p:spPr>
          <a:xfrm>
            <a:off x="3926434" y="1390802"/>
            <a:ext cx="391363" cy="295351"/>
          </a:xfrm>
          <a:prstGeom prst="rect">
            <a:avLst/>
          </a:prstGeom>
          <a:noFill/>
          <a:ln/>
        </p:spPr>
        <p:txBody>
          <a:bodyPr wrap="square" lIns="0" tIns="0" rIns="0" bIns="0" rtlCol="0" anchor="ctr"/>
          <a:lstStyle/>
          <a:p>
            <a:pPr marL="0" indent="0" algn="l">
              <a:buNone/>
            </a:pPr>
            <a:r>
              <a:rPr lang="en-US" sz="900" dirty="0">
                <a:solidFill>
                  <a:srgbClr val="D1D5DB"/>
                </a:solidFill>
                <a:latin typeface="Inter" pitchFamily="34" charset="0"/>
                <a:ea typeface="Inter" pitchFamily="34" charset="-122"/>
                <a:cs typeface="Inter" pitchFamily="34" charset="-120"/>
              </a:rPr>
              <a:t>Other Ports</a:t>
            </a:r>
            <a:endParaRPr lang="en-US" sz="900" dirty="0"/>
          </a:p>
        </p:txBody>
      </p:sp>
      <p:sp>
        <p:nvSpPr>
          <p:cNvPr id="23" name="Text 19"/>
          <p:cNvSpPr txBox="1"/>
          <p:nvPr/>
        </p:nvSpPr>
        <p:spPr>
          <a:xfrm>
            <a:off x="5056632" y="2819095"/>
            <a:ext cx="1877263" cy="191110"/>
          </a:xfrm>
          <a:prstGeom prst="rect">
            <a:avLst/>
          </a:prstGeom>
          <a:noFill/>
          <a:ln/>
        </p:spPr>
        <p:txBody>
          <a:bodyPr wrap="square" lIns="0" tIns="0" rIns="0" bIns="0" rtlCol="0" anchor="ctr"/>
          <a:lstStyle/>
          <a:p>
            <a:pPr marL="0" indent="0" algn="l">
              <a:buNone/>
            </a:pPr>
            <a:r>
              <a:rPr lang="en-US" sz="1200" b="1" dirty="0">
                <a:solidFill>
                  <a:srgbClr val="9CA3AF"/>
                </a:solidFill>
                <a:latin typeface="Inter" pitchFamily="34" charset="0"/>
                <a:ea typeface="Inter" pitchFamily="34" charset="-122"/>
                <a:cs typeface="Inter" pitchFamily="34" charset="-120"/>
              </a:rPr>
              <a:t>HTTPS TRAFFIC SHARE</a:t>
            </a:r>
            <a:endParaRPr lang="en-US" sz="1200" dirty="0"/>
          </a:p>
        </p:txBody>
      </p:sp>
      <p:sp>
        <p:nvSpPr>
          <p:cNvPr id="24" name="Text 20"/>
          <p:cNvSpPr txBox="1"/>
          <p:nvPr/>
        </p:nvSpPr>
        <p:spPr>
          <a:xfrm>
            <a:off x="5056632" y="3047695"/>
            <a:ext cx="1081735" cy="372161"/>
          </a:xfrm>
          <a:prstGeom prst="rect">
            <a:avLst/>
          </a:prstGeom>
          <a:noFill/>
          <a:ln/>
        </p:spPr>
        <p:txBody>
          <a:bodyPr wrap="square" lIns="0" tIns="0" rIns="0" bIns="0" rtlCol="0" anchor="ctr"/>
          <a:lstStyle/>
          <a:p>
            <a:pPr marL="0" indent="0" algn="l">
              <a:buNone/>
            </a:pPr>
            <a:r>
              <a:rPr lang="en-US" sz="2200" b="1" dirty="0">
                <a:solidFill>
                  <a:srgbClr val="F472B6"/>
                </a:solidFill>
                <a:latin typeface="Courier New" pitchFamily="34" charset="0"/>
                <a:ea typeface="Courier New" pitchFamily="34" charset="-122"/>
                <a:cs typeface="Courier New" pitchFamily="34" charset="-120"/>
              </a:rPr>
              <a:t>86.2%</a:t>
            </a:r>
            <a:endParaRPr lang="en-US" sz="2200" dirty="0"/>
          </a:p>
        </p:txBody>
      </p:sp>
      <p:pic>
        <p:nvPicPr>
          <p:cNvPr id="25" name="Image 2" descr="preencoded.png"/>
          <p:cNvPicPr>
            <a:picLocks noChangeAspect="1"/>
          </p:cNvPicPr>
          <p:nvPr/>
        </p:nvPicPr>
        <p:blipFill>
          <a:blip r:embed="rId5"/>
          <a:srcRect l="-33" r="-33"/>
          <a:stretch/>
        </p:blipFill>
        <p:spPr>
          <a:xfrm>
            <a:off x="11324844" y="2915107"/>
            <a:ext cx="171907" cy="152705"/>
          </a:xfrm>
          <a:prstGeom prst="rect">
            <a:avLst/>
          </a:prstGeom>
        </p:spPr>
      </p:pic>
      <p:sp>
        <p:nvSpPr>
          <p:cNvPr id="26" name="Text 21"/>
          <p:cNvSpPr txBox="1"/>
          <p:nvPr/>
        </p:nvSpPr>
        <p:spPr>
          <a:xfrm>
            <a:off x="5056632" y="3467405"/>
            <a:ext cx="1448410" cy="191110"/>
          </a:xfrm>
          <a:prstGeom prst="rect">
            <a:avLst/>
          </a:prstGeom>
          <a:noFill/>
          <a:ln/>
        </p:spPr>
        <p:txBody>
          <a:bodyPr wrap="square" lIns="0" tIns="0" rIns="0" bIns="0" rtlCol="0" anchor="ctr"/>
          <a:lstStyle/>
          <a:p>
            <a:pPr marL="0" indent="0" algn="l">
              <a:buNone/>
            </a:pPr>
            <a:r>
              <a:rPr lang="en-US" sz="1200" dirty="0">
                <a:solidFill>
                  <a:srgbClr val="6B7280"/>
                </a:solidFill>
                <a:latin typeface="Inter" pitchFamily="34" charset="0"/>
                <a:ea typeface="Inter" pitchFamily="34" charset="-122"/>
                <a:cs typeface="Inter" pitchFamily="34" charset="-120"/>
              </a:rPr>
              <a:t>Dominant Protocol</a:t>
            </a:r>
            <a:endParaRPr lang="en-US" sz="1200" dirty="0"/>
          </a:p>
        </p:txBody>
      </p:sp>
      <p:sp>
        <p:nvSpPr>
          <p:cNvPr id="27" name="Text 22"/>
          <p:cNvSpPr txBox="1"/>
          <p:nvPr/>
        </p:nvSpPr>
        <p:spPr>
          <a:xfrm>
            <a:off x="5056632" y="4058107"/>
            <a:ext cx="1914754" cy="191110"/>
          </a:xfrm>
          <a:prstGeom prst="rect">
            <a:avLst/>
          </a:prstGeom>
          <a:noFill/>
          <a:ln/>
        </p:spPr>
        <p:txBody>
          <a:bodyPr wrap="square" lIns="0" tIns="0" rIns="0" bIns="0" rtlCol="0" anchor="ctr"/>
          <a:lstStyle/>
          <a:p>
            <a:pPr marL="0" indent="0" algn="l">
              <a:buNone/>
            </a:pPr>
            <a:r>
              <a:rPr lang="en-US" sz="1200" b="1" dirty="0">
                <a:solidFill>
                  <a:srgbClr val="9CA3AF"/>
                </a:solidFill>
                <a:latin typeface="Inter" pitchFamily="34" charset="0"/>
                <a:ea typeface="Inter" pitchFamily="34" charset="-122"/>
                <a:cs typeface="Inter" pitchFamily="34" charset="-120"/>
              </a:rPr>
              <a:t>UNIQUE PORTS TARGET</a:t>
            </a:r>
            <a:endParaRPr lang="en-US" sz="1200" dirty="0"/>
          </a:p>
        </p:txBody>
      </p:sp>
      <p:sp>
        <p:nvSpPr>
          <p:cNvPr id="28" name="Text 23"/>
          <p:cNvSpPr txBox="1"/>
          <p:nvPr/>
        </p:nvSpPr>
        <p:spPr>
          <a:xfrm>
            <a:off x="5056632" y="4286707"/>
            <a:ext cx="395935" cy="372161"/>
          </a:xfrm>
          <a:prstGeom prst="rect">
            <a:avLst/>
          </a:prstGeom>
          <a:noFill/>
          <a:ln/>
        </p:spPr>
        <p:txBody>
          <a:bodyPr wrap="square" lIns="0" tIns="0" rIns="0" bIns="0" rtlCol="0" anchor="ctr"/>
          <a:lstStyle/>
          <a:p>
            <a:pPr marL="0" indent="0" algn="l">
              <a:buNone/>
            </a:pPr>
            <a:r>
              <a:rPr lang="en-US" sz="2200" b="1" dirty="0">
                <a:solidFill>
                  <a:srgbClr val="60A5FA"/>
                </a:solidFill>
                <a:latin typeface="Courier New" pitchFamily="34" charset="0"/>
                <a:ea typeface="Courier New" pitchFamily="34" charset="-122"/>
                <a:cs typeface="Courier New" pitchFamily="34" charset="-120"/>
              </a:rPr>
              <a:t>4</a:t>
            </a:r>
            <a:endParaRPr lang="en-US" sz="2200" dirty="0"/>
          </a:p>
        </p:txBody>
      </p:sp>
      <p:pic>
        <p:nvPicPr>
          <p:cNvPr id="29" name="Image 3" descr="preencoded.png"/>
          <p:cNvPicPr>
            <a:picLocks noChangeAspect="1"/>
          </p:cNvPicPr>
          <p:nvPr/>
        </p:nvPicPr>
        <p:blipFill>
          <a:blip r:embed="rId6"/>
          <a:srcRect/>
          <a:stretch/>
        </p:blipFill>
        <p:spPr>
          <a:xfrm>
            <a:off x="11344046" y="4153205"/>
            <a:ext cx="152705" cy="152705"/>
          </a:xfrm>
          <a:prstGeom prst="rect">
            <a:avLst/>
          </a:prstGeom>
        </p:spPr>
      </p:pic>
      <p:sp>
        <p:nvSpPr>
          <p:cNvPr id="30" name="Text 24"/>
          <p:cNvSpPr txBox="1"/>
          <p:nvPr/>
        </p:nvSpPr>
        <p:spPr>
          <a:xfrm>
            <a:off x="5056632" y="4705502"/>
            <a:ext cx="2124151" cy="191110"/>
          </a:xfrm>
          <a:prstGeom prst="rect">
            <a:avLst/>
          </a:prstGeom>
          <a:noFill/>
          <a:ln/>
        </p:spPr>
        <p:txBody>
          <a:bodyPr wrap="square" lIns="0" tIns="0" rIns="0" bIns="0" rtlCol="0" anchor="ctr"/>
          <a:lstStyle/>
          <a:p>
            <a:pPr marL="0" indent="0" algn="l">
              <a:buNone/>
            </a:pPr>
            <a:r>
              <a:rPr lang="en-US" sz="1200" dirty="0">
                <a:solidFill>
                  <a:srgbClr val="6B7280"/>
                </a:solidFill>
                <a:latin typeface="Inter" pitchFamily="34" charset="0"/>
                <a:ea typeface="Inter" pitchFamily="34" charset="-122"/>
                <a:cs typeface="Inter" pitchFamily="34" charset="-120"/>
              </a:rPr>
              <a:t>Focused vectors (80, 8080)</a:t>
            </a:r>
            <a:endParaRPr lang="en-US" sz="1200" dirty="0"/>
          </a:p>
        </p:txBody>
      </p:sp>
      <p:pic>
        <p:nvPicPr>
          <p:cNvPr id="31" name="Image 4" descr="preencoded.png"/>
          <p:cNvPicPr>
            <a:picLocks noChangeAspect="1"/>
          </p:cNvPicPr>
          <p:nvPr/>
        </p:nvPicPr>
        <p:blipFill>
          <a:blip r:embed="rId7"/>
          <a:srcRect l="-129" r="-129"/>
          <a:stretch/>
        </p:blipFill>
        <p:spPr>
          <a:xfrm>
            <a:off x="657454" y="2000707"/>
            <a:ext cx="3810305" cy="4114800"/>
          </a:xfrm>
          <a:prstGeom prst="rect">
            <a:avLst/>
          </a:prstGeom>
        </p:spPr>
      </p:pic>
      <p:sp>
        <p:nvSpPr>
          <p:cNvPr id="32" name="Shape 25"/>
          <p:cNvSpPr/>
          <p:nvPr/>
        </p:nvSpPr>
        <p:spPr>
          <a:xfrm>
            <a:off x="4894783" y="1190549"/>
            <a:ext cx="6848856" cy="1371600"/>
          </a:xfrm>
          <a:prstGeom prst="rect">
            <a:avLst/>
          </a:prstGeom>
          <a:solidFill>
            <a:srgbClr val="0F172A">
              <a:alpha val="80000"/>
            </a:srgbClr>
          </a:solidFill>
          <a:ln/>
          <a:effectLst>
            <a:outerShdw blurRad="190500" dist="38100" dir="5400000" algn="bl" rotWithShape="0">
              <a:srgbClr val="000000">
                <a:alpha val="30000"/>
              </a:srgbClr>
            </a:outerShdw>
          </a:effectLst>
        </p:spPr>
      </p:sp>
      <p:sp>
        <p:nvSpPr>
          <p:cNvPr id="33" name="Shape 26"/>
          <p:cNvSpPr/>
          <p:nvPr/>
        </p:nvSpPr>
        <p:spPr>
          <a:xfrm>
            <a:off x="4894783" y="1190549"/>
            <a:ext cx="38405" cy="1371600"/>
          </a:xfrm>
          <a:prstGeom prst="rect">
            <a:avLst/>
          </a:prstGeom>
          <a:solidFill>
            <a:srgbClr val="F472B6"/>
          </a:solidFill>
          <a:ln/>
        </p:spPr>
      </p:sp>
      <p:sp>
        <p:nvSpPr>
          <p:cNvPr id="34" name="Shape 27"/>
          <p:cNvSpPr/>
          <p:nvPr/>
        </p:nvSpPr>
        <p:spPr>
          <a:xfrm>
            <a:off x="5084978" y="1076249"/>
            <a:ext cx="1218895" cy="267005"/>
          </a:xfrm>
          <a:prstGeom prst="roundRect">
            <a:avLst>
              <a:gd name="adj" fmla="val 342465"/>
            </a:avLst>
          </a:prstGeom>
          <a:solidFill>
            <a:srgbClr val="EC4899"/>
          </a:solidFill>
          <a:ln/>
        </p:spPr>
      </p:sp>
      <p:sp>
        <p:nvSpPr>
          <p:cNvPr id="35" name="Text 28"/>
          <p:cNvSpPr txBox="1"/>
          <p:nvPr/>
        </p:nvSpPr>
        <p:spPr>
          <a:xfrm>
            <a:off x="5161788" y="1114654"/>
            <a:ext cx="1181405" cy="191110"/>
          </a:xfrm>
          <a:prstGeom prst="rect">
            <a:avLst/>
          </a:prstGeom>
          <a:noFill/>
          <a:ln/>
        </p:spPr>
        <p:txBody>
          <a:bodyPr wrap="square" lIns="0" tIns="0" rIns="0" bIns="0" rtlCol="0" anchor="ctr"/>
          <a:lstStyle/>
          <a:p>
            <a:pPr marL="0" indent="0" algn="l">
              <a:buNone/>
            </a:pPr>
            <a:r>
              <a:rPr lang="en-US" sz="1200" b="1" dirty="0">
                <a:solidFill>
                  <a:srgbClr val="FFFFFF"/>
                </a:solidFill>
                <a:latin typeface="Inter" pitchFamily="34" charset="0"/>
                <a:ea typeface="Inter" pitchFamily="34" charset="-122"/>
                <a:cs typeface="Inter" pitchFamily="34" charset="-120"/>
              </a:rPr>
              <a:t>KEY FINDING</a:t>
            </a:r>
            <a:endParaRPr lang="en-US" sz="1200" dirty="0"/>
          </a:p>
        </p:txBody>
      </p:sp>
      <p:pic>
        <p:nvPicPr>
          <p:cNvPr id="36" name="Image 5" descr="preencoded.png"/>
          <p:cNvPicPr>
            <a:picLocks noChangeAspect="1"/>
          </p:cNvPicPr>
          <p:nvPr/>
        </p:nvPicPr>
        <p:blipFill>
          <a:blip r:embed="rId8"/>
          <a:srcRect l="-1648" r="-1648"/>
          <a:stretch/>
        </p:blipFill>
        <p:spPr>
          <a:xfrm>
            <a:off x="5084978" y="1419149"/>
            <a:ext cx="171907" cy="190195"/>
          </a:xfrm>
          <a:prstGeom prst="rect">
            <a:avLst/>
          </a:prstGeom>
        </p:spPr>
      </p:pic>
      <p:sp>
        <p:nvSpPr>
          <p:cNvPr id="37" name="Text 29"/>
          <p:cNvSpPr txBox="1"/>
          <p:nvPr/>
        </p:nvSpPr>
        <p:spPr>
          <a:xfrm>
            <a:off x="5332781" y="1399946"/>
            <a:ext cx="1672438" cy="219456"/>
          </a:xfrm>
          <a:prstGeom prst="rect">
            <a:avLst/>
          </a:prstGeom>
          <a:noFill/>
          <a:ln/>
        </p:spPr>
        <p:txBody>
          <a:bodyPr wrap="square" lIns="0" tIns="0" rIns="0" bIns="0" rtlCol="0" anchor="ctr"/>
          <a:lstStyle/>
          <a:p>
            <a:pPr marL="0" indent="0" algn="l">
              <a:buNone/>
            </a:pPr>
            <a:r>
              <a:rPr lang="en-US" sz="1300" b="1" dirty="0">
                <a:solidFill>
                  <a:srgbClr val="FFFFFF"/>
                </a:solidFill>
                <a:latin typeface="Space Grotesk" pitchFamily="34" charset="0"/>
                <a:ea typeface="Space Grotesk" pitchFamily="34" charset="-122"/>
                <a:cs typeface="Space Grotesk" pitchFamily="34" charset="-120"/>
              </a:rPr>
              <a:t>Encrypted Threats</a:t>
            </a:r>
            <a:endParaRPr lang="en-US" sz="1300" dirty="0"/>
          </a:p>
        </p:txBody>
      </p:sp>
      <p:sp>
        <p:nvSpPr>
          <p:cNvPr id="38" name="Text 30"/>
          <p:cNvSpPr txBox="1"/>
          <p:nvPr/>
        </p:nvSpPr>
        <p:spPr>
          <a:xfrm>
            <a:off x="5084978" y="1733702"/>
            <a:ext cx="6425489" cy="352958"/>
          </a:xfrm>
          <a:prstGeom prst="rect">
            <a:avLst/>
          </a:prstGeom>
          <a:noFill/>
          <a:ln/>
        </p:spPr>
        <p:txBody>
          <a:bodyPr wrap="square" lIns="0" tIns="0" rIns="0" bIns="0" rtlCol="0" anchor="ctr"/>
          <a:lstStyle/>
          <a:p>
            <a:pPr marL="0" indent="0" algn="l">
              <a:buNone/>
            </a:pPr>
            <a:r>
              <a:rPr lang="en-US" sz="1000" dirty="0">
                <a:solidFill>
                  <a:srgbClr val="D1D5DB"/>
                </a:solidFill>
                <a:latin typeface="Inter" pitchFamily="34" charset="0"/>
                <a:ea typeface="Inter" pitchFamily="34" charset="-122"/>
                <a:cs typeface="Inter" pitchFamily="34" charset="-120"/>
              </a:rPr>
              <a:t>The majority of interactions occur over Port 443 (HTTPS), indicating malicious traffic is hiding within encrypted tunnels.</a:t>
            </a:r>
            <a:endParaRPr lang="en-US" sz="1000" dirty="0"/>
          </a:p>
        </p:txBody>
      </p:sp>
      <p:sp>
        <p:nvSpPr>
          <p:cNvPr id="39" name="Shape 31"/>
          <p:cNvSpPr/>
          <p:nvPr/>
        </p:nvSpPr>
        <p:spPr>
          <a:xfrm>
            <a:off x="5084978" y="2167128"/>
            <a:ext cx="6505956" cy="9144"/>
          </a:xfrm>
          <a:prstGeom prst="rect">
            <a:avLst/>
          </a:prstGeom>
          <a:solidFill>
            <a:srgbClr val="374151"/>
          </a:solidFill>
          <a:ln/>
        </p:spPr>
      </p:sp>
      <p:sp>
        <p:nvSpPr>
          <p:cNvPr id="40" name="Text 32"/>
          <p:cNvSpPr txBox="1"/>
          <p:nvPr/>
        </p:nvSpPr>
        <p:spPr>
          <a:xfrm>
            <a:off x="5084978" y="2253082"/>
            <a:ext cx="3829507" cy="162763"/>
          </a:xfrm>
          <a:prstGeom prst="rect">
            <a:avLst/>
          </a:prstGeom>
          <a:noFill/>
          <a:ln/>
        </p:spPr>
        <p:txBody>
          <a:bodyPr wrap="square" lIns="0" tIns="0" rIns="0" bIns="0" rtlCol="0" anchor="ctr"/>
          <a:lstStyle/>
          <a:p>
            <a:pPr marL="0" indent="0" algn="l">
              <a:buNone/>
            </a:pPr>
            <a:r>
              <a:rPr lang="en-US" sz="900" dirty="0">
                <a:solidFill>
                  <a:srgbClr val="9CA3AF"/>
                </a:solidFill>
                <a:latin typeface="Inter" pitchFamily="34" charset="0"/>
                <a:ea typeface="Inter" pitchFamily="34" charset="-122"/>
                <a:cs typeface="Inter" pitchFamily="34" charset="-120"/>
              </a:rPr>
              <a:t>Makes traditional payload inspection difficult without SSL decryption.</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120"/>
          </a:solidFill>
          <a:ln/>
        </p:spPr>
      </p:sp>
      <p:sp>
        <p:nvSpPr>
          <p:cNvPr id="3" name="Shape 1"/>
          <p:cNvSpPr/>
          <p:nvPr/>
        </p:nvSpPr>
        <p:spPr>
          <a:xfrm>
            <a:off x="0" y="0"/>
            <a:ext cx="12191695" cy="6858000"/>
          </a:xfrm>
          <a:prstGeom prst="rect">
            <a:avLst/>
          </a:prstGeom>
          <a:solidFill>
            <a:srgbClr val="0B1120"/>
          </a:solidFill>
          <a:ln/>
        </p:spPr>
      </p:sp>
      <p:sp>
        <p:nvSpPr>
          <p:cNvPr id="4" name="Shape 2"/>
          <p:cNvSpPr/>
          <p:nvPr/>
        </p:nvSpPr>
        <p:spPr>
          <a:xfrm>
            <a:off x="0" y="0"/>
            <a:ext cx="12191695" cy="6858000"/>
          </a:xfrm>
          <a:prstGeom prst="rect">
            <a:avLst/>
          </a:prstGeom>
          <a:solidFill>
            <a:srgbClr val="0B1120">
              <a:alpha val="50000"/>
            </a:srgbClr>
          </a:solidFill>
          <a:ln/>
        </p:spPr>
      </p:sp>
      <p:sp>
        <p:nvSpPr>
          <p:cNvPr id="5" name="Shape 3"/>
          <p:cNvSpPr/>
          <p:nvPr/>
        </p:nvSpPr>
        <p:spPr>
          <a:xfrm>
            <a:off x="0" y="3200400"/>
            <a:ext cx="3657600" cy="3657600"/>
          </a:xfrm>
          <a:prstGeom prst="roundRect">
            <a:avLst>
              <a:gd name="adj" fmla="val 25000"/>
            </a:avLst>
          </a:prstGeom>
          <a:solidFill>
            <a:srgbClr val="312E81">
              <a:alpha val="20000"/>
            </a:srgbClr>
          </a:solidFill>
          <a:ln/>
        </p:spPr>
      </p:sp>
      <p:sp>
        <p:nvSpPr>
          <p:cNvPr id="6" name="Shape 4"/>
          <p:cNvSpPr/>
          <p:nvPr/>
        </p:nvSpPr>
        <p:spPr>
          <a:xfrm>
            <a:off x="457200" y="6391656"/>
            <a:ext cx="11277295" cy="9144"/>
          </a:xfrm>
          <a:prstGeom prst="rect">
            <a:avLst/>
          </a:prstGeom>
          <a:solidFill>
            <a:srgbClr val="1F2937"/>
          </a:solidFill>
          <a:ln/>
        </p:spPr>
      </p:sp>
      <p:sp>
        <p:nvSpPr>
          <p:cNvPr id="8" name="Text 6"/>
          <p:cNvSpPr txBox="1"/>
          <p:nvPr/>
        </p:nvSpPr>
        <p:spPr>
          <a:xfrm>
            <a:off x="10728655" y="6486754"/>
            <a:ext cx="638251" cy="133502"/>
          </a:xfrm>
          <a:prstGeom prst="rect">
            <a:avLst/>
          </a:prstGeom>
          <a:noFill/>
          <a:ln/>
        </p:spPr>
        <p:txBody>
          <a:bodyPr wrap="square" lIns="0" tIns="0" rIns="0" bIns="0" rtlCol="0" anchor="ctr"/>
          <a:lstStyle/>
          <a:p>
            <a:pPr marL="0" indent="0" algn="l">
              <a:buNone/>
            </a:pPr>
            <a:r>
              <a:rPr lang="en-US" sz="900" dirty="0">
                <a:solidFill>
                  <a:srgbClr val="4B5563"/>
                </a:solidFill>
                <a:latin typeface="ui-monospace" pitchFamily="34" charset="0"/>
                <a:ea typeface="ui-monospace" pitchFamily="34" charset="-122"/>
                <a:cs typeface="ui-monospace" pitchFamily="34" charset="-120"/>
              </a:rPr>
              <a:t>SLIDE 10</a:t>
            </a:r>
            <a:endParaRPr lang="en-US" sz="900" dirty="0"/>
          </a:p>
        </p:txBody>
      </p:sp>
      <p:sp>
        <p:nvSpPr>
          <p:cNvPr id="9" name="Shape 7"/>
          <p:cNvSpPr/>
          <p:nvPr/>
        </p:nvSpPr>
        <p:spPr>
          <a:xfrm>
            <a:off x="0" y="1028700"/>
            <a:ext cx="12191695" cy="9144"/>
          </a:xfrm>
          <a:prstGeom prst="rect">
            <a:avLst/>
          </a:prstGeom>
          <a:solidFill>
            <a:srgbClr val="1F2937"/>
          </a:solidFill>
          <a:ln/>
        </p:spPr>
      </p:sp>
      <p:pic>
        <p:nvPicPr>
          <p:cNvPr id="10" name="Image 0" descr="preencoded.png"/>
          <p:cNvPicPr>
            <a:picLocks noChangeAspect="1"/>
          </p:cNvPicPr>
          <p:nvPr/>
        </p:nvPicPr>
        <p:blipFill>
          <a:blip r:embed="rId3"/>
          <a:srcRect/>
          <a:stretch/>
        </p:blipFill>
        <p:spPr>
          <a:xfrm>
            <a:off x="457200" y="314554"/>
            <a:ext cx="133502" cy="133502"/>
          </a:xfrm>
          <a:prstGeom prst="rect">
            <a:avLst/>
          </a:prstGeom>
        </p:spPr>
      </p:pic>
      <p:sp>
        <p:nvSpPr>
          <p:cNvPr id="11" name="Shape 8"/>
          <p:cNvSpPr/>
          <p:nvPr/>
        </p:nvSpPr>
        <p:spPr>
          <a:xfrm>
            <a:off x="8616391" y="620878"/>
            <a:ext cx="3124505" cy="256946"/>
          </a:xfrm>
          <a:prstGeom prst="roundRect">
            <a:avLst>
              <a:gd name="adj" fmla="val 52722"/>
            </a:avLst>
          </a:prstGeom>
          <a:solidFill>
            <a:srgbClr val="1E293B">
              <a:alpha val="80000"/>
            </a:srgbClr>
          </a:solidFill>
          <a:ln w="12700">
            <a:solidFill>
              <a:srgbClr val="475569"/>
            </a:solidFill>
            <a:prstDash val="solid"/>
          </a:ln>
        </p:spPr>
      </p:sp>
      <p:sp>
        <p:nvSpPr>
          <p:cNvPr id="12" name="Text 9"/>
          <p:cNvSpPr txBox="1"/>
          <p:nvPr/>
        </p:nvSpPr>
        <p:spPr>
          <a:xfrm>
            <a:off x="666598" y="304495"/>
            <a:ext cx="1571854" cy="143561"/>
          </a:xfrm>
          <a:prstGeom prst="rect">
            <a:avLst/>
          </a:prstGeom>
          <a:noFill/>
          <a:ln/>
        </p:spPr>
        <p:txBody>
          <a:bodyPr wrap="square" lIns="0" tIns="0" rIns="0" bIns="0" rtlCol="0" anchor="ctr"/>
          <a:lstStyle/>
          <a:p>
            <a:pPr marL="0" indent="0" algn="l">
              <a:buNone/>
            </a:pPr>
            <a:r>
              <a:rPr lang="en-US" sz="900" b="1" dirty="0">
                <a:solidFill>
                  <a:srgbClr val="FFFFFF"/>
                </a:solidFill>
                <a:latin typeface="Inter" pitchFamily="34" charset="0"/>
                <a:ea typeface="Inter" pitchFamily="34" charset="-122"/>
                <a:cs typeface="Inter" pitchFamily="34" charset="-120"/>
              </a:rPr>
              <a:t>DETECTION ANALYSIS</a:t>
            </a:r>
            <a:endParaRPr lang="en-US" sz="900" dirty="0"/>
          </a:p>
        </p:txBody>
      </p:sp>
      <p:sp>
        <p:nvSpPr>
          <p:cNvPr id="13" name="Text 10"/>
          <p:cNvSpPr txBox="1"/>
          <p:nvPr/>
        </p:nvSpPr>
        <p:spPr>
          <a:xfrm>
            <a:off x="457200" y="466344"/>
            <a:ext cx="4839005" cy="438912"/>
          </a:xfrm>
          <a:prstGeom prst="rect">
            <a:avLst/>
          </a:prstGeom>
          <a:noFill/>
          <a:ln/>
        </p:spPr>
        <p:txBody>
          <a:bodyPr wrap="square" lIns="0" tIns="0" rIns="0" bIns="0" rtlCol="0" anchor="ctr"/>
          <a:lstStyle/>
          <a:p>
            <a:pPr marL="0" indent="0" algn="l">
              <a:buNone/>
            </a:pPr>
            <a:r>
              <a:rPr lang="en-US" sz="2700" b="1" dirty="0">
                <a:solidFill>
                  <a:srgbClr val="FFFFFF"/>
                </a:solidFill>
                <a:latin typeface="Space Grotesk" pitchFamily="34" charset="0"/>
                <a:ea typeface="Space Grotesk" pitchFamily="34" charset="-122"/>
                <a:cs typeface="Space Grotesk" pitchFamily="34" charset="-120"/>
              </a:rPr>
              <a:t>Detection Type Distribution</a:t>
            </a:r>
            <a:endParaRPr lang="en-US" sz="2700" dirty="0"/>
          </a:p>
        </p:txBody>
      </p:sp>
      <p:pic>
        <p:nvPicPr>
          <p:cNvPr id="14" name="Image 1" descr="preencoded.png"/>
          <p:cNvPicPr>
            <a:picLocks noChangeAspect="1"/>
          </p:cNvPicPr>
          <p:nvPr/>
        </p:nvPicPr>
        <p:blipFill>
          <a:blip r:embed="rId4"/>
          <a:srcRect l="-1677" r="-1677"/>
          <a:stretch/>
        </p:blipFill>
        <p:spPr>
          <a:xfrm>
            <a:off x="8702345" y="691286"/>
            <a:ext cx="95098" cy="105156"/>
          </a:xfrm>
          <a:prstGeom prst="rect">
            <a:avLst/>
          </a:prstGeom>
        </p:spPr>
      </p:pic>
      <p:sp>
        <p:nvSpPr>
          <p:cNvPr id="15" name="Text 11"/>
          <p:cNvSpPr txBox="1"/>
          <p:nvPr/>
        </p:nvSpPr>
        <p:spPr>
          <a:xfrm>
            <a:off x="8834933" y="668426"/>
            <a:ext cx="2899562" cy="143561"/>
          </a:xfrm>
          <a:prstGeom prst="rect">
            <a:avLst/>
          </a:prstGeom>
          <a:noFill/>
          <a:ln/>
        </p:spPr>
        <p:txBody>
          <a:bodyPr wrap="square" lIns="0" tIns="0" rIns="0" bIns="0" rtlCol="0" anchor="ctr"/>
          <a:lstStyle/>
          <a:p>
            <a:pPr marL="0" indent="0" algn="l">
              <a:buNone/>
            </a:pPr>
            <a:r>
              <a:rPr lang="en-US" sz="800" dirty="0">
                <a:solidFill>
                  <a:srgbClr val="94A3B8"/>
                </a:solidFill>
                <a:latin typeface="Courier New" pitchFamily="34" charset="0"/>
                <a:ea typeface="Courier New" pitchFamily="34" charset="-122"/>
                <a:cs typeface="Courier New" pitchFamily="34" charset="-120"/>
              </a:rPr>
              <a:t>SELECT detection_type, COUNT(*) FROM logs...</a:t>
            </a:r>
            <a:endParaRPr lang="en-US" sz="800" dirty="0"/>
          </a:p>
        </p:txBody>
      </p:sp>
      <p:sp>
        <p:nvSpPr>
          <p:cNvPr id="16" name="Shape 12"/>
          <p:cNvSpPr/>
          <p:nvPr/>
        </p:nvSpPr>
        <p:spPr>
          <a:xfrm>
            <a:off x="457200" y="1266444"/>
            <a:ext cx="8287207" cy="4895698"/>
          </a:xfrm>
          <a:prstGeom prst="roundRect">
            <a:avLst>
              <a:gd name="adj" fmla="val 436"/>
            </a:avLst>
          </a:prstGeom>
          <a:solidFill>
            <a:srgbClr val="1E293B">
              <a:alpha val="40000"/>
            </a:srgbClr>
          </a:solidFill>
          <a:ln w="12700">
            <a:solidFill>
              <a:srgbClr val="38BDF8">
                <a:alpha val="20000"/>
              </a:srgbClr>
            </a:solidFill>
            <a:prstDash val="solid"/>
          </a:ln>
        </p:spPr>
      </p:sp>
      <p:sp>
        <p:nvSpPr>
          <p:cNvPr id="17" name="Shape 13"/>
          <p:cNvSpPr/>
          <p:nvPr/>
        </p:nvSpPr>
        <p:spPr>
          <a:xfrm>
            <a:off x="6328562" y="2553005"/>
            <a:ext cx="2143354" cy="580644"/>
          </a:xfrm>
          <a:prstGeom prst="roundRect">
            <a:avLst>
              <a:gd name="adj" fmla="val 10327"/>
            </a:avLst>
          </a:prstGeom>
          <a:solidFill>
            <a:srgbClr val="111827">
              <a:alpha val="30000"/>
            </a:srgbClr>
          </a:solidFill>
          <a:ln/>
        </p:spPr>
      </p:sp>
      <p:sp>
        <p:nvSpPr>
          <p:cNvPr id="18" name="Shape 14"/>
          <p:cNvSpPr/>
          <p:nvPr/>
        </p:nvSpPr>
        <p:spPr>
          <a:xfrm>
            <a:off x="6328562" y="3124505"/>
            <a:ext cx="2143354" cy="9144"/>
          </a:xfrm>
          <a:prstGeom prst="rect">
            <a:avLst/>
          </a:prstGeom>
          <a:solidFill>
            <a:srgbClr val="1F2937"/>
          </a:solidFill>
          <a:ln/>
        </p:spPr>
      </p:sp>
      <p:sp>
        <p:nvSpPr>
          <p:cNvPr id="19" name="Shape 15"/>
          <p:cNvSpPr/>
          <p:nvPr/>
        </p:nvSpPr>
        <p:spPr>
          <a:xfrm>
            <a:off x="6442862" y="2781605"/>
            <a:ext cx="114300" cy="114300"/>
          </a:xfrm>
          <a:prstGeom prst="roundRect">
            <a:avLst>
              <a:gd name="adj" fmla="val 800000"/>
            </a:avLst>
          </a:prstGeom>
          <a:solidFill>
            <a:srgbClr val="38BDF8"/>
          </a:solidFill>
          <a:ln/>
        </p:spPr>
      </p:sp>
      <p:sp>
        <p:nvSpPr>
          <p:cNvPr id="20" name="Shape 16"/>
          <p:cNvSpPr/>
          <p:nvPr/>
        </p:nvSpPr>
        <p:spPr>
          <a:xfrm>
            <a:off x="6328562" y="3247949"/>
            <a:ext cx="2143354" cy="580644"/>
          </a:xfrm>
          <a:prstGeom prst="roundRect">
            <a:avLst>
              <a:gd name="adj" fmla="val 10327"/>
            </a:avLst>
          </a:prstGeom>
          <a:solidFill>
            <a:srgbClr val="111827">
              <a:alpha val="30000"/>
            </a:srgbClr>
          </a:solidFill>
          <a:ln/>
        </p:spPr>
      </p:sp>
      <p:sp>
        <p:nvSpPr>
          <p:cNvPr id="21" name="Shape 17"/>
          <p:cNvSpPr/>
          <p:nvPr/>
        </p:nvSpPr>
        <p:spPr>
          <a:xfrm>
            <a:off x="6328562" y="3819449"/>
            <a:ext cx="2143354" cy="9144"/>
          </a:xfrm>
          <a:prstGeom prst="rect">
            <a:avLst/>
          </a:prstGeom>
          <a:solidFill>
            <a:srgbClr val="1F2937"/>
          </a:solidFill>
          <a:ln/>
        </p:spPr>
      </p:sp>
      <p:sp>
        <p:nvSpPr>
          <p:cNvPr id="22" name="Shape 18"/>
          <p:cNvSpPr/>
          <p:nvPr/>
        </p:nvSpPr>
        <p:spPr>
          <a:xfrm>
            <a:off x="6442862" y="3476549"/>
            <a:ext cx="114300" cy="114300"/>
          </a:xfrm>
          <a:prstGeom prst="roundRect">
            <a:avLst>
              <a:gd name="adj" fmla="val 800000"/>
            </a:avLst>
          </a:prstGeom>
          <a:solidFill>
            <a:srgbClr val="818CF8"/>
          </a:solidFill>
          <a:ln/>
        </p:spPr>
      </p:sp>
      <p:sp>
        <p:nvSpPr>
          <p:cNvPr id="23" name="Shape 19"/>
          <p:cNvSpPr/>
          <p:nvPr/>
        </p:nvSpPr>
        <p:spPr>
          <a:xfrm>
            <a:off x="6328562" y="3943807"/>
            <a:ext cx="2143354" cy="580644"/>
          </a:xfrm>
          <a:prstGeom prst="roundRect">
            <a:avLst>
              <a:gd name="adj" fmla="val 10327"/>
            </a:avLst>
          </a:prstGeom>
          <a:solidFill>
            <a:srgbClr val="111827">
              <a:alpha val="30000"/>
            </a:srgbClr>
          </a:solidFill>
          <a:ln/>
        </p:spPr>
      </p:sp>
      <p:sp>
        <p:nvSpPr>
          <p:cNvPr id="24" name="Shape 20"/>
          <p:cNvSpPr/>
          <p:nvPr/>
        </p:nvSpPr>
        <p:spPr>
          <a:xfrm>
            <a:off x="6328562" y="4515307"/>
            <a:ext cx="2143354" cy="9144"/>
          </a:xfrm>
          <a:prstGeom prst="rect">
            <a:avLst/>
          </a:prstGeom>
          <a:solidFill>
            <a:srgbClr val="1F2937"/>
          </a:solidFill>
          <a:ln/>
        </p:spPr>
      </p:sp>
      <p:sp>
        <p:nvSpPr>
          <p:cNvPr id="25" name="Shape 21"/>
          <p:cNvSpPr/>
          <p:nvPr/>
        </p:nvSpPr>
        <p:spPr>
          <a:xfrm>
            <a:off x="6442862" y="4172407"/>
            <a:ext cx="114300" cy="114300"/>
          </a:xfrm>
          <a:prstGeom prst="roundRect">
            <a:avLst>
              <a:gd name="adj" fmla="val 800000"/>
            </a:avLst>
          </a:prstGeom>
          <a:solidFill>
            <a:srgbClr val="F472B6"/>
          </a:solidFill>
          <a:ln/>
        </p:spPr>
      </p:sp>
      <p:sp>
        <p:nvSpPr>
          <p:cNvPr id="26" name="Shape 22"/>
          <p:cNvSpPr/>
          <p:nvPr/>
        </p:nvSpPr>
        <p:spPr>
          <a:xfrm>
            <a:off x="6328562" y="4638751"/>
            <a:ext cx="2143354" cy="580644"/>
          </a:xfrm>
          <a:prstGeom prst="roundRect">
            <a:avLst>
              <a:gd name="adj" fmla="val 10327"/>
            </a:avLst>
          </a:prstGeom>
          <a:solidFill>
            <a:srgbClr val="111827">
              <a:alpha val="30000"/>
            </a:srgbClr>
          </a:solidFill>
          <a:ln/>
        </p:spPr>
      </p:sp>
      <p:sp>
        <p:nvSpPr>
          <p:cNvPr id="27" name="Shape 23"/>
          <p:cNvSpPr/>
          <p:nvPr/>
        </p:nvSpPr>
        <p:spPr>
          <a:xfrm>
            <a:off x="6328562" y="5210251"/>
            <a:ext cx="2143354" cy="9144"/>
          </a:xfrm>
          <a:prstGeom prst="rect">
            <a:avLst/>
          </a:prstGeom>
          <a:solidFill>
            <a:srgbClr val="1F2937"/>
          </a:solidFill>
          <a:ln/>
        </p:spPr>
      </p:sp>
      <p:sp>
        <p:nvSpPr>
          <p:cNvPr id="28" name="Shape 24"/>
          <p:cNvSpPr/>
          <p:nvPr/>
        </p:nvSpPr>
        <p:spPr>
          <a:xfrm>
            <a:off x="6442862" y="4867351"/>
            <a:ext cx="114300" cy="114300"/>
          </a:xfrm>
          <a:prstGeom prst="roundRect">
            <a:avLst>
              <a:gd name="adj" fmla="val 800000"/>
            </a:avLst>
          </a:prstGeom>
          <a:solidFill>
            <a:srgbClr val="94A3B8"/>
          </a:solidFill>
          <a:ln/>
        </p:spPr>
      </p:sp>
      <p:sp>
        <p:nvSpPr>
          <p:cNvPr id="29" name="Shape 25"/>
          <p:cNvSpPr/>
          <p:nvPr/>
        </p:nvSpPr>
        <p:spPr>
          <a:xfrm>
            <a:off x="8973007" y="3812134"/>
            <a:ext cx="2762402" cy="1114654"/>
          </a:xfrm>
          <a:prstGeom prst="roundRect">
            <a:avLst>
              <a:gd name="adj" fmla="val 8414"/>
            </a:avLst>
          </a:prstGeom>
          <a:solidFill>
            <a:srgbClr val="1E293B">
              <a:alpha val="40000"/>
            </a:srgbClr>
          </a:solidFill>
          <a:ln w="12700">
            <a:solidFill>
              <a:srgbClr val="38BDF8">
                <a:alpha val="20000"/>
              </a:srgbClr>
            </a:solidFill>
            <a:prstDash val="solid"/>
          </a:ln>
        </p:spPr>
      </p:sp>
      <p:sp>
        <p:nvSpPr>
          <p:cNvPr id="30" name="Shape 26"/>
          <p:cNvSpPr/>
          <p:nvPr/>
        </p:nvSpPr>
        <p:spPr>
          <a:xfrm>
            <a:off x="8973007" y="5038344"/>
            <a:ext cx="2762402" cy="1123798"/>
          </a:xfrm>
          <a:prstGeom prst="roundRect">
            <a:avLst>
              <a:gd name="adj" fmla="val 8275"/>
            </a:avLst>
          </a:prstGeom>
          <a:solidFill>
            <a:srgbClr val="1E293B">
              <a:alpha val="40000"/>
            </a:srgbClr>
          </a:solidFill>
          <a:ln w="12700">
            <a:solidFill>
              <a:srgbClr val="38BDF8">
                <a:alpha val="20000"/>
              </a:srgbClr>
            </a:solidFill>
            <a:prstDash val="solid"/>
          </a:ln>
        </p:spPr>
      </p:sp>
      <p:sp>
        <p:nvSpPr>
          <p:cNvPr id="31" name="Shape 27"/>
          <p:cNvSpPr/>
          <p:nvPr/>
        </p:nvSpPr>
        <p:spPr>
          <a:xfrm>
            <a:off x="9134856" y="5962802"/>
            <a:ext cx="2438705" cy="38405"/>
          </a:xfrm>
          <a:prstGeom prst="roundRect">
            <a:avLst>
              <a:gd name="adj" fmla="val 2380940"/>
            </a:avLst>
          </a:prstGeom>
          <a:solidFill>
            <a:srgbClr val="374151"/>
          </a:solidFill>
          <a:ln/>
        </p:spPr>
      </p:sp>
      <p:sp>
        <p:nvSpPr>
          <p:cNvPr id="32" name="Shape 28"/>
          <p:cNvSpPr/>
          <p:nvPr/>
        </p:nvSpPr>
        <p:spPr>
          <a:xfrm>
            <a:off x="9134856" y="5962802"/>
            <a:ext cx="2438705" cy="38405"/>
          </a:xfrm>
          <a:prstGeom prst="rect">
            <a:avLst/>
          </a:prstGeom>
          <a:solidFill>
            <a:srgbClr val="10B981"/>
          </a:solidFill>
          <a:ln/>
        </p:spPr>
      </p:sp>
      <p:sp>
        <p:nvSpPr>
          <p:cNvPr id="33" name="Text 29"/>
          <p:cNvSpPr txBox="1"/>
          <p:nvPr/>
        </p:nvSpPr>
        <p:spPr>
          <a:xfrm>
            <a:off x="657454" y="1485900"/>
            <a:ext cx="3348533" cy="219456"/>
          </a:xfrm>
          <a:prstGeom prst="rect">
            <a:avLst/>
          </a:prstGeom>
          <a:noFill/>
          <a:ln/>
        </p:spPr>
        <p:txBody>
          <a:bodyPr wrap="square" lIns="0" tIns="0" rIns="0" bIns="0" rtlCol="0" anchor="ctr"/>
          <a:lstStyle/>
          <a:p>
            <a:pPr marL="0" indent="0" algn="l">
              <a:buNone/>
            </a:pPr>
            <a:r>
              <a:rPr lang="en-US" sz="1300" b="1" dirty="0">
                <a:solidFill>
                  <a:srgbClr val="FFFFFF"/>
                </a:solidFill>
                <a:latin typeface="Space Grotesk" pitchFamily="34" charset="0"/>
                <a:ea typeface="Space Grotesk" pitchFamily="34" charset="-122"/>
                <a:cs typeface="Space Grotesk" pitchFamily="34" charset="-120"/>
              </a:rPr>
              <a:t>Breakdown of Triggered Security Rules</a:t>
            </a:r>
            <a:endParaRPr lang="en-US" sz="1300" dirty="0"/>
          </a:p>
        </p:txBody>
      </p:sp>
      <p:sp>
        <p:nvSpPr>
          <p:cNvPr id="34" name="Text 30"/>
          <p:cNvSpPr txBox="1"/>
          <p:nvPr/>
        </p:nvSpPr>
        <p:spPr>
          <a:xfrm>
            <a:off x="6671462" y="2667305"/>
            <a:ext cx="1057961" cy="143561"/>
          </a:xfrm>
          <a:prstGeom prst="rect">
            <a:avLst/>
          </a:prstGeom>
          <a:noFill/>
          <a:ln/>
        </p:spPr>
        <p:txBody>
          <a:bodyPr wrap="square" lIns="0" tIns="0" rIns="0" bIns="0" rtlCol="0" anchor="ctr"/>
          <a:lstStyle/>
          <a:p>
            <a:pPr marL="0" indent="0" algn="l">
              <a:buNone/>
            </a:pPr>
            <a:r>
              <a:rPr lang="en-US" sz="900" dirty="0">
                <a:solidFill>
                  <a:srgbClr val="9CA3AF"/>
                </a:solidFill>
                <a:latin typeface="Inter" pitchFamily="34" charset="0"/>
                <a:ea typeface="Inter" pitchFamily="34" charset="-122"/>
                <a:cs typeface="Inter" pitchFamily="34" charset="-120"/>
              </a:rPr>
              <a:t>GENERIC RULES</a:t>
            </a:r>
            <a:endParaRPr lang="en-US" sz="900" dirty="0"/>
          </a:p>
        </p:txBody>
      </p:sp>
      <p:sp>
        <p:nvSpPr>
          <p:cNvPr id="35" name="Text 31"/>
          <p:cNvSpPr txBox="1"/>
          <p:nvPr/>
        </p:nvSpPr>
        <p:spPr>
          <a:xfrm>
            <a:off x="6671462" y="2829154"/>
            <a:ext cx="967435" cy="162763"/>
          </a:xfrm>
          <a:prstGeom prst="rect">
            <a:avLst/>
          </a:prstGeom>
          <a:noFill/>
          <a:ln/>
        </p:spPr>
        <p:txBody>
          <a:bodyPr wrap="square" lIns="0" tIns="0" rIns="0" bIns="0" rtlCol="0" anchor="ctr"/>
          <a:lstStyle/>
          <a:p>
            <a:pPr marL="0" indent="0" algn="l">
              <a:buNone/>
            </a:pPr>
            <a:r>
              <a:rPr lang="en-US" sz="1000" dirty="0">
                <a:solidFill>
                  <a:srgbClr val="F3F4F6"/>
                </a:solidFill>
                <a:latin typeface="Inter" pitchFamily="34" charset="0"/>
                <a:ea typeface="Inter" pitchFamily="34" charset="-122"/>
                <a:cs typeface="Inter" pitchFamily="34" charset="-120"/>
              </a:rPr>
              <a:t>WAF Rule Set</a:t>
            </a:r>
            <a:endParaRPr lang="en-US" sz="1000" dirty="0"/>
          </a:p>
        </p:txBody>
      </p:sp>
      <p:sp>
        <p:nvSpPr>
          <p:cNvPr id="36" name="Text 32"/>
          <p:cNvSpPr txBox="1"/>
          <p:nvPr/>
        </p:nvSpPr>
        <p:spPr>
          <a:xfrm>
            <a:off x="8044891" y="2723998"/>
            <a:ext cx="443484" cy="228600"/>
          </a:xfrm>
          <a:prstGeom prst="rect">
            <a:avLst/>
          </a:prstGeom>
          <a:noFill/>
          <a:ln/>
        </p:spPr>
        <p:txBody>
          <a:bodyPr wrap="square" lIns="0" tIns="0" rIns="0" bIns="0" rtlCol="0" anchor="ctr"/>
          <a:lstStyle/>
          <a:p>
            <a:pPr marL="0" indent="0" algn="l">
              <a:buNone/>
            </a:pPr>
            <a:r>
              <a:rPr lang="en-US" sz="1300" b="1" dirty="0">
                <a:solidFill>
                  <a:srgbClr val="FFFFFF"/>
                </a:solidFill>
                <a:latin typeface="Courier New" pitchFamily="34" charset="0"/>
                <a:ea typeface="Courier New" pitchFamily="34" charset="-122"/>
                <a:cs typeface="Courier New" pitchFamily="34" charset="-120"/>
              </a:rPr>
              <a:t>58%</a:t>
            </a:r>
            <a:endParaRPr lang="en-US" sz="1300" dirty="0"/>
          </a:p>
        </p:txBody>
      </p:sp>
      <p:sp>
        <p:nvSpPr>
          <p:cNvPr id="37" name="Text 33"/>
          <p:cNvSpPr txBox="1"/>
          <p:nvPr/>
        </p:nvSpPr>
        <p:spPr>
          <a:xfrm>
            <a:off x="6671462" y="3362249"/>
            <a:ext cx="715061" cy="143561"/>
          </a:xfrm>
          <a:prstGeom prst="rect">
            <a:avLst/>
          </a:prstGeom>
          <a:noFill/>
          <a:ln/>
        </p:spPr>
        <p:txBody>
          <a:bodyPr wrap="square" lIns="0" tIns="0" rIns="0" bIns="0" rtlCol="0" anchor="ctr"/>
          <a:lstStyle/>
          <a:p>
            <a:pPr marL="0" indent="0" algn="l">
              <a:buNone/>
            </a:pPr>
            <a:r>
              <a:rPr lang="en-US" sz="900" dirty="0">
                <a:solidFill>
                  <a:srgbClr val="9CA3AF"/>
                </a:solidFill>
                <a:latin typeface="Inter" pitchFamily="34" charset="0"/>
                <a:ea typeface="Inter" pitchFamily="34" charset="-122"/>
                <a:cs typeface="Inter" pitchFamily="34" charset="-120"/>
              </a:rPr>
              <a:t>HIGH RISK</a:t>
            </a:r>
            <a:endParaRPr lang="en-US" sz="900" dirty="0"/>
          </a:p>
        </p:txBody>
      </p:sp>
      <p:sp>
        <p:nvSpPr>
          <p:cNvPr id="38" name="Text 34"/>
          <p:cNvSpPr txBox="1"/>
          <p:nvPr/>
        </p:nvSpPr>
        <p:spPr>
          <a:xfrm>
            <a:off x="6671462" y="3524098"/>
            <a:ext cx="1443838" cy="162763"/>
          </a:xfrm>
          <a:prstGeom prst="rect">
            <a:avLst/>
          </a:prstGeom>
          <a:noFill/>
          <a:ln/>
        </p:spPr>
        <p:txBody>
          <a:bodyPr wrap="square" lIns="0" tIns="0" rIns="0" bIns="0" rtlCol="0" anchor="ctr"/>
          <a:lstStyle/>
          <a:p>
            <a:pPr marL="0" indent="0" algn="l">
              <a:buNone/>
            </a:pPr>
            <a:r>
              <a:rPr lang="en-US" sz="1000" dirty="0">
                <a:solidFill>
                  <a:srgbClr val="F3F4F6"/>
                </a:solidFill>
                <a:latin typeface="Inter" pitchFamily="34" charset="0"/>
                <a:ea typeface="Inter" pitchFamily="34" charset="-122"/>
                <a:cs typeface="Inter" pitchFamily="34" charset="-120"/>
              </a:rPr>
              <a:t>SQL Injection Pattern</a:t>
            </a:r>
            <a:endParaRPr lang="en-US" sz="1000" dirty="0"/>
          </a:p>
        </p:txBody>
      </p:sp>
      <p:sp>
        <p:nvSpPr>
          <p:cNvPr id="39" name="Text 35"/>
          <p:cNvSpPr txBox="1"/>
          <p:nvPr/>
        </p:nvSpPr>
        <p:spPr>
          <a:xfrm>
            <a:off x="8044891" y="3419856"/>
            <a:ext cx="443484" cy="228600"/>
          </a:xfrm>
          <a:prstGeom prst="rect">
            <a:avLst/>
          </a:prstGeom>
          <a:noFill/>
          <a:ln/>
        </p:spPr>
        <p:txBody>
          <a:bodyPr wrap="square" lIns="0" tIns="0" rIns="0" bIns="0" rtlCol="0" anchor="ctr"/>
          <a:lstStyle/>
          <a:p>
            <a:pPr marL="0" indent="0" algn="l">
              <a:buNone/>
            </a:pPr>
            <a:r>
              <a:rPr lang="en-US" sz="1300" b="1" dirty="0">
                <a:solidFill>
                  <a:srgbClr val="818CF8"/>
                </a:solidFill>
                <a:latin typeface="Courier New" pitchFamily="34" charset="0"/>
                <a:ea typeface="Courier New" pitchFamily="34" charset="-122"/>
                <a:cs typeface="Courier New" pitchFamily="34" charset="-120"/>
              </a:rPr>
              <a:t>22%</a:t>
            </a:r>
            <a:endParaRPr lang="en-US" sz="1300" dirty="0"/>
          </a:p>
        </p:txBody>
      </p:sp>
      <p:sp>
        <p:nvSpPr>
          <p:cNvPr id="40" name="Text 36"/>
          <p:cNvSpPr txBox="1"/>
          <p:nvPr/>
        </p:nvSpPr>
        <p:spPr>
          <a:xfrm>
            <a:off x="6671462" y="4058107"/>
            <a:ext cx="848563" cy="143561"/>
          </a:xfrm>
          <a:prstGeom prst="rect">
            <a:avLst/>
          </a:prstGeom>
          <a:noFill/>
          <a:ln/>
        </p:spPr>
        <p:txBody>
          <a:bodyPr wrap="square" lIns="0" tIns="0" rIns="0" bIns="0" rtlCol="0" anchor="ctr"/>
          <a:lstStyle/>
          <a:p>
            <a:pPr marL="0" indent="0" algn="l">
              <a:buNone/>
            </a:pPr>
            <a:r>
              <a:rPr lang="en-US" sz="900" dirty="0">
                <a:solidFill>
                  <a:srgbClr val="9CA3AF"/>
                </a:solidFill>
                <a:latin typeface="Inter" pitchFamily="34" charset="0"/>
                <a:ea typeface="Inter" pitchFamily="34" charset="-122"/>
                <a:cs typeface="Inter" pitchFamily="34" charset="-120"/>
              </a:rPr>
              <a:t>CLIENT SIDE</a:t>
            </a:r>
            <a:endParaRPr lang="en-US" sz="900" dirty="0"/>
          </a:p>
        </p:txBody>
      </p:sp>
      <p:sp>
        <p:nvSpPr>
          <p:cNvPr id="41" name="Text 37"/>
          <p:cNvSpPr txBox="1"/>
          <p:nvPr/>
        </p:nvSpPr>
        <p:spPr>
          <a:xfrm>
            <a:off x="6671462" y="4219956"/>
            <a:ext cx="909828" cy="162763"/>
          </a:xfrm>
          <a:prstGeom prst="rect">
            <a:avLst/>
          </a:prstGeom>
          <a:noFill/>
          <a:ln/>
        </p:spPr>
        <p:txBody>
          <a:bodyPr wrap="square" lIns="0" tIns="0" rIns="0" bIns="0" rtlCol="0" anchor="ctr"/>
          <a:lstStyle/>
          <a:p>
            <a:pPr marL="0" indent="0" algn="l">
              <a:buNone/>
            </a:pPr>
            <a:r>
              <a:rPr lang="en-US" sz="1000" dirty="0">
                <a:solidFill>
                  <a:srgbClr val="F3F4F6"/>
                </a:solidFill>
                <a:latin typeface="Inter" pitchFamily="34" charset="0"/>
                <a:ea typeface="Inter" pitchFamily="34" charset="-122"/>
                <a:cs typeface="Inter" pitchFamily="34" charset="-120"/>
              </a:rPr>
              <a:t>XSS Attempt</a:t>
            </a:r>
            <a:endParaRPr lang="en-US" sz="1000" dirty="0"/>
          </a:p>
        </p:txBody>
      </p:sp>
      <p:sp>
        <p:nvSpPr>
          <p:cNvPr id="42" name="Text 38"/>
          <p:cNvSpPr txBox="1"/>
          <p:nvPr/>
        </p:nvSpPr>
        <p:spPr>
          <a:xfrm>
            <a:off x="8044891" y="4114800"/>
            <a:ext cx="443484" cy="228600"/>
          </a:xfrm>
          <a:prstGeom prst="rect">
            <a:avLst/>
          </a:prstGeom>
          <a:noFill/>
          <a:ln/>
        </p:spPr>
        <p:txBody>
          <a:bodyPr wrap="square" lIns="0" tIns="0" rIns="0" bIns="0" rtlCol="0" anchor="ctr"/>
          <a:lstStyle/>
          <a:p>
            <a:pPr marL="0" indent="0" algn="l">
              <a:buNone/>
            </a:pPr>
            <a:r>
              <a:rPr lang="en-US" sz="1300" b="1" dirty="0">
                <a:solidFill>
                  <a:srgbClr val="F472B6"/>
                </a:solidFill>
                <a:latin typeface="Courier New" pitchFamily="34" charset="0"/>
                <a:ea typeface="Courier New" pitchFamily="34" charset="-122"/>
                <a:cs typeface="Courier New" pitchFamily="34" charset="-120"/>
              </a:rPr>
              <a:t>12%</a:t>
            </a:r>
            <a:endParaRPr lang="en-US" sz="1300" dirty="0"/>
          </a:p>
        </p:txBody>
      </p:sp>
      <p:sp>
        <p:nvSpPr>
          <p:cNvPr id="43" name="Text 39"/>
          <p:cNvSpPr txBox="1"/>
          <p:nvPr/>
        </p:nvSpPr>
        <p:spPr>
          <a:xfrm>
            <a:off x="6671462" y="4753051"/>
            <a:ext cx="1133856" cy="143561"/>
          </a:xfrm>
          <a:prstGeom prst="rect">
            <a:avLst/>
          </a:prstGeom>
          <a:noFill/>
          <a:ln/>
        </p:spPr>
        <p:txBody>
          <a:bodyPr wrap="square" lIns="0" tIns="0" rIns="0" bIns="0" rtlCol="0" anchor="ctr"/>
          <a:lstStyle/>
          <a:p>
            <a:pPr marL="0" indent="0" algn="l">
              <a:buNone/>
            </a:pPr>
            <a:r>
              <a:rPr lang="en-US" sz="900" dirty="0">
                <a:solidFill>
                  <a:srgbClr val="9CA3AF"/>
                </a:solidFill>
                <a:latin typeface="Inter" pitchFamily="34" charset="0"/>
                <a:ea typeface="Inter" pitchFamily="34" charset="-122"/>
                <a:cs typeface="Inter" pitchFamily="34" charset="-120"/>
              </a:rPr>
              <a:t>UNCATEGORIZED</a:t>
            </a:r>
            <a:endParaRPr lang="en-US" sz="900" dirty="0"/>
          </a:p>
        </p:txBody>
      </p:sp>
      <p:sp>
        <p:nvSpPr>
          <p:cNvPr id="44" name="Text 40"/>
          <p:cNvSpPr txBox="1"/>
          <p:nvPr/>
        </p:nvSpPr>
        <p:spPr>
          <a:xfrm>
            <a:off x="6671462" y="4914900"/>
            <a:ext cx="1185977" cy="162763"/>
          </a:xfrm>
          <a:prstGeom prst="rect">
            <a:avLst/>
          </a:prstGeom>
          <a:noFill/>
          <a:ln/>
        </p:spPr>
        <p:txBody>
          <a:bodyPr wrap="square" lIns="0" tIns="0" rIns="0" bIns="0" rtlCol="0" anchor="ctr"/>
          <a:lstStyle/>
          <a:p>
            <a:pPr marL="0" indent="0" algn="l">
              <a:buNone/>
            </a:pPr>
            <a:r>
              <a:rPr lang="en-US" sz="1000" dirty="0">
                <a:solidFill>
                  <a:srgbClr val="F3F4F6"/>
                </a:solidFill>
                <a:latin typeface="Inter" pitchFamily="34" charset="0"/>
                <a:ea typeface="Inter" pitchFamily="34" charset="-122"/>
                <a:cs typeface="Inter" pitchFamily="34" charset="-120"/>
              </a:rPr>
              <a:t>Other / Unknown</a:t>
            </a:r>
            <a:endParaRPr lang="en-US" sz="1000" dirty="0"/>
          </a:p>
        </p:txBody>
      </p:sp>
      <p:sp>
        <p:nvSpPr>
          <p:cNvPr id="45" name="Text 41"/>
          <p:cNvSpPr txBox="1"/>
          <p:nvPr/>
        </p:nvSpPr>
        <p:spPr>
          <a:xfrm>
            <a:off x="8147304" y="4809744"/>
            <a:ext cx="338328" cy="228600"/>
          </a:xfrm>
          <a:prstGeom prst="rect">
            <a:avLst/>
          </a:prstGeom>
          <a:noFill/>
          <a:ln/>
        </p:spPr>
        <p:txBody>
          <a:bodyPr wrap="square" lIns="0" tIns="0" rIns="0" bIns="0" rtlCol="0" anchor="ctr"/>
          <a:lstStyle/>
          <a:p>
            <a:pPr marL="0" indent="0" algn="l">
              <a:buNone/>
            </a:pPr>
            <a:r>
              <a:rPr lang="en-US" sz="1300" b="1" dirty="0">
                <a:solidFill>
                  <a:srgbClr val="9CA3AF"/>
                </a:solidFill>
                <a:latin typeface="Courier New" pitchFamily="34" charset="0"/>
                <a:ea typeface="Courier New" pitchFamily="34" charset="-122"/>
                <a:cs typeface="Courier New" pitchFamily="34" charset="-120"/>
              </a:rPr>
              <a:t>8%</a:t>
            </a:r>
            <a:endParaRPr lang="en-US" sz="1300" dirty="0"/>
          </a:p>
        </p:txBody>
      </p:sp>
      <p:sp>
        <p:nvSpPr>
          <p:cNvPr id="46" name="Text 42"/>
          <p:cNvSpPr txBox="1"/>
          <p:nvPr/>
        </p:nvSpPr>
        <p:spPr>
          <a:xfrm>
            <a:off x="9134856" y="4025189"/>
            <a:ext cx="1105510" cy="143561"/>
          </a:xfrm>
          <a:prstGeom prst="rect">
            <a:avLst/>
          </a:prstGeom>
          <a:noFill/>
          <a:ln/>
        </p:spPr>
        <p:txBody>
          <a:bodyPr wrap="square" lIns="0" tIns="0" rIns="0" bIns="0" rtlCol="0" anchor="ctr"/>
          <a:lstStyle/>
          <a:p>
            <a:pPr marL="0" indent="0" algn="l">
              <a:buNone/>
            </a:pPr>
            <a:r>
              <a:rPr lang="en-US" sz="900" b="1" dirty="0">
                <a:solidFill>
                  <a:srgbClr val="9CA3AF"/>
                </a:solidFill>
                <a:latin typeface="Inter" pitchFamily="34" charset="0"/>
                <a:ea typeface="Inter" pitchFamily="34" charset="-122"/>
                <a:cs typeface="Inter" pitchFamily="34" charset="-120"/>
              </a:rPr>
              <a:t>PRIMARY THREAT</a:t>
            </a:r>
            <a:endParaRPr lang="en-US" sz="900" dirty="0"/>
          </a:p>
        </p:txBody>
      </p:sp>
      <p:sp>
        <p:nvSpPr>
          <p:cNvPr id="47" name="Text 43"/>
          <p:cNvSpPr txBox="1"/>
          <p:nvPr/>
        </p:nvSpPr>
        <p:spPr>
          <a:xfrm>
            <a:off x="9134856" y="4216298"/>
            <a:ext cx="1962302" cy="305410"/>
          </a:xfrm>
          <a:prstGeom prst="rect">
            <a:avLst/>
          </a:prstGeom>
          <a:noFill/>
          <a:ln/>
        </p:spPr>
        <p:txBody>
          <a:bodyPr wrap="square" lIns="0" tIns="0" rIns="0" bIns="0" rtlCol="0" anchor="ctr"/>
          <a:lstStyle/>
          <a:p>
            <a:pPr marL="0" indent="0" algn="l">
              <a:buNone/>
            </a:pPr>
            <a:r>
              <a:rPr lang="en-US" sz="1800" b="1" dirty="0">
                <a:solidFill>
                  <a:srgbClr val="818CF8"/>
                </a:solidFill>
                <a:latin typeface="Courier New" pitchFamily="34" charset="0"/>
                <a:ea typeface="Courier New" pitchFamily="34" charset="-122"/>
                <a:cs typeface="Courier New" pitchFamily="34" charset="-120"/>
              </a:rPr>
              <a:t>SQL Injection</a:t>
            </a:r>
            <a:endParaRPr lang="en-US" sz="1800" dirty="0"/>
          </a:p>
        </p:txBody>
      </p:sp>
      <p:sp>
        <p:nvSpPr>
          <p:cNvPr id="48" name="Text 44"/>
          <p:cNvSpPr txBox="1"/>
          <p:nvPr/>
        </p:nvSpPr>
        <p:spPr>
          <a:xfrm>
            <a:off x="9134856" y="4559198"/>
            <a:ext cx="1239012" cy="143561"/>
          </a:xfrm>
          <a:prstGeom prst="rect">
            <a:avLst/>
          </a:prstGeom>
          <a:noFill/>
          <a:ln/>
        </p:spPr>
        <p:txBody>
          <a:bodyPr wrap="square" lIns="0" tIns="0" rIns="0" bIns="0" rtlCol="0" anchor="ctr"/>
          <a:lstStyle/>
          <a:p>
            <a:pPr marL="0" indent="0" algn="l">
              <a:buNone/>
            </a:pPr>
            <a:r>
              <a:rPr lang="en-US" sz="900" dirty="0">
                <a:solidFill>
                  <a:srgbClr val="6B7280"/>
                </a:solidFill>
                <a:latin typeface="Inter" pitchFamily="34" charset="0"/>
                <a:ea typeface="Inter" pitchFamily="34" charset="-122"/>
                <a:cs typeface="Inter" pitchFamily="34" charset="-120"/>
              </a:rPr>
              <a:t>High Severity Pattern</a:t>
            </a:r>
            <a:endParaRPr lang="en-US" sz="900" dirty="0"/>
          </a:p>
        </p:txBody>
      </p:sp>
      <p:sp>
        <p:nvSpPr>
          <p:cNvPr id="49" name="Text 45"/>
          <p:cNvSpPr txBox="1"/>
          <p:nvPr/>
        </p:nvSpPr>
        <p:spPr>
          <a:xfrm>
            <a:off x="9134856" y="5201107"/>
            <a:ext cx="810158" cy="143561"/>
          </a:xfrm>
          <a:prstGeom prst="rect">
            <a:avLst/>
          </a:prstGeom>
          <a:noFill/>
          <a:ln/>
        </p:spPr>
        <p:txBody>
          <a:bodyPr wrap="square" lIns="0" tIns="0" rIns="0" bIns="0" rtlCol="0" anchor="ctr"/>
          <a:lstStyle/>
          <a:p>
            <a:pPr marL="0" indent="0" algn="l">
              <a:buNone/>
            </a:pPr>
            <a:r>
              <a:rPr lang="en-US" sz="900" b="1" dirty="0">
                <a:solidFill>
                  <a:srgbClr val="9CA3AF"/>
                </a:solidFill>
                <a:latin typeface="Inter" pitchFamily="34" charset="0"/>
                <a:ea typeface="Inter" pitchFamily="34" charset="-122"/>
                <a:cs typeface="Inter" pitchFamily="34" charset="-120"/>
              </a:rPr>
              <a:t>BLOCK RATE</a:t>
            </a:r>
            <a:endParaRPr lang="en-US" sz="900" dirty="0"/>
          </a:p>
        </p:txBody>
      </p:sp>
      <p:sp>
        <p:nvSpPr>
          <p:cNvPr id="50" name="Text 46"/>
          <p:cNvSpPr txBox="1"/>
          <p:nvPr/>
        </p:nvSpPr>
        <p:spPr>
          <a:xfrm>
            <a:off x="9134856" y="5391302"/>
            <a:ext cx="724205" cy="305410"/>
          </a:xfrm>
          <a:prstGeom prst="rect">
            <a:avLst/>
          </a:prstGeom>
          <a:noFill/>
          <a:ln/>
        </p:spPr>
        <p:txBody>
          <a:bodyPr wrap="square" lIns="0" tIns="0" rIns="0" bIns="0" rtlCol="0" anchor="ctr"/>
          <a:lstStyle/>
          <a:p>
            <a:pPr marL="0" indent="0" algn="l">
              <a:buNone/>
            </a:pPr>
            <a:r>
              <a:rPr lang="en-US" sz="1800" b="1" dirty="0">
                <a:solidFill>
                  <a:srgbClr val="34D399"/>
                </a:solidFill>
                <a:latin typeface="Courier New" pitchFamily="34" charset="0"/>
                <a:ea typeface="Courier New" pitchFamily="34" charset="-122"/>
                <a:cs typeface="Courier New" pitchFamily="34" charset="-120"/>
              </a:rPr>
              <a:t>100%</a:t>
            </a:r>
            <a:endParaRPr lang="en-US" sz="1800" dirty="0"/>
          </a:p>
        </p:txBody>
      </p:sp>
      <p:sp>
        <p:nvSpPr>
          <p:cNvPr id="51" name="Text 47"/>
          <p:cNvSpPr txBox="1"/>
          <p:nvPr/>
        </p:nvSpPr>
        <p:spPr>
          <a:xfrm>
            <a:off x="9134856" y="5734202"/>
            <a:ext cx="1286561" cy="143561"/>
          </a:xfrm>
          <a:prstGeom prst="rect">
            <a:avLst/>
          </a:prstGeom>
          <a:noFill/>
          <a:ln/>
        </p:spPr>
        <p:txBody>
          <a:bodyPr wrap="square" lIns="0" tIns="0" rIns="0" bIns="0" rtlCol="0" anchor="ctr"/>
          <a:lstStyle/>
          <a:p>
            <a:pPr marL="0" indent="0" algn="l">
              <a:buNone/>
            </a:pPr>
            <a:r>
              <a:rPr lang="en-US" sz="900" dirty="0">
                <a:solidFill>
                  <a:srgbClr val="6B7280"/>
                </a:solidFill>
                <a:latin typeface="Inter" pitchFamily="34" charset="0"/>
                <a:ea typeface="Inter" pitchFamily="34" charset="-122"/>
                <a:cs typeface="Inter" pitchFamily="34" charset="-120"/>
              </a:rPr>
              <a:t>Automated Prevention</a:t>
            </a:r>
            <a:endParaRPr lang="en-US" sz="900" dirty="0"/>
          </a:p>
        </p:txBody>
      </p:sp>
      <p:pic>
        <p:nvPicPr>
          <p:cNvPr id="52" name="Image 2" descr="preencoded.png"/>
          <p:cNvPicPr>
            <a:picLocks noChangeAspect="1"/>
          </p:cNvPicPr>
          <p:nvPr/>
        </p:nvPicPr>
        <p:blipFill>
          <a:blip r:embed="rId5"/>
          <a:srcRect l="-89" r="-89"/>
          <a:stretch/>
        </p:blipFill>
        <p:spPr>
          <a:xfrm>
            <a:off x="657454" y="1886407"/>
            <a:ext cx="5524805" cy="4000500"/>
          </a:xfrm>
          <a:prstGeom prst="rect">
            <a:avLst/>
          </a:prstGeom>
        </p:spPr>
      </p:pic>
      <p:sp>
        <p:nvSpPr>
          <p:cNvPr id="53" name="Text 48"/>
          <p:cNvSpPr txBox="1"/>
          <p:nvPr/>
        </p:nvSpPr>
        <p:spPr>
          <a:xfrm>
            <a:off x="3004718" y="3448202"/>
            <a:ext cx="1172261" cy="600761"/>
          </a:xfrm>
          <a:prstGeom prst="rect">
            <a:avLst/>
          </a:prstGeom>
          <a:noFill/>
          <a:ln/>
        </p:spPr>
        <p:txBody>
          <a:bodyPr wrap="square" lIns="0" tIns="0" rIns="0" bIns="0" rtlCol="0" anchor="ctr"/>
          <a:lstStyle/>
          <a:p>
            <a:pPr marL="0" indent="0" algn="l">
              <a:buNone/>
            </a:pPr>
            <a:r>
              <a:rPr lang="en-US" sz="3600" b="1" dirty="0">
                <a:solidFill>
                  <a:srgbClr val="FFFFFF"/>
                </a:solidFill>
                <a:latin typeface="Courier New" pitchFamily="34" charset="0"/>
                <a:ea typeface="Courier New" pitchFamily="34" charset="-122"/>
                <a:cs typeface="Courier New" pitchFamily="34" charset="-120"/>
              </a:rPr>
              <a:t>282</a:t>
            </a:r>
            <a:endParaRPr lang="en-US" sz="3600" dirty="0"/>
          </a:p>
        </p:txBody>
      </p:sp>
      <p:sp>
        <p:nvSpPr>
          <p:cNvPr id="54" name="Text 49"/>
          <p:cNvSpPr txBox="1"/>
          <p:nvPr/>
        </p:nvSpPr>
        <p:spPr>
          <a:xfrm>
            <a:off x="2926080" y="4019702"/>
            <a:ext cx="1067105" cy="143561"/>
          </a:xfrm>
          <a:prstGeom prst="rect">
            <a:avLst/>
          </a:prstGeom>
          <a:noFill/>
          <a:ln/>
        </p:spPr>
        <p:txBody>
          <a:bodyPr wrap="square" lIns="0" tIns="0" rIns="0" bIns="0" rtlCol="0" anchor="ctr"/>
          <a:lstStyle/>
          <a:p>
            <a:pPr marL="0" indent="0" algn="l">
              <a:buNone/>
            </a:pPr>
            <a:r>
              <a:rPr lang="en-US" sz="900" dirty="0">
                <a:solidFill>
                  <a:srgbClr val="9CA3AF"/>
                </a:solidFill>
                <a:latin typeface="Inter" pitchFamily="34" charset="0"/>
                <a:ea typeface="Inter" pitchFamily="34" charset="-122"/>
                <a:cs typeface="Inter" pitchFamily="34" charset="-120"/>
              </a:rPr>
              <a:t>TOTAL EVENTS</a:t>
            </a:r>
            <a:endParaRPr lang="en-US" sz="900" dirty="0"/>
          </a:p>
        </p:txBody>
      </p:sp>
      <p:sp>
        <p:nvSpPr>
          <p:cNvPr id="55" name="Shape 50"/>
          <p:cNvSpPr/>
          <p:nvPr/>
        </p:nvSpPr>
        <p:spPr>
          <a:xfrm>
            <a:off x="8973007" y="1266444"/>
            <a:ext cx="2762402" cy="2400300"/>
          </a:xfrm>
          <a:prstGeom prst="rect">
            <a:avLst/>
          </a:prstGeom>
          <a:solidFill>
            <a:srgbClr val="0F172A">
              <a:alpha val="80000"/>
            </a:srgbClr>
          </a:solidFill>
          <a:ln/>
          <a:effectLst>
            <a:outerShdw blurRad="190500" dist="38100" dir="5400000" algn="bl" rotWithShape="0">
              <a:srgbClr val="000000">
                <a:alpha val="30000"/>
              </a:srgbClr>
            </a:outerShdw>
          </a:effectLst>
        </p:spPr>
      </p:sp>
      <p:sp>
        <p:nvSpPr>
          <p:cNvPr id="56" name="Shape 51"/>
          <p:cNvSpPr/>
          <p:nvPr/>
        </p:nvSpPr>
        <p:spPr>
          <a:xfrm>
            <a:off x="8973007" y="1266444"/>
            <a:ext cx="38405" cy="2400300"/>
          </a:xfrm>
          <a:prstGeom prst="rect">
            <a:avLst/>
          </a:prstGeom>
          <a:solidFill>
            <a:srgbClr val="38BDF8"/>
          </a:solidFill>
          <a:ln/>
        </p:spPr>
      </p:sp>
      <p:sp>
        <p:nvSpPr>
          <p:cNvPr id="57" name="Shape 52"/>
          <p:cNvSpPr/>
          <p:nvPr/>
        </p:nvSpPr>
        <p:spPr>
          <a:xfrm>
            <a:off x="9163202" y="1152144"/>
            <a:ext cx="1123798" cy="228600"/>
          </a:xfrm>
          <a:prstGeom prst="roundRect">
            <a:avLst>
              <a:gd name="adj" fmla="val 400000"/>
            </a:avLst>
          </a:prstGeom>
          <a:solidFill>
            <a:srgbClr val="6366F1"/>
          </a:solidFill>
          <a:ln/>
        </p:spPr>
      </p:sp>
      <p:sp>
        <p:nvSpPr>
          <p:cNvPr id="58" name="Text 53"/>
          <p:cNvSpPr txBox="1"/>
          <p:nvPr/>
        </p:nvSpPr>
        <p:spPr>
          <a:xfrm>
            <a:off x="9277502" y="1190549"/>
            <a:ext cx="981151" cy="143561"/>
          </a:xfrm>
          <a:prstGeom prst="rect">
            <a:avLst/>
          </a:prstGeom>
          <a:noFill/>
          <a:ln/>
        </p:spPr>
        <p:txBody>
          <a:bodyPr wrap="square" lIns="0" tIns="0" rIns="0" bIns="0" rtlCol="0" anchor="ctr"/>
          <a:lstStyle/>
          <a:p>
            <a:pPr marL="0" indent="0" algn="l">
              <a:buNone/>
            </a:pPr>
            <a:r>
              <a:rPr lang="en-US" sz="900" b="1" dirty="0">
                <a:solidFill>
                  <a:srgbClr val="FFFFFF"/>
                </a:solidFill>
                <a:latin typeface="Inter" pitchFamily="34" charset="0"/>
                <a:ea typeface="Inter" pitchFamily="34" charset="-122"/>
                <a:cs typeface="Inter" pitchFamily="34" charset="-120"/>
              </a:rPr>
              <a:t>CORE INSIGHT</a:t>
            </a:r>
            <a:endParaRPr lang="en-US" sz="900" dirty="0"/>
          </a:p>
        </p:txBody>
      </p:sp>
      <p:pic>
        <p:nvPicPr>
          <p:cNvPr id="59" name="Image 3" descr="preencoded.png"/>
          <p:cNvPicPr>
            <a:picLocks noChangeAspect="1"/>
          </p:cNvPicPr>
          <p:nvPr/>
        </p:nvPicPr>
        <p:blipFill>
          <a:blip r:embed="rId6"/>
          <a:srcRect l="-133" r="-133"/>
          <a:stretch/>
        </p:blipFill>
        <p:spPr>
          <a:xfrm>
            <a:off x="9201607" y="1533449"/>
            <a:ext cx="171907" cy="228600"/>
          </a:xfrm>
          <a:prstGeom prst="rect">
            <a:avLst/>
          </a:prstGeom>
        </p:spPr>
      </p:pic>
      <p:sp>
        <p:nvSpPr>
          <p:cNvPr id="60" name="Text 54"/>
          <p:cNvSpPr txBox="1"/>
          <p:nvPr/>
        </p:nvSpPr>
        <p:spPr>
          <a:xfrm>
            <a:off x="9201607" y="1886407"/>
            <a:ext cx="1452982" cy="219456"/>
          </a:xfrm>
          <a:prstGeom prst="rect">
            <a:avLst/>
          </a:prstGeom>
          <a:noFill/>
          <a:ln/>
        </p:spPr>
        <p:txBody>
          <a:bodyPr wrap="square" lIns="0" tIns="0" rIns="0" bIns="0" rtlCol="0" anchor="ctr"/>
          <a:lstStyle/>
          <a:p>
            <a:pPr marL="0" indent="0" algn="l">
              <a:buNone/>
            </a:pPr>
            <a:r>
              <a:rPr lang="en-US" sz="1300" b="1" dirty="0">
                <a:solidFill>
                  <a:srgbClr val="FFFFFF"/>
                </a:solidFill>
                <a:latin typeface="Space Grotesk" pitchFamily="34" charset="0"/>
                <a:ea typeface="Space Grotesk" pitchFamily="34" charset="-122"/>
                <a:cs typeface="Space Grotesk" pitchFamily="34" charset="-120"/>
              </a:rPr>
              <a:t>WAF Dominance</a:t>
            </a:r>
            <a:endParaRPr lang="en-US" sz="1300" dirty="0"/>
          </a:p>
        </p:txBody>
      </p:sp>
      <p:sp>
        <p:nvSpPr>
          <p:cNvPr id="61" name="Text 55"/>
          <p:cNvSpPr txBox="1"/>
          <p:nvPr/>
        </p:nvSpPr>
        <p:spPr>
          <a:xfrm>
            <a:off x="9201607" y="2229307"/>
            <a:ext cx="2119579" cy="600761"/>
          </a:xfrm>
          <a:prstGeom prst="rect">
            <a:avLst/>
          </a:prstGeom>
          <a:noFill/>
          <a:ln/>
        </p:spPr>
        <p:txBody>
          <a:bodyPr wrap="square" lIns="0" tIns="0" rIns="0" bIns="0" rtlCol="0" anchor="ctr"/>
          <a:lstStyle/>
          <a:p>
            <a:pPr marL="0" indent="0" algn="l">
              <a:buNone/>
            </a:pPr>
            <a:r>
              <a:rPr lang="en-US" sz="1000" dirty="0">
                <a:solidFill>
                  <a:srgbClr val="D1D5DB"/>
                </a:solidFill>
                <a:latin typeface="Inter" pitchFamily="34" charset="0"/>
                <a:ea typeface="Inter" pitchFamily="34" charset="-122"/>
                <a:cs typeface="Inter" pitchFamily="34" charset="-120"/>
              </a:rPr>
              <a:t>A significant majority of records were intercepted by AWS WAF Rules.</a:t>
            </a:r>
            <a:endParaRPr lang="en-US" sz="1000" dirty="0"/>
          </a:p>
        </p:txBody>
      </p:sp>
      <p:sp>
        <p:nvSpPr>
          <p:cNvPr id="62" name="Shape 56"/>
          <p:cNvSpPr/>
          <p:nvPr/>
        </p:nvSpPr>
        <p:spPr>
          <a:xfrm>
            <a:off x="9201607" y="2974543"/>
            <a:ext cx="2343607" cy="9144"/>
          </a:xfrm>
          <a:prstGeom prst="rect">
            <a:avLst/>
          </a:prstGeom>
          <a:solidFill>
            <a:srgbClr val="374151"/>
          </a:solidFill>
          <a:ln/>
        </p:spPr>
      </p:sp>
      <p:pic>
        <p:nvPicPr>
          <p:cNvPr id="63" name="Image 4" descr="preencoded.png"/>
          <p:cNvPicPr>
            <a:picLocks noChangeAspect="1"/>
          </p:cNvPicPr>
          <p:nvPr/>
        </p:nvPicPr>
        <p:blipFill>
          <a:blip r:embed="rId7"/>
          <a:srcRect/>
          <a:stretch/>
        </p:blipFill>
        <p:spPr>
          <a:xfrm>
            <a:off x="9201607" y="3130906"/>
            <a:ext cx="114300" cy="114300"/>
          </a:xfrm>
          <a:prstGeom prst="rect">
            <a:avLst/>
          </a:prstGeom>
        </p:spPr>
      </p:pic>
      <p:sp>
        <p:nvSpPr>
          <p:cNvPr id="64" name="Text 57"/>
          <p:cNvSpPr txBox="1"/>
          <p:nvPr/>
        </p:nvSpPr>
        <p:spPr>
          <a:xfrm>
            <a:off x="9201607" y="3117190"/>
            <a:ext cx="2220163" cy="333756"/>
          </a:xfrm>
          <a:prstGeom prst="rect">
            <a:avLst/>
          </a:prstGeom>
          <a:noFill/>
          <a:ln/>
        </p:spPr>
        <p:txBody>
          <a:bodyPr wrap="square" lIns="0" tIns="0" rIns="0" bIns="0" rtlCol="0" anchor="ctr"/>
          <a:lstStyle/>
          <a:p>
            <a:pPr marL="0" indent="0" algn="l">
              <a:buNone/>
            </a:pPr>
            <a:r>
              <a:rPr lang="en-US" sz="900" dirty="0">
                <a:solidFill>
                  <a:srgbClr val="9CA3AF"/>
                </a:solidFill>
                <a:latin typeface="Inter" pitchFamily="34" charset="0"/>
                <a:ea typeface="Inter" pitchFamily="34" charset="-122"/>
                <a:cs typeface="Inter" pitchFamily="34" charset="-120"/>
              </a:rPr>
              <a:t>confirms the dataset is composed of suspicious activity.</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120"/>
          </a:solidFill>
          <a:ln/>
        </p:spPr>
      </p:sp>
      <p:sp>
        <p:nvSpPr>
          <p:cNvPr id="3" name="Shape 1"/>
          <p:cNvSpPr/>
          <p:nvPr/>
        </p:nvSpPr>
        <p:spPr>
          <a:xfrm>
            <a:off x="0" y="0"/>
            <a:ext cx="12191695" cy="6858000"/>
          </a:xfrm>
          <a:prstGeom prst="rect">
            <a:avLst/>
          </a:prstGeom>
          <a:solidFill>
            <a:srgbClr val="0B1120"/>
          </a:solidFill>
          <a:ln/>
        </p:spPr>
      </p:sp>
      <p:sp>
        <p:nvSpPr>
          <p:cNvPr id="4" name="Shape 2"/>
          <p:cNvSpPr/>
          <p:nvPr/>
        </p:nvSpPr>
        <p:spPr>
          <a:xfrm>
            <a:off x="8534095" y="0"/>
            <a:ext cx="3657600" cy="3657600"/>
          </a:xfrm>
          <a:prstGeom prst="roundRect">
            <a:avLst>
              <a:gd name="adj" fmla="val 25000"/>
            </a:avLst>
          </a:prstGeom>
          <a:solidFill>
            <a:srgbClr val="1E3A8A">
              <a:alpha val="10000"/>
            </a:srgbClr>
          </a:solidFill>
          <a:ln/>
        </p:spPr>
      </p:sp>
      <p:sp>
        <p:nvSpPr>
          <p:cNvPr id="5" name="Shape 3"/>
          <p:cNvSpPr/>
          <p:nvPr/>
        </p:nvSpPr>
        <p:spPr>
          <a:xfrm>
            <a:off x="0" y="3200400"/>
            <a:ext cx="3657600" cy="3657600"/>
          </a:xfrm>
          <a:prstGeom prst="roundRect">
            <a:avLst>
              <a:gd name="adj" fmla="val 25000"/>
            </a:avLst>
          </a:prstGeom>
          <a:solidFill>
            <a:srgbClr val="312E81">
              <a:alpha val="10000"/>
            </a:srgbClr>
          </a:solidFill>
          <a:ln/>
        </p:spPr>
      </p:sp>
      <p:sp>
        <p:nvSpPr>
          <p:cNvPr id="6" name="Shape 4"/>
          <p:cNvSpPr/>
          <p:nvPr/>
        </p:nvSpPr>
        <p:spPr>
          <a:xfrm>
            <a:off x="457200" y="6391656"/>
            <a:ext cx="11277295" cy="9144"/>
          </a:xfrm>
          <a:prstGeom prst="rect">
            <a:avLst/>
          </a:prstGeom>
          <a:solidFill>
            <a:srgbClr val="1F2937"/>
          </a:solidFill>
          <a:ln/>
        </p:spPr>
      </p:sp>
      <p:sp>
        <p:nvSpPr>
          <p:cNvPr id="8" name="Text 6"/>
          <p:cNvSpPr txBox="1"/>
          <p:nvPr/>
        </p:nvSpPr>
        <p:spPr>
          <a:xfrm>
            <a:off x="10791714" y="6537205"/>
            <a:ext cx="972007" cy="54810"/>
          </a:xfrm>
          <a:prstGeom prst="rect">
            <a:avLst/>
          </a:prstGeom>
          <a:noFill/>
          <a:ln/>
        </p:spPr>
        <p:txBody>
          <a:bodyPr wrap="square" lIns="0" tIns="0" rIns="0" bIns="0" rtlCol="0" anchor="ctr"/>
          <a:lstStyle/>
          <a:p>
            <a:pPr marL="0" indent="0" algn="l">
              <a:buNone/>
            </a:pPr>
            <a:r>
              <a:rPr lang="en-US" sz="900" dirty="0">
                <a:solidFill>
                  <a:srgbClr val="4B5563"/>
                </a:solidFill>
                <a:latin typeface="ui-monospace" pitchFamily="34" charset="0"/>
                <a:ea typeface="ui-monospace" pitchFamily="34" charset="-122"/>
                <a:cs typeface="ui-monospace" pitchFamily="34" charset="-120"/>
              </a:rPr>
              <a:t>SLIDE 11</a:t>
            </a:r>
            <a:endParaRPr lang="en-US" sz="900" dirty="0"/>
          </a:p>
        </p:txBody>
      </p:sp>
      <p:sp>
        <p:nvSpPr>
          <p:cNvPr id="9" name="Shape 7"/>
          <p:cNvSpPr/>
          <p:nvPr/>
        </p:nvSpPr>
        <p:spPr>
          <a:xfrm>
            <a:off x="0" y="1028700"/>
            <a:ext cx="12191695" cy="9144"/>
          </a:xfrm>
          <a:prstGeom prst="rect">
            <a:avLst/>
          </a:prstGeom>
          <a:solidFill>
            <a:srgbClr val="1F2937"/>
          </a:solidFill>
          <a:ln/>
        </p:spPr>
      </p:sp>
      <p:pic>
        <p:nvPicPr>
          <p:cNvPr id="10" name="Image 0" descr="preencoded.png"/>
          <p:cNvPicPr>
            <a:picLocks noChangeAspect="1"/>
          </p:cNvPicPr>
          <p:nvPr/>
        </p:nvPicPr>
        <p:blipFill>
          <a:blip r:embed="rId3"/>
          <a:srcRect/>
          <a:stretch/>
        </p:blipFill>
        <p:spPr>
          <a:xfrm>
            <a:off x="457200" y="314554"/>
            <a:ext cx="133502" cy="133502"/>
          </a:xfrm>
          <a:prstGeom prst="rect">
            <a:avLst/>
          </a:prstGeom>
        </p:spPr>
      </p:pic>
      <p:sp>
        <p:nvSpPr>
          <p:cNvPr id="11" name="Shape 8"/>
          <p:cNvSpPr/>
          <p:nvPr/>
        </p:nvSpPr>
        <p:spPr>
          <a:xfrm>
            <a:off x="9258300" y="552298"/>
            <a:ext cx="2486254" cy="323698"/>
          </a:xfrm>
          <a:prstGeom prst="roundRect">
            <a:avLst>
              <a:gd name="adj" fmla="val 282486"/>
            </a:avLst>
          </a:prstGeom>
          <a:noFill/>
          <a:ln w="12700">
            <a:solidFill>
              <a:srgbClr val="374151"/>
            </a:solidFill>
            <a:prstDash val="solid"/>
          </a:ln>
        </p:spPr>
      </p:sp>
      <p:sp>
        <p:nvSpPr>
          <p:cNvPr id="12" name="Text 9"/>
          <p:cNvSpPr txBox="1"/>
          <p:nvPr/>
        </p:nvSpPr>
        <p:spPr>
          <a:xfrm>
            <a:off x="666598" y="304495"/>
            <a:ext cx="1495958" cy="143561"/>
          </a:xfrm>
          <a:prstGeom prst="rect">
            <a:avLst/>
          </a:prstGeom>
          <a:noFill/>
          <a:ln/>
        </p:spPr>
        <p:txBody>
          <a:bodyPr wrap="square" lIns="0" tIns="0" rIns="0" bIns="0" rtlCol="0" anchor="ctr"/>
          <a:lstStyle/>
          <a:p>
            <a:pPr marL="0" indent="0" algn="l">
              <a:buNone/>
            </a:pPr>
            <a:r>
              <a:rPr lang="en-US" sz="900" b="1" dirty="0">
                <a:solidFill>
                  <a:srgbClr val="FFFFFF"/>
                </a:solidFill>
                <a:latin typeface="Inter" pitchFamily="34" charset="0"/>
                <a:ea typeface="Inter" pitchFamily="34" charset="-122"/>
                <a:cs typeface="Inter" pitchFamily="34" charset="-120"/>
              </a:rPr>
              <a:t>DEEP DIVE ANALYSIS</a:t>
            </a:r>
            <a:endParaRPr lang="en-US" sz="900" dirty="0"/>
          </a:p>
        </p:txBody>
      </p:sp>
      <p:sp>
        <p:nvSpPr>
          <p:cNvPr id="13" name="Text 10"/>
          <p:cNvSpPr txBox="1"/>
          <p:nvPr/>
        </p:nvSpPr>
        <p:spPr>
          <a:xfrm>
            <a:off x="457200" y="485546"/>
            <a:ext cx="4696358" cy="438912"/>
          </a:xfrm>
          <a:prstGeom prst="rect">
            <a:avLst/>
          </a:prstGeom>
          <a:noFill/>
          <a:ln/>
        </p:spPr>
        <p:txBody>
          <a:bodyPr wrap="square" lIns="0" tIns="0" rIns="0" bIns="0" rtlCol="0" anchor="ctr"/>
          <a:lstStyle/>
          <a:p>
            <a:pPr marL="0" indent="0" algn="l">
              <a:buNone/>
            </a:pPr>
            <a:r>
              <a:rPr lang="en-US" sz="2700" b="1" dirty="0">
                <a:solidFill>
                  <a:srgbClr val="FFFFFF"/>
                </a:solidFill>
                <a:latin typeface="Space Grotesk" pitchFamily="34" charset="0"/>
                <a:ea typeface="Space Grotesk" pitchFamily="34" charset="-122"/>
                <a:cs typeface="Space Grotesk" pitchFamily="34" charset="-120"/>
              </a:rPr>
              <a:t>Advanced Analysis Results</a:t>
            </a:r>
            <a:endParaRPr lang="en-US" sz="2700" dirty="0"/>
          </a:p>
        </p:txBody>
      </p:sp>
      <p:sp>
        <p:nvSpPr>
          <p:cNvPr id="14" name="Text 11"/>
          <p:cNvSpPr txBox="1"/>
          <p:nvPr/>
        </p:nvSpPr>
        <p:spPr>
          <a:xfrm>
            <a:off x="9571939" y="647395"/>
            <a:ext cx="2095805" cy="133502"/>
          </a:xfrm>
          <a:prstGeom prst="rect">
            <a:avLst/>
          </a:prstGeom>
          <a:noFill/>
          <a:ln/>
        </p:spPr>
        <p:txBody>
          <a:bodyPr wrap="square" lIns="0" tIns="0" rIns="0" bIns="0" rtlCol="0" anchor="ctr"/>
          <a:lstStyle/>
          <a:p>
            <a:pPr marL="0" indent="0" algn="l">
              <a:buNone/>
            </a:pPr>
            <a:r>
              <a:rPr lang="en-US" sz="900" dirty="0">
                <a:solidFill>
                  <a:srgbClr val="D1D5DB"/>
                </a:solidFill>
                <a:latin typeface="ui-monospace" pitchFamily="34" charset="0"/>
                <a:ea typeface="ui-monospace" pitchFamily="34" charset="-122"/>
                <a:cs typeface="ui-monospace" pitchFamily="34" charset="-120"/>
              </a:rPr>
              <a:t>2 CRITICAL PATTERNS DETECTED</a:t>
            </a:r>
            <a:endParaRPr lang="en-US" sz="900" dirty="0"/>
          </a:p>
        </p:txBody>
      </p:sp>
      <p:sp>
        <p:nvSpPr>
          <p:cNvPr id="15" name="Shape 12"/>
          <p:cNvSpPr/>
          <p:nvPr/>
        </p:nvSpPr>
        <p:spPr>
          <a:xfrm>
            <a:off x="9382658" y="639166"/>
            <a:ext cx="152705" cy="152705"/>
          </a:xfrm>
          <a:prstGeom prst="roundRect">
            <a:avLst>
              <a:gd name="adj" fmla="val 598802"/>
            </a:avLst>
          </a:prstGeom>
          <a:solidFill>
            <a:srgbClr val="F87171">
              <a:alpha val="2000"/>
            </a:srgbClr>
          </a:solidFill>
          <a:ln/>
        </p:spPr>
      </p:sp>
      <p:sp>
        <p:nvSpPr>
          <p:cNvPr id="16" name="Shape 13"/>
          <p:cNvSpPr/>
          <p:nvPr/>
        </p:nvSpPr>
        <p:spPr>
          <a:xfrm>
            <a:off x="9420149" y="676656"/>
            <a:ext cx="75895" cy="75895"/>
          </a:xfrm>
          <a:prstGeom prst="roundRect">
            <a:avLst>
              <a:gd name="adj" fmla="val 1204822"/>
            </a:avLst>
          </a:prstGeom>
          <a:solidFill>
            <a:srgbClr val="EF4444"/>
          </a:solidFill>
          <a:ln/>
        </p:spPr>
      </p:sp>
      <p:sp>
        <p:nvSpPr>
          <p:cNvPr id="17" name="Shape 14"/>
          <p:cNvSpPr/>
          <p:nvPr/>
        </p:nvSpPr>
        <p:spPr>
          <a:xfrm>
            <a:off x="457200" y="1228954"/>
            <a:ext cx="5486400" cy="4972507"/>
          </a:xfrm>
          <a:prstGeom prst="roundRect">
            <a:avLst>
              <a:gd name="adj" fmla="val 564"/>
            </a:avLst>
          </a:prstGeom>
          <a:solidFill>
            <a:srgbClr val="1E293B">
              <a:alpha val="40000"/>
            </a:srgbClr>
          </a:solidFill>
          <a:ln w="12700">
            <a:solidFill>
              <a:srgbClr val="38BDF8">
                <a:alpha val="20000"/>
              </a:srgbClr>
            </a:solidFill>
            <a:prstDash val="solid"/>
          </a:ln>
          <a:effectLst>
            <a:outerShdw blurRad="63500" dist="38100" dir="5400000" algn="bl" rotWithShape="0">
              <a:srgbClr val="000000">
                <a:alpha val="10000"/>
              </a:srgbClr>
            </a:outerShdw>
          </a:effectLst>
        </p:spPr>
      </p:sp>
      <p:sp>
        <p:nvSpPr>
          <p:cNvPr id="18" name="Shape 15"/>
          <p:cNvSpPr/>
          <p:nvPr/>
        </p:nvSpPr>
        <p:spPr>
          <a:xfrm>
            <a:off x="657454" y="1488643"/>
            <a:ext cx="342900" cy="342900"/>
          </a:xfrm>
          <a:prstGeom prst="roundRect">
            <a:avLst>
              <a:gd name="adj" fmla="val 59259"/>
            </a:avLst>
          </a:prstGeom>
          <a:noFill/>
          <a:ln w="12700">
            <a:solidFill>
              <a:srgbClr val="E5E7EB"/>
            </a:solidFill>
            <a:prstDash val="solid"/>
          </a:ln>
        </p:spPr>
      </p:sp>
      <p:pic>
        <p:nvPicPr>
          <p:cNvPr id="19" name="Image 1" descr="preencoded.png"/>
          <p:cNvPicPr>
            <a:picLocks noChangeAspect="1"/>
          </p:cNvPicPr>
          <p:nvPr/>
        </p:nvPicPr>
        <p:blipFill>
          <a:blip r:embed="rId4"/>
          <a:srcRect t="-180" b="-180"/>
          <a:stretch/>
        </p:blipFill>
        <p:spPr>
          <a:xfrm>
            <a:off x="733349" y="1583741"/>
            <a:ext cx="190195" cy="152705"/>
          </a:xfrm>
          <a:prstGeom prst="rect">
            <a:avLst/>
          </a:prstGeom>
        </p:spPr>
      </p:pic>
      <p:sp>
        <p:nvSpPr>
          <p:cNvPr id="20" name="Text 16"/>
          <p:cNvSpPr txBox="1"/>
          <p:nvPr/>
        </p:nvSpPr>
        <p:spPr>
          <a:xfrm>
            <a:off x="1114654" y="1419149"/>
            <a:ext cx="1481328" cy="219456"/>
          </a:xfrm>
          <a:prstGeom prst="rect">
            <a:avLst/>
          </a:prstGeom>
          <a:noFill/>
          <a:ln/>
        </p:spPr>
        <p:txBody>
          <a:bodyPr wrap="square" lIns="0" tIns="0" rIns="0" bIns="0" rtlCol="0" anchor="ctr"/>
          <a:lstStyle/>
          <a:p>
            <a:pPr marL="0" indent="0" algn="l">
              <a:buNone/>
            </a:pPr>
            <a:r>
              <a:rPr lang="en-US" sz="1300" b="1" dirty="0">
                <a:solidFill>
                  <a:srgbClr val="FFFFFF"/>
                </a:solidFill>
                <a:latin typeface="Space Grotesk" pitchFamily="34" charset="0"/>
                <a:ea typeface="Space Grotesk" pitchFamily="34" charset="-122"/>
                <a:cs typeface="Space Grotesk" pitchFamily="34" charset="-120"/>
              </a:rPr>
              <a:t>High-Risk Traffic</a:t>
            </a:r>
            <a:endParaRPr lang="en-US" sz="1300" dirty="0"/>
          </a:p>
        </p:txBody>
      </p:sp>
      <p:sp>
        <p:nvSpPr>
          <p:cNvPr id="21" name="Text 17"/>
          <p:cNvSpPr txBox="1"/>
          <p:nvPr/>
        </p:nvSpPr>
        <p:spPr>
          <a:xfrm>
            <a:off x="1114654" y="1681582"/>
            <a:ext cx="2848356" cy="191110"/>
          </a:xfrm>
          <a:prstGeom prst="rect">
            <a:avLst/>
          </a:prstGeom>
          <a:noFill/>
          <a:ln/>
        </p:spPr>
        <p:txBody>
          <a:bodyPr wrap="square" lIns="0" tIns="0" rIns="0" bIns="0" rtlCol="0" anchor="ctr"/>
          <a:lstStyle/>
          <a:p>
            <a:pPr marL="0" indent="0" algn="l">
              <a:buNone/>
            </a:pPr>
            <a:r>
              <a:rPr lang="en-US" sz="1200" dirty="0">
                <a:solidFill>
                  <a:srgbClr val="9CA3AF"/>
                </a:solidFill>
                <a:latin typeface="Inter" pitchFamily="34" charset="0"/>
                <a:ea typeface="Inter" pitchFamily="34" charset="-122"/>
                <a:cs typeface="Inter" pitchFamily="34" charset="-120"/>
              </a:rPr>
              <a:t>Payload Asymmetry (Bytes In vs. Out)</a:t>
            </a:r>
            <a:endParaRPr lang="en-US" sz="1200" dirty="0"/>
          </a:p>
        </p:txBody>
      </p:sp>
      <p:sp>
        <p:nvSpPr>
          <p:cNvPr id="22" name="Shape 18"/>
          <p:cNvSpPr/>
          <p:nvPr/>
        </p:nvSpPr>
        <p:spPr>
          <a:xfrm>
            <a:off x="4756709" y="1429207"/>
            <a:ext cx="990295" cy="247802"/>
          </a:xfrm>
          <a:prstGeom prst="roundRect">
            <a:avLst>
              <a:gd name="adj" fmla="val 283849"/>
            </a:avLst>
          </a:prstGeom>
          <a:solidFill>
            <a:srgbClr val="EF4444">
              <a:alpha val="15000"/>
            </a:srgbClr>
          </a:solidFill>
          <a:ln w="12700">
            <a:solidFill>
              <a:srgbClr val="EF4444">
                <a:alpha val="30000"/>
              </a:srgbClr>
            </a:solidFill>
            <a:prstDash val="solid"/>
          </a:ln>
        </p:spPr>
      </p:sp>
      <p:sp>
        <p:nvSpPr>
          <p:cNvPr id="23" name="Text 19"/>
          <p:cNvSpPr txBox="1"/>
          <p:nvPr/>
        </p:nvSpPr>
        <p:spPr>
          <a:xfrm>
            <a:off x="4861865" y="1476756"/>
            <a:ext cx="857707" cy="152705"/>
          </a:xfrm>
          <a:prstGeom prst="rect">
            <a:avLst/>
          </a:prstGeom>
          <a:noFill/>
          <a:ln/>
        </p:spPr>
        <p:txBody>
          <a:bodyPr wrap="square" lIns="0" tIns="0" rIns="0" bIns="0" rtlCol="0" anchor="ctr"/>
          <a:lstStyle/>
          <a:p>
            <a:pPr marL="0" indent="0" algn="l">
              <a:buNone/>
            </a:pPr>
            <a:r>
              <a:rPr lang="en-US" sz="800" b="1" dirty="0">
                <a:solidFill>
                  <a:srgbClr val="EF4444"/>
                </a:solidFill>
                <a:latin typeface="Inter" pitchFamily="34" charset="0"/>
                <a:ea typeface="Inter" pitchFamily="34" charset="-122"/>
                <a:cs typeface="Inter" pitchFamily="34" charset="-120"/>
              </a:rPr>
              <a:t>CRITICAL RISK</a:t>
            </a:r>
            <a:endParaRPr lang="en-US" sz="800" dirty="0"/>
          </a:p>
        </p:txBody>
      </p:sp>
      <p:sp>
        <p:nvSpPr>
          <p:cNvPr id="24" name="Shape 20"/>
          <p:cNvSpPr/>
          <p:nvPr/>
        </p:nvSpPr>
        <p:spPr>
          <a:xfrm>
            <a:off x="657454" y="2005279"/>
            <a:ext cx="5086807" cy="437998"/>
          </a:xfrm>
          <a:prstGeom prst="rect">
            <a:avLst/>
          </a:prstGeom>
          <a:solidFill>
            <a:srgbClr val="0F172A">
              <a:alpha val="60000"/>
            </a:srgbClr>
          </a:solidFill>
          <a:ln/>
        </p:spPr>
      </p:sp>
      <p:sp>
        <p:nvSpPr>
          <p:cNvPr id="25" name="Shape 21"/>
          <p:cNvSpPr/>
          <p:nvPr/>
        </p:nvSpPr>
        <p:spPr>
          <a:xfrm>
            <a:off x="657454" y="2005279"/>
            <a:ext cx="28346" cy="437998"/>
          </a:xfrm>
          <a:prstGeom prst="rect">
            <a:avLst/>
          </a:prstGeom>
          <a:solidFill>
            <a:srgbClr val="F59E0B"/>
          </a:solidFill>
          <a:ln/>
        </p:spPr>
      </p:sp>
      <p:sp>
        <p:nvSpPr>
          <p:cNvPr id="26" name="Text 22"/>
          <p:cNvSpPr txBox="1"/>
          <p:nvPr/>
        </p:nvSpPr>
        <p:spPr>
          <a:xfrm>
            <a:off x="800100" y="2081174"/>
            <a:ext cx="438912" cy="133502"/>
          </a:xfrm>
          <a:prstGeom prst="rect">
            <a:avLst/>
          </a:prstGeom>
          <a:noFill/>
          <a:ln/>
        </p:spPr>
        <p:txBody>
          <a:bodyPr wrap="square" lIns="0" tIns="0" rIns="0" bIns="0" rtlCol="0" anchor="ctr"/>
          <a:lstStyle/>
          <a:p>
            <a:pPr marL="0" indent="0" algn="l">
              <a:buNone/>
            </a:pPr>
            <a:r>
              <a:rPr lang="en-US" sz="800" b="1" dirty="0">
                <a:solidFill>
                  <a:srgbClr val="F59E0B"/>
                </a:solidFill>
                <a:latin typeface="Courier New" pitchFamily="34" charset="0"/>
                <a:ea typeface="Courier New" pitchFamily="34" charset="-122"/>
                <a:cs typeface="Courier New" pitchFamily="34" charset="-120"/>
              </a:rPr>
              <a:t>SELECT</a:t>
            </a:r>
            <a:endParaRPr lang="en-US" sz="800" dirty="0"/>
          </a:p>
        </p:txBody>
      </p:sp>
      <p:sp>
        <p:nvSpPr>
          <p:cNvPr id="27" name="Text 23"/>
          <p:cNvSpPr txBox="1"/>
          <p:nvPr/>
        </p:nvSpPr>
        <p:spPr>
          <a:xfrm>
            <a:off x="1156716" y="2081174"/>
            <a:ext cx="1686154" cy="133502"/>
          </a:xfrm>
          <a:prstGeom prst="rect">
            <a:avLst/>
          </a:prstGeom>
          <a:noFill/>
          <a:ln/>
        </p:spPr>
        <p:txBody>
          <a:bodyPr wrap="square" lIns="0" tIns="0" rIns="0" bIns="0" rtlCol="0" anchor="ctr"/>
          <a:lstStyle/>
          <a:p>
            <a:pPr marL="0" indent="0" algn="l">
              <a:buNone/>
            </a:pPr>
            <a:r>
              <a:rPr lang="en-US" sz="800" dirty="0">
                <a:solidFill>
                  <a:srgbClr val="CBD5E1"/>
                </a:solidFill>
                <a:latin typeface="Courier New" pitchFamily="34" charset="0"/>
                <a:ea typeface="Courier New" pitchFamily="34" charset="-122"/>
                <a:cs typeface="Courier New" pitchFamily="34" charset="-120"/>
              </a:rPr>
              <a:t>src_ip, bytes_in, bytes_out</a:t>
            </a:r>
            <a:endParaRPr lang="en-US" sz="800" dirty="0"/>
          </a:p>
        </p:txBody>
      </p:sp>
      <p:sp>
        <p:nvSpPr>
          <p:cNvPr id="28" name="Text 24"/>
          <p:cNvSpPr txBox="1"/>
          <p:nvPr/>
        </p:nvSpPr>
        <p:spPr>
          <a:xfrm>
            <a:off x="2760574" y="2081174"/>
            <a:ext cx="314554" cy="133502"/>
          </a:xfrm>
          <a:prstGeom prst="rect">
            <a:avLst/>
          </a:prstGeom>
          <a:noFill/>
          <a:ln/>
        </p:spPr>
        <p:txBody>
          <a:bodyPr wrap="square" lIns="0" tIns="0" rIns="0" bIns="0" rtlCol="0" anchor="ctr"/>
          <a:lstStyle/>
          <a:p>
            <a:pPr marL="0" indent="0" algn="l">
              <a:buNone/>
            </a:pPr>
            <a:r>
              <a:rPr lang="en-US" sz="800" b="1" dirty="0">
                <a:solidFill>
                  <a:srgbClr val="F59E0B"/>
                </a:solidFill>
                <a:latin typeface="Courier New" pitchFamily="34" charset="0"/>
                <a:ea typeface="Courier New" pitchFamily="34" charset="-122"/>
                <a:cs typeface="Courier New" pitchFamily="34" charset="-120"/>
              </a:rPr>
              <a:t>FROM</a:t>
            </a:r>
            <a:endParaRPr lang="en-US" sz="800" dirty="0"/>
          </a:p>
        </p:txBody>
      </p:sp>
      <p:sp>
        <p:nvSpPr>
          <p:cNvPr id="29" name="Text 25"/>
          <p:cNvSpPr txBox="1"/>
          <p:nvPr/>
        </p:nvSpPr>
        <p:spPr>
          <a:xfrm>
            <a:off x="2997403" y="2081174"/>
            <a:ext cx="790956" cy="133502"/>
          </a:xfrm>
          <a:prstGeom prst="rect">
            <a:avLst/>
          </a:prstGeom>
          <a:noFill/>
          <a:ln/>
        </p:spPr>
        <p:txBody>
          <a:bodyPr wrap="square" lIns="0" tIns="0" rIns="0" bIns="0" rtlCol="0" anchor="ctr"/>
          <a:lstStyle/>
          <a:p>
            <a:pPr marL="0" indent="0" algn="l">
              <a:buNone/>
            </a:pPr>
            <a:r>
              <a:rPr lang="en-US" sz="800" dirty="0">
                <a:solidFill>
                  <a:srgbClr val="CBD5E1"/>
                </a:solidFill>
                <a:latin typeface="Courier New" pitchFamily="34" charset="0"/>
                <a:ea typeface="Courier New" pitchFamily="34" charset="-122"/>
                <a:cs typeface="Courier New" pitchFamily="34" charset="-120"/>
              </a:rPr>
              <a:t>traffic_logs</a:t>
            </a:r>
            <a:endParaRPr lang="en-US" sz="800" dirty="0"/>
          </a:p>
        </p:txBody>
      </p:sp>
      <p:sp>
        <p:nvSpPr>
          <p:cNvPr id="30" name="Text 26"/>
          <p:cNvSpPr txBox="1"/>
          <p:nvPr/>
        </p:nvSpPr>
        <p:spPr>
          <a:xfrm>
            <a:off x="3710635" y="2081174"/>
            <a:ext cx="381305" cy="133502"/>
          </a:xfrm>
          <a:prstGeom prst="rect">
            <a:avLst/>
          </a:prstGeom>
          <a:noFill/>
          <a:ln/>
        </p:spPr>
        <p:txBody>
          <a:bodyPr wrap="square" lIns="0" tIns="0" rIns="0" bIns="0" rtlCol="0" anchor="ctr"/>
          <a:lstStyle/>
          <a:p>
            <a:pPr marL="0" indent="0" algn="l">
              <a:buNone/>
            </a:pPr>
            <a:r>
              <a:rPr lang="en-US" sz="800" b="1" dirty="0">
                <a:solidFill>
                  <a:srgbClr val="F59E0B"/>
                </a:solidFill>
                <a:latin typeface="Courier New" pitchFamily="34" charset="0"/>
                <a:ea typeface="Courier New" pitchFamily="34" charset="-122"/>
                <a:cs typeface="Courier New" pitchFamily="34" charset="-120"/>
              </a:rPr>
              <a:t>WHERE</a:t>
            </a:r>
            <a:endParaRPr lang="en-US" sz="800" dirty="0"/>
          </a:p>
        </p:txBody>
      </p:sp>
      <p:sp>
        <p:nvSpPr>
          <p:cNvPr id="31" name="Text 27"/>
          <p:cNvSpPr txBox="1"/>
          <p:nvPr/>
        </p:nvSpPr>
        <p:spPr>
          <a:xfrm>
            <a:off x="800100" y="2081174"/>
            <a:ext cx="3762756" cy="277063"/>
          </a:xfrm>
          <a:prstGeom prst="rect">
            <a:avLst/>
          </a:prstGeom>
          <a:noFill/>
          <a:ln/>
        </p:spPr>
        <p:txBody>
          <a:bodyPr wrap="square" lIns="0" tIns="0" rIns="0" bIns="0" rtlCol="0" anchor="ctr"/>
          <a:lstStyle/>
          <a:p>
            <a:pPr marL="0" indent="0" algn="l">
              <a:buNone/>
            </a:pPr>
            <a:r>
              <a:rPr lang="en-US" sz="800" dirty="0">
                <a:solidFill>
                  <a:srgbClr val="CBD5E1"/>
                </a:solidFill>
                <a:latin typeface="Courier New" pitchFamily="34" charset="0"/>
                <a:ea typeface="Courier New" pitchFamily="34" charset="-122"/>
                <a:cs typeface="Courier New" pitchFamily="34" charset="-120"/>
              </a:rPr>
              <a:t>bytes_in &gt;</a:t>
            </a:r>
            <a:endParaRPr lang="en-US" sz="800" dirty="0"/>
          </a:p>
        </p:txBody>
      </p:sp>
      <p:sp>
        <p:nvSpPr>
          <p:cNvPr id="32" name="Text 28"/>
          <p:cNvSpPr txBox="1"/>
          <p:nvPr/>
        </p:nvSpPr>
        <p:spPr>
          <a:xfrm>
            <a:off x="859536" y="2220163"/>
            <a:ext cx="676656" cy="133502"/>
          </a:xfrm>
          <a:prstGeom prst="rect">
            <a:avLst/>
          </a:prstGeom>
          <a:noFill/>
          <a:ln/>
        </p:spPr>
        <p:txBody>
          <a:bodyPr wrap="square" lIns="0" tIns="0" rIns="0" bIns="0" rtlCol="0" anchor="ctr"/>
          <a:lstStyle/>
          <a:p>
            <a:pPr marL="0" indent="0" algn="l">
              <a:buNone/>
            </a:pPr>
            <a:r>
              <a:rPr lang="en-US" sz="800" dirty="0">
                <a:solidFill>
                  <a:srgbClr val="38BDF8"/>
                </a:solidFill>
                <a:latin typeface="Courier New" pitchFamily="34" charset="0"/>
                <a:ea typeface="Courier New" pitchFamily="34" charset="-122"/>
                <a:cs typeface="Courier New" pitchFamily="34" charset="-120"/>
              </a:rPr>
              <a:t>PERCENTILE</a:t>
            </a:r>
            <a:endParaRPr lang="en-US" sz="800" dirty="0"/>
          </a:p>
        </p:txBody>
      </p:sp>
      <p:sp>
        <p:nvSpPr>
          <p:cNvPr id="33" name="Text 29"/>
          <p:cNvSpPr txBox="1"/>
          <p:nvPr/>
        </p:nvSpPr>
        <p:spPr>
          <a:xfrm>
            <a:off x="1453896" y="2220163"/>
            <a:ext cx="314554" cy="133502"/>
          </a:xfrm>
          <a:prstGeom prst="rect">
            <a:avLst/>
          </a:prstGeom>
          <a:noFill/>
          <a:ln/>
        </p:spPr>
        <p:txBody>
          <a:bodyPr wrap="square" lIns="0" tIns="0" rIns="0" bIns="0" rtlCol="0" anchor="ctr"/>
          <a:lstStyle/>
          <a:p>
            <a:pPr marL="0" indent="0" algn="l">
              <a:buNone/>
            </a:pPr>
            <a:r>
              <a:rPr lang="en-US" sz="800" dirty="0">
                <a:solidFill>
                  <a:srgbClr val="CBD5E1"/>
                </a:solidFill>
                <a:latin typeface="Courier New" pitchFamily="34" charset="0"/>
                <a:ea typeface="Courier New" pitchFamily="34" charset="-122"/>
                <a:cs typeface="Courier New" pitchFamily="34" charset="-120"/>
              </a:rPr>
              <a:t>(95)</a:t>
            </a:r>
            <a:endParaRPr lang="en-US" sz="800" dirty="0"/>
          </a:p>
        </p:txBody>
      </p:sp>
      <p:sp>
        <p:nvSpPr>
          <p:cNvPr id="34" name="Text 30"/>
          <p:cNvSpPr txBox="1"/>
          <p:nvPr/>
        </p:nvSpPr>
        <p:spPr>
          <a:xfrm>
            <a:off x="1691640" y="2220163"/>
            <a:ext cx="257861" cy="133502"/>
          </a:xfrm>
          <a:prstGeom prst="rect">
            <a:avLst/>
          </a:prstGeom>
          <a:noFill/>
          <a:ln/>
        </p:spPr>
        <p:txBody>
          <a:bodyPr wrap="square" lIns="0" tIns="0" rIns="0" bIns="0" rtlCol="0" anchor="ctr"/>
          <a:lstStyle/>
          <a:p>
            <a:pPr marL="0" indent="0" algn="l">
              <a:buNone/>
            </a:pPr>
            <a:r>
              <a:rPr lang="en-US" sz="800" b="1" dirty="0">
                <a:solidFill>
                  <a:srgbClr val="F59E0B"/>
                </a:solidFill>
                <a:latin typeface="Courier New" pitchFamily="34" charset="0"/>
                <a:ea typeface="Courier New" pitchFamily="34" charset="-122"/>
                <a:cs typeface="Courier New" pitchFamily="34" charset="-120"/>
              </a:rPr>
              <a:t>AND</a:t>
            </a:r>
            <a:endParaRPr lang="en-US" sz="800" dirty="0"/>
          </a:p>
        </p:txBody>
      </p:sp>
      <p:sp>
        <p:nvSpPr>
          <p:cNvPr id="35" name="Text 31"/>
          <p:cNvSpPr txBox="1"/>
          <p:nvPr/>
        </p:nvSpPr>
        <p:spPr>
          <a:xfrm>
            <a:off x="1869948" y="2220163"/>
            <a:ext cx="734263" cy="133502"/>
          </a:xfrm>
          <a:prstGeom prst="rect">
            <a:avLst/>
          </a:prstGeom>
          <a:noFill/>
          <a:ln/>
        </p:spPr>
        <p:txBody>
          <a:bodyPr wrap="square" lIns="0" tIns="0" rIns="0" bIns="0" rtlCol="0" anchor="ctr"/>
          <a:lstStyle/>
          <a:p>
            <a:pPr marL="0" indent="0" algn="l">
              <a:buNone/>
            </a:pPr>
            <a:r>
              <a:rPr lang="en-US" sz="800" dirty="0">
                <a:solidFill>
                  <a:srgbClr val="CBD5E1"/>
                </a:solidFill>
                <a:latin typeface="Courier New" pitchFamily="34" charset="0"/>
                <a:ea typeface="Courier New" pitchFamily="34" charset="-122"/>
                <a:cs typeface="Courier New" pitchFamily="34" charset="-120"/>
              </a:rPr>
              <a:t>bytes_out &lt;</a:t>
            </a:r>
            <a:endParaRPr lang="en-US" sz="800" dirty="0"/>
          </a:p>
        </p:txBody>
      </p:sp>
      <p:sp>
        <p:nvSpPr>
          <p:cNvPr id="36" name="Text 32"/>
          <p:cNvSpPr txBox="1"/>
          <p:nvPr/>
        </p:nvSpPr>
        <p:spPr>
          <a:xfrm>
            <a:off x="2522830" y="2220163"/>
            <a:ext cx="676656" cy="133502"/>
          </a:xfrm>
          <a:prstGeom prst="rect">
            <a:avLst/>
          </a:prstGeom>
          <a:noFill/>
          <a:ln/>
        </p:spPr>
        <p:txBody>
          <a:bodyPr wrap="square" lIns="0" tIns="0" rIns="0" bIns="0" rtlCol="0" anchor="ctr"/>
          <a:lstStyle/>
          <a:p>
            <a:pPr marL="0" indent="0" algn="l">
              <a:buNone/>
            </a:pPr>
            <a:r>
              <a:rPr lang="en-US" sz="800" dirty="0">
                <a:solidFill>
                  <a:srgbClr val="38BDF8"/>
                </a:solidFill>
                <a:latin typeface="Courier New" pitchFamily="34" charset="0"/>
                <a:ea typeface="Courier New" pitchFamily="34" charset="-122"/>
                <a:cs typeface="Courier New" pitchFamily="34" charset="-120"/>
              </a:rPr>
              <a:t>PERCENTILE</a:t>
            </a:r>
            <a:endParaRPr lang="en-US" sz="800" dirty="0"/>
          </a:p>
        </p:txBody>
      </p:sp>
      <p:sp>
        <p:nvSpPr>
          <p:cNvPr id="37" name="Text 33"/>
          <p:cNvSpPr txBox="1"/>
          <p:nvPr/>
        </p:nvSpPr>
        <p:spPr>
          <a:xfrm>
            <a:off x="3117190" y="2220163"/>
            <a:ext cx="381305" cy="133502"/>
          </a:xfrm>
          <a:prstGeom prst="rect">
            <a:avLst/>
          </a:prstGeom>
          <a:noFill/>
          <a:ln/>
        </p:spPr>
        <p:txBody>
          <a:bodyPr wrap="square" lIns="0" tIns="0" rIns="0" bIns="0" rtlCol="0" anchor="ctr"/>
          <a:lstStyle/>
          <a:p>
            <a:pPr marL="0" indent="0" algn="l">
              <a:buNone/>
            </a:pPr>
            <a:r>
              <a:rPr lang="en-US" sz="800" dirty="0">
                <a:solidFill>
                  <a:srgbClr val="CBD5E1"/>
                </a:solidFill>
                <a:latin typeface="Courier New" pitchFamily="34" charset="0"/>
                <a:ea typeface="Courier New" pitchFamily="34" charset="-122"/>
                <a:cs typeface="Courier New" pitchFamily="34" charset="-120"/>
              </a:rPr>
              <a:t>(10);</a:t>
            </a:r>
            <a:endParaRPr lang="en-US" sz="800" dirty="0"/>
          </a:p>
        </p:txBody>
      </p:sp>
      <p:pic>
        <p:nvPicPr>
          <p:cNvPr id="38" name="Image 2" descr="preencoded.png"/>
          <p:cNvPicPr>
            <a:picLocks noChangeAspect="1"/>
          </p:cNvPicPr>
          <p:nvPr/>
        </p:nvPicPr>
        <p:blipFill>
          <a:blip r:embed="rId5"/>
          <a:srcRect l="-5" r="-5"/>
          <a:stretch/>
        </p:blipFill>
        <p:spPr>
          <a:xfrm>
            <a:off x="657454" y="2551176"/>
            <a:ext cx="5086807" cy="2743200"/>
          </a:xfrm>
          <a:prstGeom prst="rect">
            <a:avLst/>
          </a:prstGeom>
        </p:spPr>
      </p:pic>
      <p:sp>
        <p:nvSpPr>
          <p:cNvPr id="39" name="Shape 34"/>
          <p:cNvSpPr/>
          <p:nvPr/>
        </p:nvSpPr>
        <p:spPr>
          <a:xfrm>
            <a:off x="657454" y="5296205"/>
            <a:ext cx="5086807" cy="9144"/>
          </a:xfrm>
          <a:prstGeom prst="rect">
            <a:avLst/>
          </a:prstGeom>
          <a:solidFill>
            <a:srgbClr val="374151">
              <a:alpha val="50000"/>
            </a:srgbClr>
          </a:solidFill>
          <a:ln/>
        </p:spPr>
      </p:sp>
      <p:sp>
        <p:nvSpPr>
          <p:cNvPr id="40" name="Text 35"/>
          <p:cNvSpPr txBox="1"/>
          <p:nvPr/>
        </p:nvSpPr>
        <p:spPr>
          <a:xfrm>
            <a:off x="657454" y="5438851"/>
            <a:ext cx="1534363" cy="191110"/>
          </a:xfrm>
          <a:prstGeom prst="rect">
            <a:avLst/>
          </a:prstGeom>
          <a:noFill/>
          <a:ln/>
        </p:spPr>
        <p:txBody>
          <a:bodyPr wrap="square" lIns="0" tIns="0" rIns="0" bIns="0" rtlCol="0" anchor="ctr"/>
          <a:lstStyle/>
          <a:p>
            <a:pPr marL="0" indent="0" algn="l">
              <a:buNone/>
            </a:pPr>
            <a:r>
              <a:rPr lang="en-US" sz="1200" b="1" dirty="0">
                <a:solidFill>
                  <a:srgbClr val="6B7280"/>
                </a:solidFill>
                <a:latin typeface="Inter" pitchFamily="34" charset="0"/>
                <a:ea typeface="Inter" pitchFamily="34" charset="-122"/>
                <a:cs typeface="Inter" pitchFamily="34" charset="-120"/>
              </a:rPr>
              <a:t>INTERPRETATION</a:t>
            </a:r>
            <a:endParaRPr lang="en-US" sz="1200" dirty="0"/>
          </a:p>
        </p:txBody>
      </p:sp>
      <p:sp>
        <p:nvSpPr>
          <p:cNvPr id="41" name="Text 36"/>
          <p:cNvSpPr txBox="1"/>
          <p:nvPr/>
        </p:nvSpPr>
        <p:spPr>
          <a:xfrm>
            <a:off x="657454" y="5686654"/>
            <a:ext cx="3553358" cy="305410"/>
          </a:xfrm>
          <a:prstGeom prst="rect">
            <a:avLst/>
          </a:prstGeom>
          <a:noFill/>
          <a:ln/>
        </p:spPr>
        <p:txBody>
          <a:bodyPr wrap="square" lIns="0" tIns="0" rIns="0" bIns="0" rtlCol="0" anchor="ctr"/>
          <a:lstStyle/>
          <a:p>
            <a:pPr marL="0" indent="0" algn="l">
              <a:buNone/>
            </a:pPr>
            <a:r>
              <a:rPr lang="en-US" sz="900" dirty="0">
                <a:solidFill>
                  <a:srgbClr val="D1D5DB"/>
                </a:solidFill>
                <a:latin typeface="Inter" pitchFamily="34" charset="0"/>
                <a:ea typeface="Inter" pitchFamily="34" charset="-122"/>
                <a:cs typeface="Inter" pitchFamily="34" charset="-120"/>
              </a:rPr>
              <a:t>Large inbound payloads with negligible responses indicate blind SQL injection or fuzzing attempts.</a:t>
            </a:r>
            <a:endParaRPr lang="en-US" sz="900" dirty="0"/>
          </a:p>
        </p:txBody>
      </p:sp>
      <p:sp>
        <p:nvSpPr>
          <p:cNvPr id="42" name="Shape 37"/>
          <p:cNvSpPr/>
          <p:nvPr/>
        </p:nvSpPr>
        <p:spPr>
          <a:xfrm>
            <a:off x="4506163" y="5467198"/>
            <a:ext cx="9144" cy="533095"/>
          </a:xfrm>
          <a:prstGeom prst="rect">
            <a:avLst/>
          </a:prstGeom>
          <a:solidFill>
            <a:srgbClr val="1F2937"/>
          </a:solidFill>
          <a:ln/>
        </p:spPr>
      </p:sp>
      <p:sp>
        <p:nvSpPr>
          <p:cNvPr id="43" name="Text 38"/>
          <p:cNvSpPr txBox="1"/>
          <p:nvPr/>
        </p:nvSpPr>
        <p:spPr>
          <a:xfrm>
            <a:off x="4668012" y="5486400"/>
            <a:ext cx="1191463" cy="191110"/>
          </a:xfrm>
          <a:prstGeom prst="rect">
            <a:avLst/>
          </a:prstGeom>
          <a:noFill/>
          <a:ln/>
        </p:spPr>
        <p:txBody>
          <a:bodyPr wrap="square" lIns="0" tIns="0" rIns="0" bIns="0" rtlCol="0" anchor="ctr"/>
          <a:lstStyle/>
          <a:p>
            <a:pPr marL="0" indent="0" algn="r">
              <a:buNone/>
            </a:pPr>
            <a:r>
              <a:rPr lang="en-US" sz="1200" b="1" dirty="0">
                <a:solidFill>
                  <a:srgbClr val="6B7280"/>
                </a:solidFill>
                <a:latin typeface="Inter" pitchFamily="34" charset="0"/>
                <a:ea typeface="Inter" pitchFamily="34" charset="-122"/>
                <a:cs typeface="Inter" pitchFamily="34" charset="-120"/>
              </a:rPr>
              <a:t>FLAGGED IPS</a:t>
            </a:r>
            <a:endParaRPr lang="en-US" sz="1200" dirty="0"/>
          </a:p>
        </p:txBody>
      </p:sp>
      <p:sp>
        <p:nvSpPr>
          <p:cNvPr id="44" name="Text 39"/>
          <p:cNvSpPr txBox="1"/>
          <p:nvPr/>
        </p:nvSpPr>
        <p:spPr>
          <a:xfrm>
            <a:off x="5514746" y="5743346"/>
            <a:ext cx="381305" cy="247802"/>
          </a:xfrm>
          <a:prstGeom prst="rect">
            <a:avLst/>
          </a:prstGeom>
          <a:noFill/>
          <a:ln/>
        </p:spPr>
        <p:txBody>
          <a:bodyPr wrap="square" lIns="0" tIns="0" rIns="0" bIns="0" rtlCol="0" anchor="ctr"/>
          <a:lstStyle/>
          <a:p>
            <a:pPr marL="0" indent="0" algn="r">
              <a:buNone/>
            </a:pPr>
            <a:r>
              <a:rPr lang="en-US" sz="1500" b="1" dirty="0">
                <a:solidFill>
                  <a:srgbClr val="FFFFFF"/>
                </a:solidFill>
                <a:latin typeface="Courier New" pitchFamily="34" charset="0"/>
                <a:ea typeface="Courier New" pitchFamily="34" charset="-122"/>
                <a:cs typeface="Courier New" pitchFamily="34" charset="-120"/>
              </a:rPr>
              <a:t>14</a:t>
            </a:r>
            <a:endParaRPr lang="en-US" sz="1500" dirty="0"/>
          </a:p>
        </p:txBody>
      </p:sp>
      <p:sp>
        <p:nvSpPr>
          <p:cNvPr id="45" name="Shape 40"/>
          <p:cNvSpPr/>
          <p:nvPr/>
        </p:nvSpPr>
        <p:spPr>
          <a:xfrm>
            <a:off x="6248095" y="1228954"/>
            <a:ext cx="5486400" cy="4972507"/>
          </a:xfrm>
          <a:prstGeom prst="roundRect">
            <a:avLst>
              <a:gd name="adj" fmla="val 564"/>
            </a:avLst>
          </a:prstGeom>
          <a:solidFill>
            <a:srgbClr val="1E293B">
              <a:alpha val="40000"/>
            </a:srgbClr>
          </a:solidFill>
          <a:ln w="12700">
            <a:solidFill>
              <a:srgbClr val="38BDF8">
                <a:alpha val="20000"/>
              </a:srgbClr>
            </a:solidFill>
            <a:prstDash val="solid"/>
          </a:ln>
          <a:effectLst>
            <a:outerShdw blurRad="63500" dist="38100" dir="5400000" algn="bl" rotWithShape="0">
              <a:srgbClr val="000000">
                <a:alpha val="10000"/>
              </a:srgbClr>
            </a:outerShdw>
          </a:effectLst>
        </p:spPr>
      </p:sp>
      <p:sp>
        <p:nvSpPr>
          <p:cNvPr id="46" name="Shape 41"/>
          <p:cNvSpPr/>
          <p:nvPr/>
        </p:nvSpPr>
        <p:spPr>
          <a:xfrm>
            <a:off x="6448349" y="1488643"/>
            <a:ext cx="342900" cy="342900"/>
          </a:xfrm>
          <a:prstGeom prst="roundRect">
            <a:avLst>
              <a:gd name="adj" fmla="val 59259"/>
            </a:avLst>
          </a:prstGeom>
          <a:noFill/>
          <a:ln w="12700">
            <a:solidFill>
              <a:srgbClr val="E5E7EB"/>
            </a:solidFill>
            <a:prstDash val="solid"/>
          </a:ln>
        </p:spPr>
      </p:sp>
      <p:pic>
        <p:nvPicPr>
          <p:cNvPr id="47" name="Image 3" descr="preencoded.png"/>
          <p:cNvPicPr>
            <a:picLocks noChangeAspect="1"/>
          </p:cNvPicPr>
          <p:nvPr/>
        </p:nvPicPr>
        <p:blipFill>
          <a:blip r:embed="rId6"/>
          <a:srcRect/>
          <a:stretch/>
        </p:blipFill>
        <p:spPr>
          <a:xfrm>
            <a:off x="6543446" y="1583741"/>
            <a:ext cx="152705" cy="152705"/>
          </a:xfrm>
          <a:prstGeom prst="rect">
            <a:avLst/>
          </a:prstGeom>
        </p:spPr>
      </p:pic>
      <p:sp>
        <p:nvSpPr>
          <p:cNvPr id="48" name="Text 42"/>
          <p:cNvSpPr txBox="1"/>
          <p:nvPr/>
        </p:nvSpPr>
        <p:spPr>
          <a:xfrm>
            <a:off x="6905549" y="1419149"/>
            <a:ext cx="2091233" cy="219456"/>
          </a:xfrm>
          <a:prstGeom prst="rect">
            <a:avLst/>
          </a:prstGeom>
          <a:noFill/>
          <a:ln/>
        </p:spPr>
        <p:txBody>
          <a:bodyPr wrap="square" lIns="0" tIns="0" rIns="0" bIns="0" rtlCol="0" anchor="ctr"/>
          <a:lstStyle/>
          <a:p>
            <a:pPr marL="0" indent="0" algn="l">
              <a:buNone/>
            </a:pPr>
            <a:r>
              <a:rPr lang="en-US" sz="1300" b="1" dirty="0">
                <a:solidFill>
                  <a:srgbClr val="FFFFFF"/>
                </a:solidFill>
                <a:latin typeface="Space Grotesk" pitchFamily="34" charset="0"/>
                <a:ea typeface="Space Grotesk" pitchFamily="34" charset="-122"/>
                <a:cs typeface="Space Grotesk" pitchFamily="34" charset="-120"/>
              </a:rPr>
              <a:t>Long Session Detection</a:t>
            </a:r>
            <a:endParaRPr lang="en-US" sz="1300" dirty="0"/>
          </a:p>
        </p:txBody>
      </p:sp>
      <p:sp>
        <p:nvSpPr>
          <p:cNvPr id="49" name="Text 43"/>
          <p:cNvSpPr txBox="1"/>
          <p:nvPr/>
        </p:nvSpPr>
        <p:spPr>
          <a:xfrm>
            <a:off x="6905549" y="1681582"/>
            <a:ext cx="2105863" cy="191110"/>
          </a:xfrm>
          <a:prstGeom prst="rect">
            <a:avLst/>
          </a:prstGeom>
          <a:noFill/>
          <a:ln/>
        </p:spPr>
        <p:txBody>
          <a:bodyPr wrap="square" lIns="0" tIns="0" rIns="0" bIns="0" rtlCol="0" anchor="ctr"/>
          <a:lstStyle/>
          <a:p>
            <a:pPr marL="0" indent="0" algn="l">
              <a:buNone/>
            </a:pPr>
            <a:r>
              <a:rPr lang="en-US" sz="1200" dirty="0">
                <a:solidFill>
                  <a:srgbClr val="9CA3AF"/>
                </a:solidFill>
                <a:latin typeface="Inter" pitchFamily="34" charset="0"/>
                <a:ea typeface="Inter" pitchFamily="34" charset="-122"/>
                <a:cs typeface="Inter" pitchFamily="34" charset="-120"/>
              </a:rPr>
              <a:t>Temporal Anomaly Analysis</a:t>
            </a:r>
            <a:endParaRPr lang="en-US" sz="1200" dirty="0"/>
          </a:p>
        </p:txBody>
      </p:sp>
      <p:sp>
        <p:nvSpPr>
          <p:cNvPr id="50" name="Shape 44"/>
          <p:cNvSpPr/>
          <p:nvPr/>
        </p:nvSpPr>
        <p:spPr>
          <a:xfrm>
            <a:off x="10667390" y="1429207"/>
            <a:ext cx="875995" cy="247802"/>
          </a:xfrm>
          <a:prstGeom prst="roundRect">
            <a:avLst>
              <a:gd name="adj" fmla="val 283849"/>
            </a:avLst>
          </a:prstGeom>
          <a:solidFill>
            <a:srgbClr val="F59E0B">
              <a:alpha val="15000"/>
            </a:srgbClr>
          </a:solidFill>
          <a:ln w="12700">
            <a:solidFill>
              <a:srgbClr val="F59E0B">
                <a:alpha val="30000"/>
              </a:srgbClr>
            </a:solidFill>
            <a:prstDash val="solid"/>
          </a:ln>
        </p:spPr>
      </p:sp>
      <p:sp>
        <p:nvSpPr>
          <p:cNvPr id="51" name="Text 45"/>
          <p:cNvSpPr txBox="1"/>
          <p:nvPr/>
        </p:nvSpPr>
        <p:spPr>
          <a:xfrm>
            <a:off x="10771632" y="1476756"/>
            <a:ext cx="743407" cy="152705"/>
          </a:xfrm>
          <a:prstGeom prst="rect">
            <a:avLst/>
          </a:prstGeom>
          <a:noFill/>
          <a:ln/>
        </p:spPr>
        <p:txBody>
          <a:bodyPr wrap="square" lIns="0" tIns="0" rIns="0" bIns="0" rtlCol="0" anchor="ctr"/>
          <a:lstStyle/>
          <a:p>
            <a:pPr marL="0" indent="0" algn="l">
              <a:buNone/>
            </a:pPr>
            <a:r>
              <a:rPr lang="en-US" sz="800" b="1" dirty="0">
                <a:solidFill>
                  <a:srgbClr val="F59E0B"/>
                </a:solidFill>
                <a:latin typeface="Inter" pitchFamily="34" charset="0"/>
                <a:ea typeface="Inter" pitchFamily="34" charset="-122"/>
                <a:cs typeface="Inter" pitchFamily="34" charset="-120"/>
              </a:rPr>
              <a:t>SUSPICIOUS</a:t>
            </a:r>
            <a:endParaRPr lang="en-US" sz="800" dirty="0"/>
          </a:p>
        </p:txBody>
      </p:sp>
      <p:sp>
        <p:nvSpPr>
          <p:cNvPr id="52" name="Shape 46"/>
          <p:cNvSpPr/>
          <p:nvPr/>
        </p:nvSpPr>
        <p:spPr>
          <a:xfrm>
            <a:off x="6448349" y="2005279"/>
            <a:ext cx="5086807" cy="437998"/>
          </a:xfrm>
          <a:prstGeom prst="rect">
            <a:avLst/>
          </a:prstGeom>
          <a:solidFill>
            <a:srgbClr val="0F172A">
              <a:alpha val="60000"/>
            </a:srgbClr>
          </a:solidFill>
          <a:ln/>
        </p:spPr>
      </p:sp>
      <p:sp>
        <p:nvSpPr>
          <p:cNvPr id="53" name="Shape 47"/>
          <p:cNvSpPr/>
          <p:nvPr/>
        </p:nvSpPr>
        <p:spPr>
          <a:xfrm>
            <a:off x="6448349" y="2005279"/>
            <a:ext cx="28346" cy="437998"/>
          </a:xfrm>
          <a:prstGeom prst="rect">
            <a:avLst/>
          </a:prstGeom>
          <a:solidFill>
            <a:srgbClr val="38BDF8"/>
          </a:solidFill>
          <a:ln/>
        </p:spPr>
      </p:sp>
      <p:sp>
        <p:nvSpPr>
          <p:cNvPr id="54" name="Text 48"/>
          <p:cNvSpPr txBox="1"/>
          <p:nvPr/>
        </p:nvSpPr>
        <p:spPr>
          <a:xfrm>
            <a:off x="6590995" y="2081174"/>
            <a:ext cx="438912" cy="133502"/>
          </a:xfrm>
          <a:prstGeom prst="rect">
            <a:avLst/>
          </a:prstGeom>
          <a:noFill/>
          <a:ln/>
        </p:spPr>
        <p:txBody>
          <a:bodyPr wrap="square" lIns="0" tIns="0" rIns="0" bIns="0" rtlCol="0" anchor="ctr"/>
          <a:lstStyle/>
          <a:p>
            <a:pPr marL="0" indent="0" algn="l">
              <a:buNone/>
            </a:pPr>
            <a:r>
              <a:rPr lang="en-US" sz="800" b="1" dirty="0">
                <a:solidFill>
                  <a:srgbClr val="F59E0B"/>
                </a:solidFill>
                <a:latin typeface="Courier New" pitchFamily="34" charset="0"/>
                <a:ea typeface="Courier New" pitchFamily="34" charset="-122"/>
                <a:cs typeface="Courier New" pitchFamily="34" charset="-120"/>
              </a:rPr>
              <a:t>SELECT</a:t>
            </a:r>
            <a:endParaRPr lang="en-US" sz="800" dirty="0"/>
          </a:p>
        </p:txBody>
      </p:sp>
      <p:sp>
        <p:nvSpPr>
          <p:cNvPr id="55" name="Text 49"/>
          <p:cNvSpPr txBox="1"/>
          <p:nvPr/>
        </p:nvSpPr>
        <p:spPr>
          <a:xfrm>
            <a:off x="6947611" y="2081174"/>
            <a:ext cx="495605" cy="133502"/>
          </a:xfrm>
          <a:prstGeom prst="rect">
            <a:avLst/>
          </a:prstGeom>
          <a:noFill/>
          <a:ln/>
        </p:spPr>
        <p:txBody>
          <a:bodyPr wrap="square" lIns="0" tIns="0" rIns="0" bIns="0" rtlCol="0" anchor="ctr"/>
          <a:lstStyle/>
          <a:p>
            <a:pPr marL="0" indent="0" algn="l">
              <a:buNone/>
            </a:pPr>
            <a:r>
              <a:rPr lang="en-US" sz="800" dirty="0">
                <a:solidFill>
                  <a:srgbClr val="CBD5E1"/>
                </a:solidFill>
                <a:latin typeface="Courier New" pitchFamily="34" charset="0"/>
                <a:ea typeface="Courier New" pitchFamily="34" charset="-122"/>
                <a:cs typeface="Courier New" pitchFamily="34" charset="-120"/>
              </a:rPr>
              <a:t>src_ip,</a:t>
            </a:r>
            <a:endParaRPr lang="en-US" sz="800" dirty="0"/>
          </a:p>
        </p:txBody>
      </p:sp>
      <p:sp>
        <p:nvSpPr>
          <p:cNvPr id="56" name="Text 50"/>
          <p:cNvSpPr txBox="1"/>
          <p:nvPr/>
        </p:nvSpPr>
        <p:spPr>
          <a:xfrm>
            <a:off x="7363663" y="2081174"/>
            <a:ext cx="553212" cy="133502"/>
          </a:xfrm>
          <a:prstGeom prst="rect">
            <a:avLst/>
          </a:prstGeom>
          <a:noFill/>
          <a:ln/>
        </p:spPr>
        <p:txBody>
          <a:bodyPr wrap="square" lIns="0" tIns="0" rIns="0" bIns="0" rtlCol="0" anchor="ctr"/>
          <a:lstStyle/>
          <a:p>
            <a:pPr marL="0" indent="0" algn="l">
              <a:buNone/>
            </a:pPr>
            <a:r>
              <a:rPr lang="en-US" sz="800" dirty="0">
                <a:solidFill>
                  <a:srgbClr val="38BDF8"/>
                </a:solidFill>
                <a:latin typeface="Courier New" pitchFamily="34" charset="0"/>
                <a:ea typeface="Courier New" pitchFamily="34" charset="-122"/>
                <a:cs typeface="Courier New" pitchFamily="34" charset="-120"/>
              </a:rPr>
              <a:t>TIMEDIFF</a:t>
            </a:r>
            <a:endParaRPr lang="en-US" sz="800" dirty="0"/>
          </a:p>
        </p:txBody>
      </p:sp>
      <p:sp>
        <p:nvSpPr>
          <p:cNvPr id="57" name="Text 51"/>
          <p:cNvSpPr txBox="1"/>
          <p:nvPr/>
        </p:nvSpPr>
        <p:spPr>
          <a:xfrm>
            <a:off x="6590995" y="2081174"/>
            <a:ext cx="1924812" cy="277063"/>
          </a:xfrm>
          <a:prstGeom prst="rect">
            <a:avLst/>
          </a:prstGeom>
          <a:noFill/>
          <a:ln/>
        </p:spPr>
        <p:txBody>
          <a:bodyPr wrap="square" lIns="0" tIns="0" rIns="0" bIns="0" rtlCol="0" anchor="ctr"/>
          <a:lstStyle/>
          <a:p>
            <a:pPr marL="0" indent="0" algn="l">
              <a:buNone/>
            </a:pPr>
            <a:r>
              <a:rPr lang="en-US" sz="800" dirty="0">
                <a:solidFill>
                  <a:srgbClr val="CBD5E1"/>
                </a:solidFill>
                <a:latin typeface="Courier New" pitchFamily="34" charset="0"/>
                <a:ea typeface="Courier New" pitchFamily="34" charset="-122"/>
                <a:cs typeface="Courier New" pitchFamily="34" charset="-120"/>
              </a:rPr>
              <a:t>(end_time, creation_time)</a:t>
            </a:r>
            <a:endParaRPr lang="en-US" sz="800" dirty="0"/>
          </a:p>
        </p:txBody>
      </p:sp>
      <p:sp>
        <p:nvSpPr>
          <p:cNvPr id="58" name="Text 52"/>
          <p:cNvSpPr txBox="1"/>
          <p:nvPr/>
        </p:nvSpPr>
        <p:spPr>
          <a:xfrm>
            <a:off x="7423099" y="2220163"/>
            <a:ext cx="200254" cy="133502"/>
          </a:xfrm>
          <a:prstGeom prst="rect">
            <a:avLst/>
          </a:prstGeom>
          <a:noFill/>
          <a:ln/>
        </p:spPr>
        <p:txBody>
          <a:bodyPr wrap="square" lIns="0" tIns="0" rIns="0" bIns="0" rtlCol="0" anchor="ctr"/>
          <a:lstStyle/>
          <a:p>
            <a:pPr marL="0" indent="0" algn="l">
              <a:buNone/>
            </a:pPr>
            <a:r>
              <a:rPr lang="en-US" sz="800" b="1" dirty="0">
                <a:solidFill>
                  <a:srgbClr val="F59E0B"/>
                </a:solidFill>
                <a:latin typeface="Courier New" pitchFamily="34" charset="0"/>
                <a:ea typeface="Courier New" pitchFamily="34" charset="-122"/>
                <a:cs typeface="Courier New" pitchFamily="34" charset="-120"/>
              </a:rPr>
              <a:t>AS</a:t>
            </a:r>
            <a:endParaRPr lang="en-US" sz="800" dirty="0"/>
          </a:p>
        </p:txBody>
      </p:sp>
      <p:sp>
        <p:nvSpPr>
          <p:cNvPr id="59" name="Text 53"/>
          <p:cNvSpPr txBox="1"/>
          <p:nvPr/>
        </p:nvSpPr>
        <p:spPr>
          <a:xfrm>
            <a:off x="7541971" y="2220163"/>
            <a:ext cx="553212" cy="133502"/>
          </a:xfrm>
          <a:prstGeom prst="rect">
            <a:avLst/>
          </a:prstGeom>
          <a:noFill/>
          <a:ln/>
        </p:spPr>
        <p:txBody>
          <a:bodyPr wrap="square" lIns="0" tIns="0" rIns="0" bIns="0" rtlCol="0" anchor="ctr"/>
          <a:lstStyle/>
          <a:p>
            <a:pPr marL="0" indent="0" algn="l">
              <a:buNone/>
            </a:pPr>
            <a:r>
              <a:rPr lang="en-US" sz="800" dirty="0">
                <a:solidFill>
                  <a:srgbClr val="CBD5E1"/>
                </a:solidFill>
                <a:latin typeface="Courier New" pitchFamily="34" charset="0"/>
                <a:ea typeface="Courier New" pitchFamily="34" charset="-122"/>
                <a:cs typeface="Courier New" pitchFamily="34" charset="-120"/>
              </a:rPr>
              <a:t>duration</a:t>
            </a:r>
            <a:endParaRPr lang="en-US" sz="800" dirty="0"/>
          </a:p>
        </p:txBody>
      </p:sp>
      <p:sp>
        <p:nvSpPr>
          <p:cNvPr id="60" name="Text 54"/>
          <p:cNvSpPr txBox="1"/>
          <p:nvPr/>
        </p:nvSpPr>
        <p:spPr>
          <a:xfrm>
            <a:off x="8016545" y="2220163"/>
            <a:ext cx="314554" cy="133502"/>
          </a:xfrm>
          <a:prstGeom prst="rect">
            <a:avLst/>
          </a:prstGeom>
          <a:noFill/>
          <a:ln/>
        </p:spPr>
        <p:txBody>
          <a:bodyPr wrap="square" lIns="0" tIns="0" rIns="0" bIns="0" rtlCol="0" anchor="ctr"/>
          <a:lstStyle/>
          <a:p>
            <a:pPr marL="0" indent="0" algn="l">
              <a:buNone/>
            </a:pPr>
            <a:r>
              <a:rPr lang="en-US" sz="800" b="1" dirty="0">
                <a:solidFill>
                  <a:srgbClr val="F59E0B"/>
                </a:solidFill>
                <a:latin typeface="Courier New" pitchFamily="34" charset="0"/>
                <a:ea typeface="Courier New" pitchFamily="34" charset="-122"/>
                <a:cs typeface="Courier New" pitchFamily="34" charset="-120"/>
              </a:rPr>
              <a:t>FROM</a:t>
            </a:r>
            <a:endParaRPr lang="en-US" sz="800" dirty="0"/>
          </a:p>
        </p:txBody>
      </p:sp>
      <p:sp>
        <p:nvSpPr>
          <p:cNvPr id="61" name="Text 55"/>
          <p:cNvSpPr txBox="1"/>
          <p:nvPr/>
        </p:nvSpPr>
        <p:spPr>
          <a:xfrm>
            <a:off x="8254289" y="2220163"/>
            <a:ext cx="790956" cy="133502"/>
          </a:xfrm>
          <a:prstGeom prst="rect">
            <a:avLst/>
          </a:prstGeom>
          <a:noFill/>
          <a:ln/>
        </p:spPr>
        <p:txBody>
          <a:bodyPr wrap="square" lIns="0" tIns="0" rIns="0" bIns="0" rtlCol="0" anchor="ctr"/>
          <a:lstStyle/>
          <a:p>
            <a:pPr marL="0" indent="0" algn="l">
              <a:buNone/>
            </a:pPr>
            <a:r>
              <a:rPr lang="en-US" sz="800" dirty="0">
                <a:solidFill>
                  <a:srgbClr val="CBD5E1"/>
                </a:solidFill>
                <a:latin typeface="Courier New" pitchFamily="34" charset="0"/>
                <a:ea typeface="Courier New" pitchFamily="34" charset="-122"/>
                <a:cs typeface="Courier New" pitchFamily="34" charset="-120"/>
              </a:rPr>
              <a:t>traffic_logs</a:t>
            </a:r>
            <a:endParaRPr lang="en-US" sz="800" dirty="0"/>
          </a:p>
        </p:txBody>
      </p:sp>
      <p:sp>
        <p:nvSpPr>
          <p:cNvPr id="62" name="Text 56"/>
          <p:cNvSpPr txBox="1"/>
          <p:nvPr/>
        </p:nvSpPr>
        <p:spPr>
          <a:xfrm>
            <a:off x="8967521" y="2220163"/>
            <a:ext cx="438912" cy="133502"/>
          </a:xfrm>
          <a:prstGeom prst="rect">
            <a:avLst/>
          </a:prstGeom>
          <a:noFill/>
          <a:ln/>
        </p:spPr>
        <p:txBody>
          <a:bodyPr wrap="square" lIns="0" tIns="0" rIns="0" bIns="0" rtlCol="0" anchor="ctr"/>
          <a:lstStyle/>
          <a:p>
            <a:pPr marL="0" indent="0" algn="l">
              <a:buNone/>
            </a:pPr>
            <a:r>
              <a:rPr lang="en-US" sz="800" b="1" dirty="0">
                <a:solidFill>
                  <a:srgbClr val="F59E0B"/>
                </a:solidFill>
                <a:latin typeface="Courier New" pitchFamily="34" charset="0"/>
                <a:ea typeface="Courier New" pitchFamily="34" charset="-122"/>
                <a:cs typeface="Courier New" pitchFamily="34" charset="-120"/>
              </a:rPr>
              <a:t>HAVING</a:t>
            </a:r>
            <a:endParaRPr lang="en-US" sz="800" dirty="0"/>
          </a:p>
        </p:txBody>
      </p:sp>
      <p:sp>
        <p:nvSpPr>
          <p:cNvPr id="63" name="Text 57"/>
          <p:cNvSpPr txBox="1"/>
          <p:nvPr/>
        </p:nvSpPr>
        <p:spPr>
          <a:xfrm>
            <a:off x="9324137" y="2220163"/>
            <a:ext cx="676656" cy="133502"/>
          </a:xfrm>
          <a:prstGeom prst="rect">
            <a:avLst/>
          </a:prstGeom>
          <a:noFill/>
          <a:ln/>
        </p:spPr>
        <p:txBody>
          <a:bodyPr wrap="square" lIns="0" tIns="0" rIns="0" bIns="0" rtlCol="0" anchor="ctr"/>
          <a:lstStyle/>
          <a:p>
            <a:pPr marL="0" indent="0" algn="l">
              <a:buNone/>
            </a:pPr>
            <a:r>
              <a:rPr lang="en-US" sz="800" dirty="0">
                <a:solidFill>
                  <a:srgbClr val="CBD5E1"/>
                </a:solidFill>
                <a:latin typeface="Courier New" pitchFamily="34" charset="0"/>
                <a:ea typeface="Courier New" pitchFamily="34" charset="-122"/>
                <a:cs typeface="Courier New" pitchFamily="34" charset="-120"/>
              </a:rPr>
              <a:t>duration &gt;</a:t>
            </a:r>
            <a:endParaRPr lang="en-US" sz="800" dirty="0"/>
          </a:p>
        </p:txBody>
      </p:sp>
      <p:sp>
        <p:nvSpPr>
          <p:cNvPr id="64" name="Text 58"/>
          <p:cNvSpPr txBox="1"/>
          <p:nvPr/>
        </p:nvSpPr>
        <p:spPr>
          <a:xfrm>
            <a:off x="9917582" y="2220163"/>
            <a:ext cx="314554" cy="133502"/>
          </a:xfrm>
          <a:prstGeom prst="rect">
            <a:avLst/>
          </a:prstGeom>
          <a:noFill/>
          <a:ln/>
        </p:spPr>
        <p:txBody>
          <a:bodyPr wrap="square" lIns="0" tIns="0" rIns="0" bIns="0" rtlCol="0" anchor="ctr"/>
          <a:lstStyle/>
          <a:p>
            <a:pPr marL="0" indent="0" algn="l">
              <a:buNone/>
            </a:pPr>
            <a:r>
              <a:rPr lang="en-US" sz="800" dirty="0">
                <a:solidFill>
                  <a:srgbClr val="38BDF8"/>
                </a:solidFill>
                <a:latin typeface="Courier New" pitchFamily="34" charset="0"/>
                <a:ea typeface="Courier New" pitchFamily="34" charset="-122"/>
                <a:cs typeface="Courier New" pitchFamily="34" charset="-120"/>
              </a:rPr>
              <a:t>3600</a:t>
            </a:r>
            <a:endParaRPr lang="en-US" sz="800" dirty="0"/>
          </a:p>
        </p:txBody>
      </p:sp>
      <p:sp>
        <p:nvSpPr>
          <p:cNvPr id="65" name="Text 59"/>
          <p:cNvSpPr txBox="1"/>
          <p:nvPr/>
        </p:nvSpPr>
        <p:spPr>
          <a:xfrm>
            <a:off x="10155326" y="2220163"/>
            <a:ext cx="143561" cy="133502"/>
          </a:xfrm>
          <a:prstGeom prst="rect">
            <a:avLst/>
          </a:prstGeom>
          <a:noFill/>
          <a:ln/>
        </p:spPr>
        <p:txBody>
          <a:bodyPr wrap="square" lIns="0" tIns="0" rIns="0" bIns="0" rtlCol="0" anchor="ctr"/>
          <a:lstStyle/>
          <a:p>
            <a:pPr marL="0" indent="0" algn="l">
              <a:buNone/>
            </a:pPr>
            <a:r>
              <a:rPr lang="en-US" sz="800" dirty="0">
                <a:solidFill>
                  <a:srgbClr val="CBD5E1"/>
                </a:solidFill>
                <a:latin typeface="Courier New" pitchFamily="34" charset="0"/>
                <a:ea typeface="Courier New" pitchFamily="34" charset="-122"/>
                <a:cs typeface="Courier New" pitchFamily="34" charset="-120"/>
              </a:rPr>
              <a:t>;</a:t>
            </a:r>
            <a:endParaRPr lang="en-US" sz="800" dirty="0"/>
          </a:p>
        </p:txBody>
      </p:sp>
      <p:sp>
        <p:nvSpPr>
          <p:cNvPr id="66" name="Text 60"/>
          <p:cNvSpPr txBox="1"/>
          <p:nvPr/>
        </p:nvSpPr>
        <p:spPr>
          <a:xfrm>
            <a:off x="10214762" y="2220163"/>
            <a:ext cx="1209751" cy="133502"/>
          </a:xfrm>
          <a:prstGeom prst="rect">
            <a:avLst/>
          </a:prstGeom>
          <a:noFill/>
          <a:ln/>
        </p:spPr>
        <p:txBody>
          <a:bodyPr wrap="square" lIns="0" tIns="0" rIns="0" bIns="0" rtlCol="0" anchor="ctr"/>
          <a:lstStyle/>
          <a:p>
            <a:pPr marL="0" indent="0" algn="l">
              <a:buNone/>
            </a:pPr>
            <a:r>
              <a:rPr lang="en-US" sz="800" dirty="0">
                <a:solidFill>
                  <a:srgbClr val="6B7280"/>
                </a:solidFill>
                <a:latin typeface="Courier New" pitchFamily="34" charset="0"/>
                <a:ea typeface="Courier New" pitchFamily="34" charset="-122"/>
                <a:cs typeface="Courier New" pitchFamily="34" charset="-120"/>
              </a:rPr>
              <a:t>-- 1 Hour Threshold</a:t>
            </a:r>
            <a:endParaRPr lang="en-US" sz="800" dirty="0"/>
          </a:p>
        </p:txBody>
      </p:sp>
      <p:pic>
        <p:nvPicPr>
          <p:cNvPr id="67" name="Image 4" descr="preencoded.png"/>
          <p:cNvPicPr>
            <a:picLocks noChangeAspect="1"/>
          </p:cNvPicPr>
          <p:nvPr/>
        </p:nvPicPr>
        <p:blipFill>
          <a:blip r:embed="rId7"/>
          <a:srcRect l="-5" r="-5"/>
          <a:stretch/>
        </p:blipFill>
        <p:spPr>
          <a:xfrm>
            <a:off x="6448349" y="2551176"/>
            <a:ext cx="5086807" cy="2743200"/>
          </a:xfrm>
          <a:prstGeom prst="rect">
            <a:avLst/>
          </a:prstGeom>
        </p:spPr>
      </p:pic>
      <p:sp>
        <p:nvSpPr>
          <p:cNvPr id="68" name="Shape 61"/>
          <p:cNvSpPr/>
          <p:nvPr/>
        </p:nvSpPr>
        <p:spPr>
          <a:xfrm>
            <a:off x="6448349" y="5296205"/>
            <a:ext cx="5086807" cy="9144"/>
          </a:xfrm>
          <a:prstGeom prst="rect">
            <a:avLst/>
          </a:prstGeom>
          <a:solidFill>
            <a:srgbClr val="374151">
              <a:alpha val="50000"/>
            </a:srgbClr>
          </a:solidFill>
          <a:ln/>
        </p:spPr>
      </p:sp>
      <p:sp>
        <p:nvSpPr>
          <p:cNvPr id="69" name="Text 62"/>
          <p:cNvSpPr txBox="1"/>
          <p:nvPr/>
        </p:nvSpPr>
        <p:spPr>
          <a:xfrm>
            <a:off x="6448349" y="5438851"/>
            <a:ext cx="1534363" cy="191110"/>
          </a:xfrm>
          <a:prstGeom prst="rect">
            <a:avLst/>
          </a:prstGeom>
          <a:noFill/>
          <a:ln/>
        </p:spPr>
        <p:txBody>
          <a:bodyPr wrap="square" lIns="0" tIns="0" rIns="0" bIns="0" rtlCol="0" anchor="ctr"/>
          <a:lstStyle/>
          <a:p>
            <a:pPr marL="0" indent="0" algn="l">
              <a:buNone/>
            </a:pPr>
            <a:r>
              <a:rPr lang="en-US" sz="1200" b="1" dirty="0">
                <a:solidFill>
                  <a:srgbClr val="6B7280"/>
                </a:solidFill>
                <a:latin typeface="Inter" pitchFamily="34" charset="0"/>
                <a:ea typeface="Inter" pitchFamily="34" charset="-122"/>
                <a:cs typeface="Inter" pitchFamily="34" charset="-120"/>
              </a:rPr>
              <a:t>INTERPRETATION</a:t>
            </a:r>
            <a:endParaRPr lang="en-US" sz="1200" dirty="0"/>
          </a:p>
        </p:txBody>
      </p:sp>
      <p:sp>
        <p:nvSpPr>
          <p:cNvPr id="70" name="Text 63"/>
          <p:cNvSpPr txBox="1"/>
          <p:nvPr/>
        </p:nvSpPr>
        <p:spPr>
          <a:xfrm>
            <a:off x="6448349" y="5686654"/>
            <a:ext cx="3162910" cy="305410"/>
          </a:xfrm>
          <a:prstGeom prst="rect">
            <a:avLst/>
          </a:prstGeom>
          <a:noFill/>
          <a:ln/>
        </p:spPr>
        <p:txBody>
          <a:bodyPr wrap="square" lIns="0" tIns="0" rIns="0" bIns="0" rtlCol="0" anchor="ctr"/>
          <a:lstStyle/>
          <a:p>
            <a:pPr marL="0" indent="0" algn="l">
              <a:buNone/>
            </a:pPr>
            <a:r>
              <a:rPr lang="en-US" sz="900" dirty="0">
                <a:solidFill>
                  <a:srgbClr val="D1D5DB"/>
                </a:solidFill>
                <a:latin typeface="Inter" pitchFamily="34" charset="0"/>
                <a:ea typeface="Inter" pitchFamily="34" charset="-122"/>
                <a:cs typeface="Inter" pitchFamily="34" charset="-120"/>
              </a:rPr>
              <a:t>Sessions &gt; 1 hour suggest data scraping, C2 beacons, or slow-loris attacks.</a:t>
            </a:r>
            <a:endParaRPr lang="en-US" sz="900" dirty="0"/>
          </a:p>
        </p:txBody>
      </p:sp>
      <p:sp>
        <p:nvSpPr>
          <p:cNvPr id="71" name="Shape 64"/>
          <p:cNvSpPr/>
          <p:nvPr/>
        </p:nvSpPr>
        <p:spPr>
          <a:xfrm>
            <a:off x="9731959" y="5467198"/>
            <a:ext cx="9144" cy="533095"/>
          </a:xfrm>
          <a:prstGeom prst="rect">
            <a:avLst/>
          </a:prstGeom>
          <a:solidFill>
            <a:srgbClr val="1F2937"/>
          </a:solidFill>
          <a:ln/>
        </p:spPr>
      </p:sp>
      <p:sp>
        <p:nvSpPr>
          <p:cNvPr id="72" name="Text 65"/>
          <p:cNvSpPr txBox="1"/>
          <p:nvPr/>
        </p:nvSpPr>
        <p:spPr>
          <a:xfrm>
            <a:off x="9893808" y="5486400"/>
            <a:ext cx="1762963" cy="191110"/>
          </a:xfrm>
          <a:prstGeom prst="rect">
            <a:avLst/>
          </a:prstGeom>
          <a:noFill/>
          <a:ln/>
        </p:spPr>
        <p:txBody>
          <a:bodyPr wrap="square" lIns="0" tIns="0" rIns="0" bIns="0" rtlCol="0" anchor="ctr"/>
          <a:lstStyle/>
          <a:p>
            <a:pPr marL="0" indent="0" algn="r">
              <a:buNone/>
            </a:pPr>
            <a:r>
              <a:rPr lang="en-US" sz="1200" b="1" dirty="0">
                <a:solidFill>
                  <a:srgbClr val="6B7280"/>
                </a:solidFill>
                <a:latin typeface="Inter" pitchFamily="34" charset="0"/>
                <a:ea typeface="Inter" pitchFamily="34" charset="-122"/>
                <a:cs typeface="Inter" pitchFamily="34" charset="-120"/>
              </a:rPr>
              <a:t>FLAGGED SESSIONS</a:t>
            </a:r>
            <a:endParaRPr lang="en-US" sz="1200" dirty="0"/>
          </a:p>
        </p:txBody>
      </p:sp>
      <p:sp>
        <p:nvSpPr>
          <p:cNvPr id="73" name="Text 66"/>
          <p:cNvSpPr txBox="1"/>
          <p:nvPr/>
        </p:nvSpPr>
        <p:spPr>
          <a:xfrm>
            <a:off x="11419942" y="5743346"/>
            <a:ext cx="267005" cy="247802"/>
          </a:xfrm>
          <a:prstGeom prst="rect">
            <a:avLst/>
          </a:prstGeom>
          <a:noFill/>
          <a:ln/>
        </p:spPr>
        <p:txBody>
          <a:bodyPr wrap="square" lIns="0" tIns="0" rIns="0" bIns="0" rtlCol="0" anchor="ctr"/>
          <a:lstStyle/>
          <a:p>
            <a:pPr marL="0" indent="0" algn="r">
              <a:buNone/>
            </a:pPr>
            <a:r>
              <a:rPr lang="en-US" sz="1500" b="1" dirty="0">
                <a:solidFill>
                  <a:srgbClr val="FFFFFF"/>
                </a:solidFill>
                <a:latin typeface="Courier New" pitchFamily="34" charset="0"/>
                <a:ea typeface="Courier New" pitchFamily="34" charset="-122"/>
                <a:cs typeface="Courier New" pitchFamily="34" charset="-120"/>
              </a:rPr>
              <a:t>8</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120"/>
          </a:solidFill>
          <a:ln/>
        </p:spPr>
      </p:sp>
      <p:sp>
        <p:nvSpPr>
          <p:cNvPr id="3" name="Shape 1"/>
          <p:cNvSpPr/>
          <p:nvPr/>
        </p:nvSpPr>
        <p:spPr>
          <a:xfrm>
            <a:off x="0" y="0"/>
            <a:ext cx="12191695" cy="6858000"/>
          </a:xfrm>
          <a:prstGeom prst="rect">
            <a:avLst/>
          </a:prstGeom>
          <a:solidFill>
            <a:srgbClr val="0B1120"/>
          </a:solidFill>
          <a:ln/>
        </p:spPr>
      </p:sp>
      <p:sp>
        <p:nvSpPr>
          <p:cNvPr id="4" name="Shape 2"/>
          <p:cNvSpPr/>
          <p:nvPr/>
        </p:nvSpPr>
        <p:spPr>
          <a:xfrm>
            <a:off x="8534095" y="0"/>
            <a:ext cx="3657600" cy="3657600"/>
          </a:xfrm>
          <a:prstGeom prst="roundRect">
            <a:avLst>
              <a:gd name="adj" fmla="val 25000"/>
            </a:avLst>
          </a:prstGeom>
          <a:solidFill>
            <a:srgbClr val="1E3A8A">
              <a:alpha val="10000"/>
            </a:srgbClr>
          </a:solidFill>
          <a:ln/>
        </p:spPr>
      </p:sp>
      <p:sp>
        <p:nvSpPr>
          <p:cNvPr id="5" name="Shape 3"/>
          <p:cNvSpPr/>
          <p:nvPr/>
        </p:nvSpPr>
        <p:spPr>
          <a:xfrm>
            <a:off x="0" y="4419295"/>
            <a:ext cx="2438705" cy="2438705"/>
          </a:xfrm>
          <a:prstGeom prst="roundRect">
            <a:avLst>
              <a:gd name="adj" fmla="val 37495"/>
            </a:avLst>
          </a:prstGeom>
          <a:solidFill>
            <a:srgbClr val="312E81">
              <a:alpha val="10000"/>
            </a:srgbClr>
          </a:solidFill>
          <a:ln/>
        </p:spPr>
      </p:sp>
      <p:sp>
        <p:nvSpPr>
          <p:cNvPr id="6" name="Shape 4"/>
          <p:cNvSpPr/>
          <p:nvPr/>
        </p:nvSpPr>
        <p:spPr>
          <a:xfrm>
            <a:off x="457200" y="6864401"/>
            <a:ext cx="11277295" cy="9144"/>
          </a:xfrm>
          <a:prstGeom prst="rect">
            <a:avLst/>
          </a:prstGeom>
          <a:solidFill>
            <a:srgbClr val="1F2937"/>
          </a:solidFill>
          <a:ln/>
        </p:spPr>
      </p:sp>
      <p:sp>
        <p:nvSpPr>
          <p:cNvPr id="8" name="Text 6"/>
          <p:cNvSpPr txBox="1"/>
          <p:nvPr/>
        </p:nvSpPr>
        <p:spPr>
          <a:xfrm>
            <a:off x="10728655" y="6655615"/>
            <a:ext cx="638251" cy="133502"/>
          </a:xfrm>
          <a:prstGeom prst="rect">
            <a:avLst/>
          </a:prstGeom>
          <a:noFill/>
          <a:ln/>
        </p:spPr>
        <p:txBody>
          <a:bodyPr wrap="square" lIns="0" tIns="0" rIns="0" bIns="0" rtlCol="0" anchor="ctr"/>
          <a:lstStyle/>
          <a:p>
            <a:pPr marL="0" indent="0" algn="l">
              <a:buNone/>
            </a:pPr>
            <a:r>
              <a:rPr lang="en-US" sz="900" dirty="0">
                <a:solidFill>
                  <a:srgbClr val="4B5563"/>
                </a:solidFill>
                <a:latin typeface="ui-monospace" pitchFamily="34" charset="0"/>
                <a:ea typeface="ui-monospace" pitchFamily="34" charset="-122"/>
                <a:cs typeface="ui-monospace" pitchFamily="34" charset="-120"/>
              </a:rPr>
              <a:t>SLIDE 12</a:t>
            </a:r>
            <a:endParaRPr lang="en-US" sz="900" dirty="0"/>
          </a:p>
        </p:txBody>
      </p:sp>
      <p:sp>
        <p:nvSpPr>
          <p:cNvPr id="9" name="Shape 7"/>
          <p:cNvSpPr/>
          <p:nvPr/>
        </p:nvSpPr>
        <p:spPr>
          <a:xfrm>
            <a:off x="0" y="1181405"/>
            <a:ext cx="12191695" cy="9144"/>
          </a:xfrm>
          <a:prstGeom prst="rect">
            <a:avLst/>
          </a:prstGeom>
          <a:solidFill>
            <a:srgbClr val="1F2937"/>
          </a:solidFill>
          <a:ln/>
        </p:spPr>
      </p:sp>
      <p:pic>
        <p:nvPicPr>
          <p:cNvPr id="10" name="Image 0" descr="preencoded.png"/>
          <p:cNvPicPr>
            <a:picLocks noChangeAspect="1"/>
          </p:cNvPicPr>
          <p:nvPr/>
        </p:nvPicPr>
        <p:blipFill>
          <a:blip r:embed="rId3"/>
          <a:srcRect l="-2512" r="-2512"/>
          <a:stretch/>
        </p:blipFill>
        <p:spPr>
          <a:xfrm>
            <a:off x="457200" y="390449"/>
            <a:ext cx="105156" cy="133502"/>
          </a:xfrm>
          <a:prstGeom prst="rect">
            <a:avLst/>
          </a:prstGeom>
        </p:spPr>
      </p:pic>
      <p:sp>
        <p:nvSpPr>
          <p:cNvPr id="11" name="Shape 8"/>
          <p:cNvSpPr/>
          <p:nvPr/>
        </p:nvSpPr>
        <p:spPr>
          <a:xfrm>
            <a:off x="9998964" y="590702"/>
            <a:ext cx="1742846" cy="362102"/>
          </a:xfrm>
          <a:prstGeom prst="roundRect">
            <a:avLst>
              <a:gd name="adj" fmla="val 53163"/>
            </a:avLst>
          </a:prstGeom>
          <a:solidFill>
            <a:srgbClr val="1E3A8A">
              <a:alpha val="30000"/>
            </a:srgbClr>
          </a:solidFill>
          <a:ln w="12700">
            <a:solidFill>
              <a:srgbClr val="1E40AF"/>
            </a:solidFill>
            <a:prstDash val="solid"/>
          </a:ln>
        </p:spPr>
      </p:sp>
      <p:pic>
        <p:nvPicPr>
          <p:cNvPr id="12" name="Image 1" descr="preencoded.png"/>
          <p:cNvPicPr>
            <a:picLocks noChangeAspect="1"/>
          </p:cNvPicPr>
          <p:nvPr/>
        </p:nvPicPr>
        <p:blipFill>
          <a:blip r:embed="rId4"/>
          <a:srcRect t="-43" b="-43"/>
          <a:stretch/>
        </p:blipFill>
        <p:spPr>
          <a:xfrm>
            <a:off x="10160813" y="694944"/>
            <a:ext cx="133502" cy="152705"/>
          </a:xfrm>
          <a:prstGeom prst="rect">
            <a:avLst/>
          </a:prstGeom>
        </p:spPr>
      </p:pic>
      <p:sp>
        <p:nvSpPr>
          <p:cNvPr id="13" name="Text 9"/>
          <p:cNvSpPr txBox="1"/>
          <p:nvPr/>
        </p:nvSpPr>
        <p:spPr>
          <a:xfrm>
            <a:off x="638251" y="381305"/>
            <a:ext cx="1505102" cy="143561"/>
          </a:xfrm>
          <a:prstGeom prst="rect">
            <a:avLst/>
          </a:prstGeom>
          <a:noFill/>
          <a:ln/>
        </p:spPr>
        <p:txBody>
          <a:bodyPr wrap="square" lIns="0" tIns="0" rIns="0" bIns="0" rtlCol="0" anchor="ctr"/>
          <a:lstStyle/>
          <a:p>
            <a:pPr marL="0" indent="0" algn="l">
              <a:buNone/>
            </a:pPr>
            <a:r>
              <a:rPr lang="en-US" sz="900" b="1" dirty="0">
                <a:solidFill>
                  <a:srgbClr val="FFFFFF"/>
                </a:solidFill>
                <a:latin typeface="Inter" pitchFamily="34" charset="0"/>
                <a:ea typeface="Inter" pitchFamily="34" charset="-122"/>
                <a:cs typeface="Inter" pitchFamily="34" charset="-120"/>
              </a:rPr>
              <a:t>PROJECT OUTCOMES</a:t>
            </a:r>
            <a:endParaRPr lang="en-US" sz="900" dirty="0"/>
          </a:p>
        </p:txBody>
      </p:sp>
      <p:sp>
        <p:nvSpPr>
          <p:cNvPr id="14" name="Text 10"/>
          <p:cNvSpPr txBox="1"/>
          <p:nvPr/>
        </p:nvSpPr>
        <p:spPr>
          <a:xfrm>
            <a:off x="457200" y="543154"/>
            <a:ext cx="4086454" cy="438912"/>
          </a:xfrm>
          <a:prstGeom prst="rect">
            <a:avLst/>
          </a:prstGeom>
          <a:noFill/>
          <a:ln/>
        </p:spPr>
        <p:txBody>
          <a:bodyPr wrap="square" lIns="0" tIns="0" rIns="0" bIns="0" rtlCol="0" anchor="ctr"/>
          <a:lstStyle/>
          <a:p>
            <a:pPr marL="0" indent="0" algn="l">
              <a:buNone/>
            </a:pPr>
            <a:r>
              <a:rPr lang="en-US" sz="2700" b="1" dirty="0">
                <a:solidFill>
                  <a:srgbClr val="FFFFFF"/>
                </a:solidFill>
                <a:latin typeface="Space Grotesk" pitchFamily="34" charset="0"/>
                <a:ea typeface="Space Grotesk" pitchFamily="34" charset="-122"/>
                <a:cs typeface="Space Grotesk" pitchFamily="34" charset="-120"/>
              </a:rPr>
              <a:t>Key Findings &amp; Insights</a:t>
            </a:r>
            <a:endParaRPr lang="en-US" sz="2700" dirty="0"/>
          </a:p>
        </p:txBody>
      </p:sp>
      <p:sp>
        <p:nvSpPr>
          <p:cNvPr id="15" name="Text 11"/>
          <p:cNvSpPr txBox="1"/>
          <p:nvPr/>
        </p:nvSpPr>
        <p:spPr>
          <a:xfrm>
            <a:off x="10370210" y="685800"/>
            <a:ext cx="1310335" cy="162763"/>
          </a:xfrm>
          <a:prstGeom prst="rect">
            <a:avLst/>
          </a:prstGeom>
          <a:noFill/>
          <a:ln/>
        </p:spPr>
        <p:txBody>
          <a:bodyPr wrap="square" lIns="0" tIns="0" rIns="0" bIns="0" rtlCol="0" anchor="ctr"/>
          <a:lstStyle/>
          <a:p>
            <a:pPr marL="0" indent="0" algn="l">
              <a:buNone/>
            </a:pPr>
            <a:r>
              <a:rPr lang="en-US" sz="1000" dirty="0">
                <a:solidFill>
                  <a:srgbClr val="D1D5DB"/>
                </a:solidFill>
                <a:latin typeface="Inter" pitchFamily="34" charset="0"/>
                <a:ea typeface="Inter" pitchFamily="34" charset="-122"/>
                <a:cs typeface="Inter" pitchFamily="34" charset="-120"/>
              </a:rPr>
              <a:t>5 Core Discoveries</a:t>
            </a:r>
            <a:endParaRPr lang="en-US" sz="1000" dirty="0"/>
          </a:p>
        </p:txBody>
      </p:sp>
      <p:sp>
        <p:nvSpPr>
          <p:cNvPr id="16" name="Shape 12"/>
          <p:cNvSpPr/>
          <p:nvPr/>
        </p:nvSpPr>
        <p:spPr>
          <a:xfrm>
            <a:off x="457200" y="1495044"/>
            <a:ext cx="3610051" cy="2305202"/>
          </a:xfrm>
          <a:prstGeom prst="roundRect">
            <a:avLst>
              <a:gd name="adj" fmla="val 1967"/>
            </a:avLst>
          </a:prstGeom>
          <a:solidFill>
            <a:srgbClr val="1E293B">
              <a:alpha val="40000"/>
            </a:srgbClr>
          </a:solidFill>
          <a:ln w="12700">
            <a:solidFill>
              <a:srgbClr val="38BDF8">
                <a:alpha val="15000"/>
              </a:srgbClr>
            </a:solidFill>
            <a:prstDash val="solid"/>
          </a:ln>
        </p:spPr>
      </p:sp>
      <p:sp>
        <p:nvSpPr>
          <p:cNvPr id="17" name="Text 13"/>
          <p:cNvSpPr txBox="1"/>
          <p:nvPr/>
        </p:nvSpPr>
        <p:spPr>
          <a:xfrm>
            <a:off x="2892247" y="1152144"/>
            <a:ext cx="2115007" cy="1457554"/>
          </a:xfrm>
          <a:prstGeom prst="rect">
            <a:avLst/>
          </a:prstGeom>
          <a:noFill/>
          <a:ln/>
        </p:spPr>
        <p:txBody>
          <a:bodyPr wrap="square" lIns="0" tIns="0" rIns="0" bIns="0" rtlCol="0" anchor="ctr"/>
          <a:lstStyle/>
          <a:p>
            <a:pPr marL="0" indent="0" algn="l">
              <a:buNone/>
            </a:pPr>
            <a:r>
              <a:rPr lang="en-US" sz="9000" b="1" dirty="0">
                <a:solidFill>
                  <a:srgbClr val="FFFFFF"/>
                </a:solidFill>
                <a:latin typeface="Space Grotesk" pitchFamily="34" charset="0"/>
                <a:ea typeface="Space Grotesk" pitchFamily="34" charset="-122"/>
                <a:cs typeface="Space Grotesk" pitchFamily="34" charset="-120"/>
              </a:rPr>
              <a:t>01</a:t>
            </a:r>
            <a:endParaRPr lang="en-US" sz="9000" dirty="0"/>
          </a:p>
        </p:txBody>
      </p:sp>
      <p:sp>
        <p:nvSpPr>
          <p:cNvPr id="18" name="Shape 14"/>
          <p:cNvSpPr/>
          <p:nvPr/>
        </p:nvSpPr>
        <p:spPr>
          <a:xfrm>
            <a:off x="694944" y="1733702"/>
            <a:ext cx="457200" cy="457200"/>
          </a:xfrm>
          <a:prstGeom prst="roundRect">
            <a:avLst>
              <a:gd name="adj" fmla="val 41667"/>
            </a:avLst>
          </a:prstGeom>
          <a:solidFill>
            <a:srgbClr val="38BDF8">
              <a:alpha val="10000"/>
            </a:srgbClr>
          </a:solidFill>
          <a:ln w="12700">
            <a:solidFill>
              <a:srgbClr val="38BDF8">
                <a:alpha val="20000"/>
              </a:srgbClr>
            </a:solidFill>
            <a:prstDash val="solid"/>
          </a:ln>
        </p:spPr>
      </p:sp>
      <p:pic>
        <p:nvPicPr>
          <p:cNvPr id="19" name="Image 2" descr="preencoded.png"/>
          <p:cNvPicPr>
            <a:picLocks noChangeAspect="1"/>
          </p:cNvPicPr>
          <p:nvPr/>
        </p:nvPicPr>
        <p:blipFill>
          <a:blip r:embed="rId5"/>
          <a:srcRect/>
          <a:stretch/>
        </p:blipFill>
        <p:spPr>
          <a:xfrm>
            <a:off x="804672" y="1867205"/>
            <a:ext cx="237744" cy="190195"/>
          </a:xfrm>
          <a:prstGeom prst="rect">
            <a:avLst/>
          </a:prstGeom>
        </p:spPr>
      </p:pic>
      <p:sp>
        <p:nvSpPr>
          <p:cNvPr id="20" name="Text 15"/>
          <p:cNvSpPr txBox="1"/>
          <p:nvPr/>
        </p:nvSpPr>
        <p:spPr>
          <a:xfrm>
            <a:off x="694944" y="2352751"/>
            <a:ext cx="2162556" cy="247802"/>
          </a:xfrm>
          <a:prstGeom prst="rect">
            <a:avLst/>
          </a:prstGeom>
          <a:noFill/>
          <a:ln/>
        </p:spPr>
        <p:txBody>
          <a:bodyPr wrap="square" lIns="0" tIns="0" rIns="0" bIns="0" rtlCol="0" anchor="ctr"/>
          <a:lstStyle/>
          <a:p>
            <a:pPr marL="0" indent="0" algn="l">
              <a:buNone/>
            </a:pPr>
            <a:r>
              <a:rPr lang="en-US" sz="1500" b="1" dirty="0">
                <a:solidFill>
                  <a:srgbClr val="FFFFFF"/>
                </a:solidFill>
                <a:latin typeface="Space Grotesk" pitchFamily="34" charset="0"/>
                <a:ea typeface="Space Grotesk" pitchFamily="34" charset="-122"/>
                <a:cs typeface="Space Grotesk" pitchFamily="34" charset="-120"/>
              </a:rPr>
              <a:t>Non-Random Patterns</a:t>
            </a:r>
            <a:endParaRPr lang="en-US" sz="1500" dirty="0"/>
          </a:p>
        </p:txBody>
      </p:sp>
      <p:sp>
        <p:nvSpPr>
          <p:cNvPr id="21" name="Text 16"/>
          <p:cNvSpPr txBox="1"/>
          <p:nvPr/>
        </p:nvSpPr>
        <p:spPr>
          <a:xfrm>
            <a:off x="694944" y="2704795"/>
            <a:ext cx="3024835" cy="819302"/>
          </a:xfrm>
          <a:prstGeom prst="rect">
            <a:avLst/>
          </a:prstGeom>
          <a:noFill/>
          <a:ln/>
        </p:spPr>
        <p:txBody>
          <a:bodyPr wrap="square" lIns="0" tIns="0" rIns="0" bIns="0" rtlCol="0" anchor="ctr"/>
          <a:lstStyle/>
          <a:p>
            <a:pPr marL="0" indent="0" algn="l">
              <a:buNone/>
            </a:pPr>
            <a:r>
              <a:rPr lang="en-US" sz="1000" dirty="0">
                <a:solidFill>
                  <a:srgbClr val="D1D5DB"/>
                </a:solidFill>
                <a:latin typeface="Inter" pitchFamily="34" charset="0"/>
                <a:ea typeface="Inter" pitchFamily="34" charset="-122"/>
                <a:cs typeface="Inter" pitchFamily="34" charset="-120"/>
              </a:rPr>
              <a:t>Suspicious web traffic is highly structured and pattern-based, rather than random noise. Attackers use automated scripts that leave distinct digital footprints in log data.</a:t>
            </a:r>
            <a:endParaRPr lang="en-US" sz="1000" dirty="0"/>
          </a:p>
        </p:txBody>
      </p:sp>
      <p:sp>
        <p:nvSpPr>
          <p:cNvPr id="22" name="Shape 17"/>
          <p:cNvSpPr/>
          <p:nvPr/>
        </p:nvSpPr>
        <p:spPr>
          <a:xfrm>
            <a:off x="4292194" y="1495044"/>
            <a:ext cx="3610051" cy="2305202"/>
          </a:xfrm>
          <a:prstGeom prst="roundRect">
            <a:avLst>
              <a:gd name="adj" fmla="val 1967"/>
            </a:avLst>
          </a:prstGeom>
          <a:solidFill>
            <a:srgbClr val="1E293B">
              <a:alpha val="40000"/>
            </a:srgbClr>
          </a:solidFill>
          <a:ln w="12700">
            <a:solidFill>
              <a:srgbClr val="38BDF8">
                <a:alpha val="15000"/>
              </a:srgbClr>
            </a:solidFill>
            <a:prstDash val="solid"/>
          </a:ln>
        </p:spPr>
      </p:sp>
      <p:sp>
        <p:nvSpPr>
          <p:cNvPr id="23" name="Text 18"/>
          <p:cNvSpPr txBox="1"/>
          <p:nvPr/>
        </p:nvSpPr>
        <p:spPr>
          <a:xfrm>
            <a:off x="6565392" y="1152144"/>
            <a:ext cx="2286000" cy="1457554"/>
          </a:xfrm>
          <a:prstGeom prst="rect">
            <a:avLst/>
          </a:prstGeom>
          <a:noFill/>
          <a:ln/>
        </p:spPr>
        <p:txBody>
          <a:bodyPr wrap="square" lIns="0" tIns="0" rIns="0" bIns="0" rtlCol="0" anchor="ctr"/>
          <a:lstStyle/>
          <a:p>
            <a:pPr marL="0" indent="0" algn="l">
              <a:buNone/>
            </a:pPr>
            <a:r>
              <a:rPr lang="en-US" sz="9000" b="1" dirty="0">
                <a:solidFill>
                  <a:srgbClr val="FFFFFF"/>
                </a:solidFill>
                <a:latin typeface="Space Grotesk" pitchFamily="34" charset="0"/>
                <a:ea typeface="Space Grotesk" pitchFamily="34" charset="-122"/>
                <a:cs typeface="Space Grotesk" pitchFamily="34" charset="-120"/>
              </a:rPr>
              <a:t>02</a:t>
            </a:r>
            <a:endParaRPr lang="en-US" sz="9000" dirty="0"/>
          </a:p>
        </p:txBody>
      </p:sp>
      <p:sp>
        <p:nvSpPr>
          <p:cNvPr id="24" name="Shape 19"/>
          <p:cNvSpPr/>
          <p:nvPr/>
        </p:nvSpPr>
        <p:spPr>
          <a:xfrm>
            <a:off x="4530852" y="1733702"/>
            <a:ext cx="457200" cy="457200"/>
          </a:xfrm>
          <a:prstGeom prst="roundRect">
            <a:avLst>
              <a:gd name="adj" fmla="val 41667"/>
            </a:avLst>
          </a:prstGeom>
          <a:solidFill>
            <a:srgbClr val="818CF8">
              <a:alpha val="10000"/>
            </a:srgbClr>
          </a:solidFill>
          <a:ln w="12700">
            <a:solidFill>
              <a:srgbClr val="818CF8">
                <a:alpha val="20000"/>
              </a:srgbClr>
            </a:solidFill>
            <a:prstDash val="solid"/>
          </a:ln>
        </p:spPr>
      </p:sp>
      <p:pic>
        <p:nvPicPr>
          <p:cNvPr id="25" name="Image 3" descr="preencoded.png"/>
          <p:cNvPicPr>
            <a:picLocks noChangeAspect="1"/>
          </p:cNvPicPr>
          <p:nvPr/>
        </p:nvPicPr>
        <p:blipFill>
          <a:blip r:embed="rId6"/>
          <a:srcRect/>
          <a:stretch/>
        </p:blipFill>
        <p:spPr>
          <a:xfrm>
            <a:off x="4664354" y="1867205"/>
            <a:ext cx="190195" cy="190195"/>
          </a:xfrm>
          <a:prstGeom prst="rect">
            <a:avLst/>
          </a:prstGeom>
        </p:spPr>
      </p:pic>
      <p:sp>
        <p:nvSpPr>
          <p:cNvPr id="26" name="Text 20"/>
          <p:cNvSpPr txBox="1"/>
          <p:nvPr/>
        </p:nvSpPr>
        <p:spPr>
          <a:xfrm>
            <a:off x="4530852" y="2352751"/>
            <a:ext cx="2105863" cy="247802"/>
          </a:xfrm>
          <a:prstGeom prst="rect">
            <a:avLst/>
          </a:prstGeom>
          <a:noFill/>
          <a:ln/>
        </p:spPr>
        <p:txBody>
          <a:bodyPr wrap="square" lIns="0" tIns="0" rIns="0" bIns="0" rtlCol="0" anchor="ctr"/>
          <a:lstStyle/>
          <a:p>
            <a:pPr marL="0" indent="0" algn="l">
              <a:buNone/>
            </a:pPr>
            <a:r>
              <a:rPr lang="en-US" sz="1500" b="1" dirty="0">
                <a:solidFill>
                  <a:srgbClr val="FFFFFF"/>
                </a:solidFill>
                <a:latin typeface="Space Grotesk" pitchFamily="34" charset="0"/>
                <a:ea typeface="Space Grotesk" pitchFamily="34" charset="-122"/>
                <a:cs typeface="Space Grotesk" pitchFamily="34" charset="-120"/>
              </a:rPr>
              <a:t>Geographic Hotspots</a:t>
            </a:r>
            <a:endParaRPr lang="en-US" sz="1500" dirty="0"/>
          </a:p>
        </p:txBody>
      </p:sp>
      <p:sp>
        <p:nvSpPr>
          <p:cNvPr id="27" name="Text 21"/>
          <p:cNvSpPr txBox="1"/>
          <p:nvPr/>
        </p:nvSpPr>
        <p:spPr>
          <a:xfrm>
            <a:off x="4530852" y="2704795"/>
            <a:ext cx="3053182" cy="819302"/>
          </a:xfrm>
          <a:prstGeom prst="rect">
            <a:avLst/>
          </a:prstGeom>
          <a:noFill/>
          <a:ln/>
        </p:spPr>
        <p:txBody>
          <a:bodyPr wrap="square" lIns="0" tIns="0" rIns="0" bIns="0" rtlCol="0" anchor="ctr"/>
          <a:lstStyle/>
          <a:p>
            <a:pPr marL="0" indent="0" algn="l">
              <a:buNone/>
            </a:pPr>
            <a:r>
              <a:rPr lang="en-US" sz="1000" dirty="0">
                <a:solidFill>
                  <a:srgbClr val="D1D5DB"/>
                </a:solidFill>
                <a:latin typeface="Inter" pitchFamily="34" charset="0"/>
                <a:ea typeface="Inter" pitchFamily="34" charset="-122"/>
                <a:cs typeface="Inter" pitchFamily="34" charset="-120"/>
              </a:rPr>
              <a:t>A small number of specific geographic regions repeatedly appear in threat logs. This concentration suggests targeted campaigns or centralized botnet infrastructure.</a:t>
            </a:r>
            <a:endParaRPr lang="en-US" sz="1000" dirty="0"/>
          </a:p>
        </p:txBody>
      </p:sp>
      <p:sp>
        <p:nvSpPr>
          <p:cNvPr id="28" name="Shape 22"/>
          <p:cNvSpPr/>
          <p:nvPr/>
        </p:nvSpPr>
        <p:spPr>
          <a:xfrm>
            <a:off x="8128102" y="1495044"/>
            <a:ext cx="3610051" cy="2305202"/>
          </a:xfrm>
          <a:prstGeom prst="roundRect">
            <a:avLst>
              <a:gd name="adj" fmla="val 1967"/>
            </a:avLst>
          </a:prstGeom>
          <a:solidFill>
            <a:srgbClr val="1E293B">
              <a:alpha val="40000"/>
            </a:srgbClr>
          </a:solidFill>
          <a:ln w="12700">
            <a:solidFill>
              <a:srgbClr val="38BDF8">
                <a:alpha val="15000"/>
              </a:srgbClr>
            </a:solidFill>
            <a:prstDash val="solid"/>
          </a:ln>
        </p:spPr>
      </p:sp>
      <p:sp>
        <p:nvSpPr>
          <p:cNvPr id="29" name="Text 23"/>
          <p:cNvSpPr txBox="1"/>
          <p:nvPr/>
        </p:nvSpPr>
        <p:spPr>
          <a:xfrm>
            <a:off x="10384841" y="1152144"/>
            <a:ext cx="2296058" cy="1457554"/>
          </a:xfrm>
          <a:prstGeom prst="rect">
            <a:avLst/>
          </a:prstGeom>
          <a:noFill/>
          <a:ln/>
        </p:spPr>
        <p:txBody>
          <a:bodyPr wrap="square" lIns="0" tIns="0" rIns="0" bIns="0" rtlCol="0" anchor="ctr"/>
          <a:lstStyle/>
          <a:p>
            <a:pPr marL="0" indent="0" algn="l">
              <a:buNone/>
            </a:pPr>
            <a:r>
              <a:rPr lang="en-US" sz="9000" b="1" dirty="0">
                <a:solidFill>
                  <a:srgbClr val="FFFFFF"/>
                </a:solidFill>
                <a:latin typeface="Space Grotesk" pitchFamily="34" charset="0"/>
                <a:ea typeface="Space Grotesk" pitchFamily="34" charset="-122"/>
                <a:cs typeface="Space Grotesk" pitchFamily="34" charset="-120"/>
              </a:rPr>
              <a:t>03</a:t>
            </a:r>
            <a:endParaRPr lang="en-US" sz="9000" dirty="0"/>
          </a:p>
        </p:txBody>
      </p:sp>
      <p:sp>
        <p:nvSpPr>
          <p:cNvPr id="30" name="Shape 24"/>
          <p:cNvSpPr/>
          <p:nvPr/>
        </p:nvSpPr>
        <p:spPr>
          <a:xfrm>
            <a:off x="8365846" y="1733702"/>
            <a:ext cx="457200" cy="457200"/>
          </a:xfrm>
          <a:prstGeom prst="roundRect">
            <a:avLst>
              <a:gd name="adj" fmla="val 41667"/>
            </a:avLst>
          </a:prstGeom>
          <a:solidFill>
            <a:srgbClr val="C084FC">
              <a:alpha val="10000"/>
            </a:srgbClr>
          </a:solidFill>
          <a:ln w="12700">
            <a:solidFill>
              <a:srgbClr val="C084FC">
                <a:alpha val="20000"/>
              </a:srgbClr>
            </a:solidFill>
            <a:prstDash val="solid"/>
          </a:ln>
        </p:spPr>
      </p:sp>
      <p:pic>
        <p:nvPicPr>
          <p:cNvPr id="31" name="Image 4" descr="preencoded.png"/>
          <p:cNvPicPr>
            <a:picLocks noChangeAspect="1"/>
          </p:cNvPicPr>
          <p:nvPr/>
        </p:nvPicPr>
        <p:blipFill>
          <a:blip r:embed="rId7"/>
          <a:srcRect l="-1282" r="-1282"/>
          <a:stretch/>
        </p:blipFill>
        <p:spPr>
          <a:xfrm>
            <a:off x="8484718" y="1867205"/>
            <a:ext cx="219456" cy="190195"/>
          </a:xfrm>
          <a:prstGeom prst="rect">
            <a:avLst/>
          </a:prstGeom>
        </p:spPr>
      </p:pic>
      <p:sp>
        <p:nvSpPr>
          <p:cNvPr id="32" name="Text 25"/>
          <p:cNvSpPr txBox="1"/>
          <p:nvPr/>
        </p:nvSpPr>
        <p:spPr>
          <a:xfrm>
            <a:off x="8365846" y="2352751"/>
            <a:ext cx="1534363" cy="247802"/>
          </a:xfrm>
          <a:prstGeom prst="rect">
            <a:avLst/>
          </a:prstGeom>
          <a:noFill/>
          <a:ln/>
        </p:spPr>
        <p:txBody>
          <a:bodyPr wrap="square" lIns="0" tIns="0" rIns="0" bIns="0" rtlCol="0" anchor="ctr"/>
          <a:lstStyle/>
          <a:p>
            <a:pPr marL="0" indent="0" algn="l">
              <a:buNone/>
            </a:pPr>
            <a:r>
              <a:rPr lang="en-US" sz="1500" b="1" dirty="0">
                <a:solidFill>
                  <a:srgbClr val="FFFFFF"/>
                </a:solidFill>
                <a:latin typeface="Space Grotesk" pitchFamily="34" charset="0"/>
                <a:ea typeface="Space Grotesk" pitchFamily="34" charset="-122"/>
                <a:cs typeface="Space Grotesk" pitchFamily="34" charset="-120"/>
              </a:rPr>
              <a:t>HTTPS ≠ Safety</a:t>
            </a:r>
            <a:endParaRPr lang="en-US" sz="1500" dirty="0"/>
          </a:p>
        </p:txBody>
      </p:sp>
      <p:sp>
        <p:nvSpPr>
          <p:cNvPr id="33" name="Text 26"/>
          <p:cNvSpPr txBox="1"/>
          <p:nvPr/>
        </p:nvSpPr>
        <p:spPr>
          <a:xfrm>
            <a:off x="8365846" y="2704795"/>
            <a:ext cx="3119933" cy="819302"/>
          </a:xfrm>
          <a:prstGeom prst="rect">
            <a:avLst/>
          </a:prstGeom>
          <a:noFill/>
          <a:ln/>
        </p:spPr>
        <p:txBody>
          <a:bodyPr wrap="square" lIns="0" tIns="0" rIns="0" bIns="0" rtlCol="0" anchor="ctr"/>
          <a:lstStyle/>
          <a:p>
            <a:pPr marL="0" indent="0" algn="l">
              <a:buNone/>
            </a:pPr>
            <a:r>
              <a:rPr lang="en-US" sz="1000" dirty="0">
                <a:solidFill>
                  <a:srgbClr val="D1D5DB"/>
                </a:solidFill>
                <a:latin typeface="Inter" pitchFamily="34" charset="0"/>
                <a:ea typeface="Inter" pitchFamily="34" charset="-122"/>
                <a:cs typeface="Inter" pitchFamily="34" charset="-120"/>
              </a:rPr>
              <a:t>The majority of malicious interactions occurred over port 443 (HTTPS). Encryption is frequently leveraged by attackers to conceal payloads and evade basic inspection.</a:t>
            </a:r>
            <a:endParaRPr lang="en-US" sz="1000" dirty="0"/>
          </a:p>
        </p:txBody>
      </p:sp>
      <p:sp>
        <p:nvSpPr>
          <p:cNvPr id="34" name="Shape 27"/>
          <p:cNvSpPr/>
          <p:nvPr/>
        </p:nvSpPr>
        <p:spPr>
          <a:xfrm>
            <a:off x="457200" y="4027932"/>
            <a:ext cx="5524805" cy="2533802"/>
          </a:xfrm>
          <a:prstGeom prst="roundRect">
            <a:avLst>
              <a:gd name="adj" fmla="val 1628"/>
            </a:avLst>
          </a:prstGeom>
          <a:solidFill>
            <a:srgbClr val="1E293B">
              <a:alpha val="40000"/>
            </a:srgbClr>
          </a:solidFill>
          <a:ln w="12700">
            <a:solidFill>
              <a:srgbClr val="38BDF8">
                <a:alpha val="15000"/>
              </a:srgbClr>
            </a:solidFill>
            <a:prstDash val="solid"/>
          </a:ln>
        </p:spPr>
      </p:sp>
      <p:sp>
        <p:nvSpPr>
          <p:cNvPr id="35" name="Text 28"/>
          <p:cNvSpPr txBox="1"/>
          <p:nvPr/>
        </p:nvSpPr>
        <p:spPr>
          <a:xfrm>
            <a:off x="4599432" y="3685032"/>
            <a:ext cx="2334463" cy="1457554"/>
          </a:xfrm>
          <a:prstGeom prst="rect">
            <a:avLst/>
          </a:prstGeom>
          <a:noFill/>
          <a:ln/>
        </p:spPr>
        <p:txBody>
          <a:bodyPr wrap="square" lIns="0" tIns="0" rIns="0" bIns="0" rtlCol="0" anchor="ctr"/>
          <a:lstStyle/>
          <a:p>
            <a:pPr marL="0" indent="0" algn="l">
              <a:buNone/>
            </a:pPr>
            <a:r>
              <a:rPr lang="en-US" sz="9000" b="1" dirty="0">
                <a:solidFill>
                  <a:srgbClr val="FFFFFF"/>
                </a:solidFill>
                <a:latin typeface="Space Grotesk" pitchFamily="34" charset="0"/>
                <a:ea typeface="Space Grotesk" pitchFamily="34" charset="-122"/>
                <a:cs typeface="Space Grotesk" pitchFamily="34" charset="-120"/>
              </a:rPr>
              <a:t>04</a:t>
            </a:r>
            <a:endParaRPr lang="en-US" sz="9000" dirty="0"/>
          </a:p>
        </p:txBody>
      </p:sp>
      <p:sp>
        <p:nvSpPr>
          <p:cNvPr id="36" name="Shape 29"/>
          <p:cNvSpPr/>
          <p:nvPr/>
        </p:nvSpPr>
        <p:spPr>
          <a:xfrm>
            <a:off x="694944" y="4265676"/>
            <a:ext cx="457200" cy="457200"/>
          </a:xfrm>
          <a:prstGeom prst="roundRect">
            <a:avLst>
              <a:gd name="adj" fmla="val 41667"/>
            </a:avLst>
          </a:prstGeom>
          <a:solidFill>
            <a:srgbClr val="FB923C">
              <a:alpha val="10000"/>
            </a:srgbClr>
          </a:solidFill>
          <a:ln w="12700">
            <a:solidFill>
              <a:srgbClr val="FB923C">
                <a:alpha val="20000"/>
              </a:srgbClr>
            </a:solidFill>
            <a:prstDash val="solid"/>
          </a:ln>
        </p:spPr>
      </p:sp>
      <p:pic>
        <p:nvPicPr>
          <p:cNvPr id="37" name="Image 5" descr="preencoded.png"/>
          <p:cNvPicPr>
            <a:picLocks noChangeAspect="1"/>
          </p:cNvPicPr>
          <p:nvPr/>
        </p:nvPicPr>
        <p:blipFill>
          <a:blip r:embed="rId8"/>
          <a:srcRect/>
          <a:stretch/>
        </p:blipFill>
        <p:spPr>
          <a:xfrm>
            <a:off x="828446" y="4394606"/>
            <a:ext cx="190195" cy="190195"/>
          </a:xfrm>
          <a:prstGeom prst="rect">
            <a:avLst/>
          </a:prstGeom>
        </p:spPr>
      </p:pic>
      <p:sp>
        <p:nvSpPr>
          <p:cNvPr id="38" name="Text 30"/>
          <p:cNvSpPr txBox="1"/>
          <p:nvPr/>
        </p:nvSpPr>
        <p:spPr>
          <a:xfrm>
            <a:off x="694944" y="4876495"/>
            <a:ext cx="2086661" cy="247802"/>
          </a:xfrm>
          <a:prstGeom prst="rect">
            <a:avLst/>
          </a:prstGeom>
          <a:noFill/>
          <a:ln/>
        </p:spPr>
        <p:txBody>
          <a:bodyPr wrap="square" lIns="0" tIns="0" rIns="0" bIns="0" rtlCol="0" anchor="ctr"/>
          <a:lstStyle/>
          <a:p>
            <a:pPr marL="0" indent="0" algn="l">
              <a:buNone/>
            </a:pPr>
            <a:r>
              <a:rPr lang="en-US" sz="1500" b="1" dirty="0">
                <a:solidFill>
                  <a:srgbClr val="FFFFFF"/>
                </a:solidFill>
                <a:latin typeface="Space Grotesk" pitchFamily="34" charset="0"/>
                <a:ea typeface="Space Grotesk" pitchFamily="34" charset="-122"/>
                <a:cs typeface="Space Grotesk" pitchFamily="34" charset="-120"/>
              </a:rPr>
              <a:t>Behavioral Indicators</a:t>
            </a:r>
            <a:endParaRPr lang="en-US" sz="1500" dirty="0"/>
          </a:p>
        </p:txBody>
      </p:sp>
      <p:sp>
        <p:nvSpPr>
          <p:cNvPr id="39" name="Text 31"/>
          <p:cNvSpPr txBox="1"/>
          <p:nvPr/>
        </p:nvSpPr>
        <p:spPr>
          <a:xfrm>
            <a:off x="694944" y="5229454"/>
            <a:ext cx="4767682" cy="381305"/>
          </a:xfrm>
          <a:prstGeom prst="rect">
            <a:avLst/>
          </a:prstGeom>
          <a:noFill/>
          <a:ln/>
        </p:spPr>
        <p:txBody>
          <a:bodyPr wrap="square" lIns="0" tIns="0" rIns="0" bIns="0" rtlCol="0" anchor="ctr"/>
          <a:lstStyle/>
          <a:p>
            <a:pPr marL="0" indent="0" algn="l">
              <a:buNone/>
            </a:pPr>
            <a:r>
              <a:rPr lang="en-US" sz="1000" dirty="0">
                <a:solidFill>
                  <a:srgbClr val="D1D5DB"/>
                </a:solidFill>
                <a:latin typeface="Inter" pitchFamily="34" charset="0"/>
                <a:ea typeface="Inter" pitchFamily="34" charset="-122"/>
                <a:cs typeface="Inter" pitchFamily="34" charset="-120"/>
              </a:rPr>
              <a:t>Session metadata is a stronger risk indicator than IP reputation alone. Two distinct high-risk behaviors were identified:</a:t>
            </a:r>
            <a:endParaRPr lang="en-US" sz="1000" dirty="0"/>
          </a:p>
        </p:txBody>
      </p:sp>
      <p:sp>
        <p:nvSpPr>
          <p:cNvPr id="40" name="Text 32"/>
          <p:cNvSpPr txBox="1"/>
          <p:nvPr/>
        </p:nvSpPr>
        <p:spPr>
          <a:xfrm>
            <a:off x="847649" y="5777179"/>
            <a:ext cx="4265676" cy="162763"/>
          </a:xfrm>
          <a:prstGeom prst="rect">
            <a:avLst/>
          </a:prstGeom>
          <a:noFill/>
          <a:ln/>
        </p:spPr>
        <p:txBody>
          <a:bodyPr wrap="square" lIns="0" tIns="0" rIns="0" bIns="0" rtlCol="0" anchor="ctr"/>
          <a:lstStyle/>
          <a:p>
            <a:pPr marL="0" indent="0" algn="l">
              <a:buNone/>
            </a:pPr>
            <a:r>
              <a:rPr lang="en-US" sz="1000" dirty="0">
                <a:solidFill>
                  <a:srgbClr val="94A3B8"/>
                </a:solidFill>
                <a:latin typeface="Inter" pitchFamily="34" charset="0"/>
                <a:ea typeface="Inter" pitchFamily="34" charset="-122"/>
                <a:cs typeface="Inter" pitchFamily="34" charset="-120"/>
              </a:rPr>
              <a:t>Asymmetric Volume: High inbound bytes vs. zero/low outbound.</a:t>
            </a:r>
            <a:endParaRPr lang="en-US" sz="1000" dirty="0"/>
          </a:p>
        </p:txBody>
      </p:sp>
      <p:sp>
        <p:nvSpPr>
          <p:cNvPr id="41" name="Text 33"/>
          <p:cNvSpPr txBox="1"/>
          <p:nvPr/>
        </p:nvSpPr>
        <p:spPr>
          <a:xfrm>
            <a:off x="847649" y="6058814"/>
            <a:ext cx="4274820" cy="162763"/>
          </a:xfrm>
          <a:prstGeom prst="rect">
            <a:avLst/>
          </a:prstGeom>
          <a:noFill/>
          <a:ln/>
        </p:spPr>
        <p:txBody>
          <a:bodyPr wrap="square" lIns="0" tIns="0" rIns="0" bIns="0" rtlCol="0" anchor="ctr"/>
          <a:lstStyle/>
          <a:p>
            <a:pPr marL="0" indent="0" algn="l">
              <a:buNone/>
            </a:pPr>
            <a:r>
              <a:rPr lang="en-US" sz="1000" dirty="0">
                <a:solidFill>
                  <a:srgbClr val="94A3B8"/>
                </a:solidFill>
                <a:latin typeface="Inter" pitchFamily="34" charset="0"/>
                <a:ea typeface="Inter" pitchFamily="34" charset="-122"/>
                <a:cs typeface="Inter" pitchFamily="34" charset="-120"/>
              </a:rPr>
              <a:t>Abnormal Duration: Extremely long sessions indicating scraping.</a:t>
            </a:r>
            <a:endParaRPr lang="en-US" sz="1000" dirty="0"/>
          </a:p>
        </p:txBody>
      </p:sp>
      <p:sp>
        <p:nvSpPr>
          <p:cNvPr id="42" name="Shape 34"/>
          <p:cNvSpPr/>
          <p:nvPr/>
        </p:nvSpPr>
        <p:spPr>
          <a:xfrm>
            <a:off x="6210605" y="4027932"/>
            <a:ext cx="5524805" cy="2533802"/>
          </a:xfrm>
          <a:prstGeom prst="roundRect">
            <a:avLst>
              <a:gd name="adj" fmla="val 1628"/>
            </a:avLst>
          </a:prstGeom>
          <a:solidFill>
            <a:srgbClr val="1E293B">
              <a:alpha val="40000"/>
            </a:srgbClr>
          </a:solidFill>
          <a:ln w="12700">
            <a:solidFill>
              <a:srgbClr val="38BDF8">
                <a:alpha val="15000"/>
              </a:srgbClr>
            </a:solidFill>
            <a:prstDash val="solid"/>
          </a:ln>
        </p:spPr>
      </p:sp>
      <p:sp>
        <p:nvSpPr>
          <p:cNvPr id="43" name="Text 35"/>
          <p:cNvSpPr txBox="1"/>
          <p:nvPr/>
        </p:nvSpPr>
        <p:spPr>
          <a:xfrm>
            <a:off x="10393985" y="3685032"/>
            <a:ext cx="2286000" cy="1457554"/>
          </a:xfrm>
          <a:prstGeom prst="rect">
            <a:avLst/>
          </a:prstGeom>
          <a:noFill/>
          <a:ln/>
        </p:spPr>
        <p:txBody>
          <a:bodyPr wrap="square" lIns="0" tIns="0" rIns="0" bIns="0" rtlCol="0" anchor="ctr"/>
          <a:lstStyle/>
          <a:p>
            <a:pPr marL="0" indent="0" algn="l">
              <a:buNone/>
            </a:pPr>
            <a:r>
              <a:rPr lang="en-US" sz="9000" b="1" dirty="0">
                <a:solidFill>
                  <a:srgbClr val="FFFFFF"/>
                </a:solidFill>
                <a:latin typeface="Space Grotesk" pitchFamily="34" charset="0"/>
                <a:ea typeface="Space Grotesk" pitchFamily="34" charset="-122"/>
                <a:cs typeface="Space Grotesk" pitchFamily="34" charset="-120"/>
              </a:rPr>
              <a:t>05</a:t>
            </a:r>
            <a:endParaRPr lang="en-US" sz="9000" dirty="0"/>
          </a:p>
        </p:txBody>
      </p:sp>
      <p:sp>
        <p:nvSpPr>
          <p:cNvPr id="44" name="Shape 36"/>
          <p:cNvSpPr/>
          <p:nvPr/>
        </p:nvSpPr>
        <p:spPr>
          <a:xfrm>
            <a:off x="6448349" y="4265676"/>
            <a:ext cx="457200" cy="457200"/>
          </a:xfrm>
          <a:prstGeom prst="roundRect">
            <a:avLst>
              <a:gd name="adj" fmla="val 41667"/>
            </a:avLst>
          </a:prstGeom>
          <a:solidFill>
            <a:srgbClr val="2DD4BF">
              <a:alpha val="10000"/>
            </a:srgbClr>
          </a:solidFill>
          <a:ln w="12700">
            <a:solidFill>
              <a:srgbClr val="2DD4BF">
                <a:alpha val="20000"/>
              </a:srgbClr>
            </a:solidFill>
            <a:prstDash val="solid"/>
          </a:ln>
        </p:spPr>
      </p:sp>
      <p:pic>
        <p:nvPicPr>
          <p:cNvPr id="45" name="Image 6" descr="preencoded.png"/>
          <p:cNvPicPr>
            <a:picLocks noChangeAspect="1"/>
          </p:cNvPicPr>
          <p:nvPr/>
        </p:nvPicPr>
        <p:blipFill>
          <a:blip r:embed="rId9"/>
          <a:srcRect l="-1648" r="-1648"/>
          <a:stretch/>
        </p:blipFill>
        <p:spPr>
          <a:xfrm>
            <a:off x="6590995" y="4399178"/>
            <a:ext cx="171907" cy="190195"/>
          </a:xfrm>
          <a:prstGeom prst="rect">
            <a:avLst/>
          </a:prstGeom>
        </p:spPr>
      </p:pic>
      <p:sp>
        <p:nvSpPr>
          <p:cNvPr id="46" name="Text 37"/>
          <p:cNvSpPr txBox="1"/>
          <p:nvPr/>
        </p:nvSpPr>
        <p:spPr>
          <a:xfrm>
            <a:off x="6448349" y="4884725"/>
            <a:ext cx="1286561" cy="247802"/>
          </a:xfrm>
          <a:prstGeom prst="rect">
            <a:avLst/>
          </a:prstGeom>
          <a:noFill/>
          <a:ln/>
        </p:spPr>
        <p:txBody>
          <a:bodyPr wrap="square" lIns="0" tIns="0" rIns="0" bIns="0" rtlCol="0" anchor="ctr"/>
          <a:lstStyle/>
          <a:p>
            <a:pPr marL="0" indent="0" algn="l">
              <a:buNone/>
            </a:pPr>
            <a:r>
              <a:rPr lang="en-US" sz="1500" b="1" dirty="0">
                <a:solidFill>
                  <a:srgbClr val="FFFFFF"/>
                </a:solidFill>
                <a:latin typeface="Space Grotesk" pitchFamily="34" charset="0"/>
                <a:ea typeface="Space Grotesk" pitchFamily="34" charset="-122"/>
                <a:cs typeface="Space Grotesk" pitchFamily="34" charset="-120"/>
              </a:rPr>
              <a:t>SQL Efficacy</a:t>
            </a:r>
            <a:endParaRPr lang="en-US" sz="1500" dirty="0"/>
          </a:p>
        </p:txBody>
      </p:sp>
      <p:sp>
        <p:nvSpPr>
          <p:cNvPr id="47" name="Text 38"/>
          <p:cNvSpPr txBox="1"/>
          <p:nvPr/>
        </p:nvSpPr>
        <p:spPr>
          <a:xfrm>
            <a:off x="6448349" y="5237683"/>
            <a:ext cx="5101438" cy="600761"/>
          </a:xfrm>
          <a:prstGeom prst="rect">
            <a:avLst/>
          </a:prstGeom>
          <a:noFill/>
          <a:ln/>
        </p:spPr>
        <p:txBody>
          <a:bodyPr wrap="square" lIns="0" tIns="0" rIns="0" bIns="0" rtlCol="0" anchor="ctr"/>
          <a:lstStyle/>
          <a:p>
            <a:pPr marL="0" indent="0" algn="l">
              <a:buNone/>
            </a:pPr>
            <a:r>
              <a:rPr lang="en-US" sz="1000" dirty="0">
                <a:solidFill>
                  <a:srgbClr val="D1D5DB"/>
                </a:solidFill>
                <a:latin typeface="Inter" pitchFamily="34" charset="0"/>
                <a:ea typeface="Inter" pitchFamily="34" charset="-122"/>
                <a:cs typeface="Inter" pitchFamily="34" charset="-120"/>
              </a:rPr>
              <a:t>Structured query analysis proved sufficient to extract meaningful cybersecurity insights without complex machine learning models. Logical rules and aggregations effectively surfaced anomalies in the raw operational data.</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120"/>
          </a:solidFill>
          <a:ln/>
        </p:spPr>
      </p:sp>
      <p:sp>
        <p:nvSpPr>
          <p:cNvPr id="3" name="Shape 1"/>
          <p:cNvSpPr/>
          <p:nvPr/>
        </p:nvSpPr>
        <p:spPr>
          <a:xfrm>
            <a:off x="0" y="0"/>
            <a:ext cx="12191695" cy="6858000"/>
          </a:xfrm>
          <a:prstGeom prst="rect">
            <a:avLst/>
          </a:prstGeom>
          <a:solidFill>
            <a:srgbClr val="0B1120"/>
          </a:solidFill>
          <a:ln/>
        </p:spPr>
      </p:sp>
      <p:sp>
        <p:nvSpPr>
          <p:cNvPr id="4" name="Shape 2"/>
          <p:cNvSpPr/>
          <p:nvPr/>
        </p:nvSpPr>
        <p:spPr>
          <a:xfrm>
            <a:off x="8534095" y="0"/>
            <a:ext cx="3657600" cy="3657600"/>
          </a:xfrm>
          <a:prstGeom prst="ellipse">
            <a:avLst/>
          </a:prstGeom>
          <a:solidFill>
            <a:srgbClr val="3B82F6">
              <a:alpha val="15000"/>
            </a:srgbClr>
          </a:solidFill>
          <a:ln/>
        </p:spPr>
      </p:sp>
      <p:sp>
        <p:nvSpPr>
          <p:cNvPr id="5" name="Shape 3"/>
          <p:cNvSpPr/>
          <p:nvPr/>
        </p:nvSpPr>
        <p:spPr>
          <a:xfrm>
            <a:off x="0" y="4419295"/>
            <a:ext cx="2438705" cy="2438705"/>
          </a:xfrm>
          <a:prstGeom prst="ellipse">
            <a:avLst/>
          </a:prstGeom>
          <a:solidFill>
            <a:srgbClr val="6366F1">
              <a:alpha val="15000"/>
            </a:srgbClr>
          </a:solidFill>
          <a:ln/>
        </p:spPr>
      </p:sp>
      <p:sp>
        <p:nvSpPr>
          <p:cNvPr id="6" name="Shape 4"/>
          <p:cNvSpPr/>
          <p:nvPr/>
        </p:nvSpPr>
        <p:spPr>
          <a:xfrm>
            <a:off x="457200" y="6467551"/>
            <a:ext cx="11277295" cy="9144"/>
          </a:xfrm>
          <a:prstGeom prst="rect">
            <a:avLst/>
          </a:prstGeom>
          <a:solidFill>
            <a:srgbClr val="1F2937"/>
          </a:solidFill>
          <a:ln/>
        </p:spPr>
      </p:sp>
      <p:sp>
        <p:nvSpPr>
          <p:cNvPr id="8" name="Text 6"/>
          <p:cNvSpPr txBox="1"/>
          <p:nvPr/>
        </p:nvSpPr>
        <p:spPr>
          <a:xfrm>
            <a:off x="10728655" y="6562649"/>
            <a:ext cx="638251" cy="133502"/>
          </a:xfrm>
          <a:prstGeom prst="rect">
            <a:avLst/>
          </a:prstGeom>
          <a:noFill/>
          <a:ln/>
        </p:spPr>
        <p:txBody>
          <a:bodyPr wrap="square" lIns="0" tIns="0" rIns="0" bIns="0" rtlCol="0" anchor="ctr"/>
          <a:lstStyle/>
          <a:p>
            <a:pPr marL="0" indent="0" algn="l">
              <a:buNone/>
            </a:pPr>
            <a:r>
              <a:rPr lang="en-US" sz="900" dirty="0">
                <a:solidFill>
                  <a:srgbClr val="4B5563"/>
                </a:solidFill>
                <a:latin typeface="ui-monospace" pitchFamily="34" charset="0"/>
                <a:ea typeface="ui-monospace" pitchFamily="34" charset="-122"/>
                <a:cs typeface="ui-monospace" pitchFamily="34" charset="-120"/>
              </a:rPr>
              <a:t>SLIDE 13</a:t>
            </a:r>
            <a:endParaRPr lang="en-US" sz="900" dirty="0"/>
          </a:p>
        </p:txBody>
      </p:sp>
      <p:sp>
        <p:nvSpPr>
          <p:cNvPr id="9" name="Shape 7"/>
          <p:cNvSpPr/>
          <p:nvPr/>
        </p:nvSpPr>
        <p:spPr>
          <a:xfrm>
            <a:off x="0" y="1028700"/>
            <a:ext cx="12191695" cy="9144"/>
          </a:xfrm>
          <a:prstGeom prst="rect">
            <a:avLst/>
          </a:prstGeom>
          <a:solidFill>
            <a:srgbClr val="1F2937"/>
          </a:solidFill>
          <a:ln/>
        </p:spPr>
      </p:sp>
      <p:pic>
        <p:nvPicPr>
          <p:cNvPr id="10" name="Image 0" descr="preencoded.png"/>
          <p:cNvPicPr>
            <a:picLocks noChangeAspect="1"/>
          </p:cNvPicPr>
          <p:nvPr/>
        </p:nvPicPr>
        <p:blipFill>
          <a:blip r:embed="rId3"/>
          <a:srcRect t="-1100" b="-1100"/>
          <a:stretch/>
        </p:blipFill>
        <p:spPr>
          <a:xfrm>
            <a:off x="457200" y="314554"/>
            <a:ext cx="114300" cy="133502"/>
          </a:xfrm>
          <a:prstGeom prst="rect">
            <a:avLst/>
          </a:prstGeom>
        </p:spPr>
      </p:pic>
      <p:sp>
        <p:nvSpPr>
          <p:cNvPr id="11" name="Shape 8"/>
          <p:cNvSpPr/>
          <p:nvPr/>
        </p:nvSpPr>
        <p:spPr>
          <a:xfrm>
            <a:off x="9752990" y="514807"/>
            <a:ext cx="1990649" cy="362102"/>
          </a:xfrm>
          <a:prstGeom prst="roundRect">
            <a:avLst>
              <a:gd name="adj" fmla="val 53163"/>
            </a:avLst>
          </a:prstGeom>
          <a:noFill/>
          <a:ln w="12700">
            <a:solidFill>
              <a:srgbClr val="E5E7EB"/>
            </a:solidFill>
            <a:prstDash val="solid"/>
          </a:ln>
        </p:spPr>
      </p:sp>
      <p:sp>
        <p:nvSpPr>
          <p:cNvPr id="13" name="Text 9"/>
          <p:cNvSpPr txBox="1"/>
          <p:nvPr/>
        </p:nvSpPr>
        <p:spPr>
          <a:xfrm>
            <a:off x="647395" y="304495"/>
            <a:ext cx="1629461" cy="143561"/>
          </a:xfrm>
          <a:prstGeom prst="rect">
            <a:avLst/>
          </a:prstGeom>
          <a:noFill/>
          <a:ln/>
        </p:spPr>
        <p:txBody>
          <a:bodyPr wrap="square" lIns="0" tIns="0" rIns="0" bIns="0" rtlCol="0" anchor="ctr"/>
          <a:lstStyle/>
          <a:p>
            <a:pPr marL="0" indent="0" algn="l">
              <a:buNone/>
            </a:pPr>
            <a:r>
              <a:rPr lang="en-US" sz="900" b="1" dirty="0">
                <a:solidFill>
                  <a:srgbClr val="FFFFFF"/>
                </a:solidFill>
                <a:latin typeface="Inter" pitchFamily="34" charset="0"/>
                <a:ea typeface="Inter" pitchFamily="34" charset="-122"/>
                <a:cs typeface="Inter" pitchFamily="34" charset="-120"/>
              </a:rPr>
              <a:t>PROJECT CONCLUSION</a:t>
            </a:r>
            <a:endParaRPr lang="en-US" sz="900" dirty="0"/>
          </a:p>
        </p:txBody>
      </p:sp>
      <p:sp>
        <p:nvSpPr>
          <p:cNvPr id="14" name="Text 10"/>
          <p:cNvSpPr txBox="1"/>
          <p:nvPr/>
        </p:nvSpPr>
        <p:spPr>
          <a:xfrm>
            <a:off x="457200" y="466344"/>
            <a:ext cx="5115154" cy="438912"/>
          </a:xfrm>
          <a:prstGeom prst="rect">
            <a:avLst/>
          </a:prstGeom>
          <a:noFill/>
          <a:ln/>
        </p:spPr>
        <p:txBody>
          <a:bodyPr wrap="square" lIns="0" tIns="0" rIns="0" bIns="0" rtlCol="0" anchor="ctr"/>
          <a:lstStyle/>
          <a:p>
            <a:pPr marL="0" indent="0" algn="l">
              <a:buNone/>
            </a:pPr>
            <a:r>
              <a:rPr lang="en-US" sz="2700" b="1" dirty="0">
                <a:solidFill>
                  <a:srgbClr val="FFFFFF"/>
                </a:solidFill>
                <a:latin typeface="Space Grotesk" pitchFamily="34" charset="0"/>
                <a:ea typeface="Space Grotesk" pitchFamily="34" charset="-122"/>
                <a:cs typeface="Space Grotesk" pitchFamily="34" charset="-120"/>
              </a:rPr>
              <a:t>Conclusions &amp; Business Value</a:t>
            </a:r>
            <a:endParaRPr lang="en-US" sz="2700" dirty="0"/>
          </a:p>
        </p:txBody>
      </p:sp>
      <p:sp>
        <p:nvSpPr>
          <p:cNvPr id="16" name="Shape 12"/>
          <p:cNvSpPr/>
          <p:nvPr/>
        </p:nvSpPr>
        <p:spPr>
          <a:xfrm>
            <a:off x="457200" y="1228954"/>
            <a:ext cx="6590995" cy="1380744"/>
          </a:xfrm>
          <a:prstGeom prst="rect">
            <a:avLst/>
          </a:prstGeom>
          <a:solidFill>
            <a:srgbClr val="0F172A">
              <a:alpha val="60000"/>
            </a:srgbClr>
          </a:solidFill>
          <a:ln/>
          <a:effectLst>
            <a:outerShdw blurRad="12700" dist="12700" dir="16200000" algn="bl" rotWithShape="0">
              <a:srgbClr val="000000">
                <a:alpha val="75000"/>
              </a:srgbClr>
            </a:outerShdw>
          </a:effectLst>
        </p:spPr>
      </p:sp>
      <p:sp>
        <p:nvSpPr>
          <p:cNvPr id="17" name="Shape 13"/>
          <p:cNvSpPr/>
          <p:nvPr/>
        </p:nvSpPr>
        <p:spPr>
          <a:xfrm>
            <a:off x="457200" y="1228954"/>
            <a:ext cx="38405" cy="1380744"/>
          </a:xfrm>
          <a:prstGeom prst="rect">
            <a:avLst/>
          </a:prstGeom>
          <a:solidFill>
            <a:srgbClr val="38BDF8"/>
          </a:solidFill>
          <a:ln/>
        </p:spPr>
      </p:sp>
      <p:pic>
        <p:nvPicPr>
          <p:cNvPr id="18" name="Image 2" descr="preencoded.png"/>
          <p:cNvPicPr>
            <a:picLocks noChangeAspect="1"/>
          </p:cNvPicPr>
          <p:nvPr/>
        </p:nvPicPr>
        <p:blipFill>
          <a:blip r:embed="rId4"/>
          <a:srcRect/>
          <a:stretch/>
        </p:blipFill>
        <p:spPr>
          <a:xfrm>
            <a:off x="457200" y="2793492"/>
            <a:ext cx="152705" cy="152705"/>
          </a:xfrm>
          <a:prstGeom prst="rect">
            <a:avLst/>
          </a:prstGeom>
        </p:spPr>
      </p:pic>
      <p:sp>
        <p:nvSpPr>
          <p:cNvPr id="19" name="Text 14"/>
          <p:cNvSpPr txBox="1"/>
          <p:nvPr/>
        </p:nvSpPr>
        <p:spPr>
          <a:xfrm>
            <a:off x="685800" y="2755087"/>
            <a:ext cx="1933956" cy="228600"/>
          </a:xfrm>
          <a:prstGeom prst="rect">
            <a:avLst/>
          </a:prstGeom>
          <a:noFill/>
          <a:ln/>
        </p:spPr>
        <p:txBody>
          <a:bodyPr wrap="square" lIns="0" tIns="0" rIns="0" bIns="0" rtlCol="0" anchor="ctr"/>
          <a:lstStyle/>
          <a:p>
            <a:pPr marL="0" indent="0" algn="l">
              <a:buNone/>
            </a:pPr>
            <a:r>
              <a:rPr lang="en-US" sz="1200" b="1" dirty="0">
                <a:solidFill>
                  <a:srgbClr val="FFFFFF"/>
                </a:solidFill>
                <a:latin typeface="Space Grotesk" pitchFamily="34" charset="0"/>
                <a:ea typeface="Space Grotesk" pitchFamily="34" charset="-122"/>
                <a:cs typeface="Space Grotesk" pitchFamily="34" charset="-120"/>
              </a:rPr>
              <a:t>Business Value Delivered</a:t>
            </a:r>
            <a:endParaRPr lang="en-US" sz="1200" dirty="0"/>
          </a:p>
        </p:txBody>
      </p:sp>
      <p:sp>
        <p:nvSpPr>
          <p:cNvPr id="20" name="Shape 15"/>
          <p:cNvSpPr/>
          <p:nvPr/>
        </p:nvSpPr>
        <p:spPr>
          <a:xfrm>
            <a:off x="457200" y="3097987"/>
            <a:ext cx="3238805" cy="1533449"/>
          </a:xfrm>
          <a:prstGeom prst="roundRect">
            <a:avLst>
              <a:gd name="adj" fmla="val 4444"/>
            </a:avLst>
          </a:prstGeom>
          <a:solidFill>
            <a:srgbClr val="1E293B">
              <a:alpha val="40000"/>
            </a:srgbClr>
          </a:solidFill>
          <a:ln w="12700">
            <a:solidFill>
              <a:srgbClr val="38BDF8">
                <a:alpha val="20000"/>
              </a:srgbClr>
            </a:solidFill>
            <a:prstDash val="solid"/>
          </a:ln>
        </p:spPr>
      </p:sp>
      <p:sp>
        <p:nvSpPr>
          <p:cNvPr id="21" name="Shape 16"/>
          <p:cNvSpPr/>
          <p:nvPr/>
        </p:nvSpPr>
        <p:spPr>
          <a:xfrm>
            <a:off x="3805733" y="3097987"/>
            <a:ext cx="3238805" cy="1533449"/>
          </a:xfrm>
          <a:prstGeom prst="roundRect">
            <a:avLst>
              <a:gd name="adj" fmla="val 4444"/>
            </a:avLst>
          </a:prstGeom>
          <a:solidFill>
            <a:srgbClr val="1E293B">
              <a:alpha val="40000"/>
            </a:srgbClr>
          </a:solidFill>
          <a:ln w="12700">
            <a:solidFill>
              <a:srgbClr val="38BDF8">
                <a:alpha val="20000"/>
              </a:srgbClr>
            </a:solidFill>
            <a:prstDash val="solid"/>
          </a:ln>
        </p:spPr>
      </p:sp>
      <p:sp>
        <p:nvSpPr>
          <p:cNvPr id="22" name="Shape 17"/>
          <p:cNvSpPr/>
          <p:nvPr/>
        </p:nvSpPr>
        <p:spPr>
          <a:xfrm>
            <a:off x="457200" y="4744822"/>
            <a:ext cx="3238805" cy="1533449"/>
          </a:xfrm>
          <a:prstGeom prst="roundRect">
            <a:avLst>
              <a:gd name="adj" fmla="val 4444"/>
            </a:avLst>
          </a:prstGeom>
          <a:solidFill>
            <a:srgbClr val="1E293B">
              <a:alpha val="40000"/>
            </a:srgbClr>
          </a:solidFill>
          <a:ln w="12700">
            <a:solidFill>
              <a:srgbClr val="38BDF8">
                <a:alpha val="20000"/>
              </a:srgbClr>
            </a:solidFill>
            <a:prstDash val="solid"/>
          </a:ln>
        </p:spPr>
      </p:sp>
      <p:sp>
        <p:nvSpPr>
          <p:cNvPr id="23" name="Shape 18"/>
          <p:cNvSpPr/>
          <p:nvPr/>
        </p:nvSpPr>
        <p:spPr>
          <a:xfrm>
            <a:off x="3805733" y="4744822"/>
            <a:ext cx="3238805" cy="1533449"/>
          </a:xfrm>
          <a:prstGeom prst="roundRect">
            <a:avLst>
              <a:gd name="adj" fmla="val 4444"/>
            </a:avLst>
          </a:prstGeom>
          <a:solidFill>
            <a:srgbClr val="1E293B">
              <a:alpha val="40000"/>
            </a:srgbClr>
          </a:solidFill>
          <a:ln w="12700">
            <a:solidFill>
              <a:srgbClr val="38BDF8">
                <a:alpha val="20000"/>
              </a:srgbClr>
            </a:solidFill>
            <a:prstDash val="solid"/>
          </a:ln>
        </p:spPr>
      </p:sp>
      <p:sp>
        <p:nvSpPr>
          <p:cNvPr id="24" name="Shape 19"/>
          <p:cNvSpPr/>
          <p:nvPr/>
        </p:nvSpPr>
        <p:spPr>
          <a:xfrm>
            <a:off x="7345375" y="1228954"/>
            <a:ext cx="4390949" cy="5048402"/>
          </a:xfrm>
          <a:prstGeom prst="roundRect">
            <a:avLst>
              <a:gd name="adj" fmla="val 542"/>
            </a:avLst>
          </a:prstGeom>
          <a:solidFill>
            <a:srgbClr val="1F2937">
              <a:alpha val="50000"/>
            </a:srgbClr>
          </a:solidFill>
          <a:ln w="12700">
            <a:solidFill>
              <a:srgbClr val="374151"/>
            </a:solidFill>
            <a:prstDash val="solid"/>
          </a:ln>
        </p:spPr>
      </p:sp>
      <p:sp>
        <p:nvSpPr>
          <p:cNvPr id="25" name="Shape 20"/>
          <p:cNvSpPr/>
          <p:nvPr/>
        </p:nvSpPr>
        <p:spPr>
          <a:xfrm>
            <a:off x="7584034" y="2000707"/>
            <a:ext cx="3914546" cy="9144"/>
          </a:xfrm>
          <a:prstGeom prst="rect">
            <a:avLst/>
          </a:prstGeom>
          <a:solidFill>
            <a:srgbClr val="374151"/>
          </a:solidFill>
          <a:ln/>
        </p:spPr>
      </p:sp>
      <p:pic>
        <p:nvPicPr>
          <p:cNvPr id="26" name="Image 3" descr="preencoded.png"/>
          <p:cNvPicPr>
            <a:picLocks noChangeAspect="1"/>
          </p:cNvPicPr>
          <p:nvPr/>
        </p:nvPicPr>
        <p:blipFill>
          <a:blip r:embed="rId5"/>
          <a:srcRect t="-43" b="-43"/>
          <a:stretch/>
        </p:blipFill>
        <p:spPr>
          <a:xfrm>
            <a:off x="7707478" y="1600200"/>
            <a:ext cx="133502" cy="152705"/>
          </a:xfrm>
          <a:prstGeom prst="rect">
            <a:avLst/>
          </a:prstGeom>
        </p:spPr>
      </p:pic>
      <p:sp>
        <p:nvSpPr>
          <p:cNvPr id="27" name="Shape 21"/>
          <p:cNvSpPr/>
          <p:nvPr/>
        </p:nvSpPr>
        <p:spPr>
          <a:xfrm>
            <a:off x="7584034" y="2162556"/>
            <a:ext cx="3914546" cy="333756"/>
          </a:xfrm>
          <a:prstGeom prst="roundRect">
            <a:avLst>
              <a:gd name="adj" fmla="val 46967"/>
            </a:avLst>
          </a:prstGeom>
          <a:solidFill>
            <a:srgbClr val="38BDF8">
              <a:alpha val="10000"/>
            </a:srgbClr>
          </a:solidFill>
          <a:ln w="12700">
            <a:solidFill>
              <a:srgbClr val="38BDF8">
                <a:alpha val="20000"/>
              </a:srgbClr>
            </a:solidFill>
            <a:prstDash val="solid"/>
          </a:ln>
        </p:spPr>
      </p:sp>
      <p:pic>
        <p:nvPicPr>
          <p:cNvPr id="28" name="Image 4" descr="preencoded.png"/>
          <p:cNvPicPr>
            <a:picLocks noChangeAspect="1"/>
          </p:cNvPicPr>
          <p:nvPr/>
        </p:nvPicPr>
        <p:blipFill>
          <a:blip r:embed="rId6"/>
          <a:srcRect t="-1100" b="-1100"/>
          <a:stretch/>
        </p:blipFill>
        <p:spPr>
          <a:xfrm>
            <a:off x="7688275" y="2259482"/>
            <a:ext cx="114300" cy="133502"/>
          </a:xfrm>
          <a:prstGeom prst="rect">
            <a:avLst/>
          </a:prstGeom>
        </p:spPr>
      </p:pic>
      <p:sp>
        <p:nvSpPr>
          <p:cNvPr id="29" name="Shape 22"/>
          <p:cNvSpPr/>
          <p:nvPr/>
        </p:nvSpPr>
        <p:spPr>
          <a:xfrm>
            <a:off x="7584034" y="2966314"/>
            <a:ext cx="3914546" cy="333756"/>
          </a:xfrm>
          <a:prstGeom prst="roundRect">
            <a:avLst>
              <a:gd name="adj" fmla="val 46967"/>
            </a:avLst>
          </a:prstGeom>
          <a:solidFill>
            <a:srgbClr val="38BDF8">
              <a:alpha val="10000"/>
            </a:srgbClr>
          </a:solidFill>
          <a:ln w="12700">
            <a:solidFill>
              <a:srgbClr val="38BDF8">
                <a:alpha val="20000"/>
              </a:srgbClr>
            </a:solidFill>
            <a:prstDash val="solid"/>
          </a:ln>
        </p:spPr>
      </p:sp>
      <p:pic>
        <p:nvPicPr>
          <p:cNvPr id="30" name="Image 5" descr="preencoded.png"/>
          <p:cNvPicPr>
            <a:picLocks noChangeAspect="1"/>
          </p:cNvPicPr>
          <p:nvPr/>
        </p:nvPicPr>
        <p:blipFill>
          <a:blip r:embed="rId7"/>
          <a:srcRect/>
          <a:stretch/>
        </p:blipFill>
        <p:spPr>
          <a:xfrm>
            <a:off x="7688275" y="3063240"/>
            <a:ext cx="133502" cy="133502"/>
          </a:xfrm>
          <a:prstGeom prst="rect">
            <a:avLst/>
          </a:prstGeom>
        </p:spPr>
      </p:pic>
      <p:sp>
        <p:nvSpPr>
          <p:cNvPr id="31" name="Shape 23"/>
          <p:cNvSpPr/>
          <p:nvPr/>
        </p:nvSpPr>
        <p:spPr>
          <a:xfrm>
            <a:off x="7584034" y="3617366"/>
            <a:ext cx="3914546" cy="333756"/>
          </a:xfrm>
          <a:prstGeom prst="roundRect">
            <a:avLst>
              <a:gd name="adj" fmla="val 46967"/>
            </a:avLst>
          </a:prstGeom>
          <a:solidFill>
            <a:srgbClr val="38BDF8">
              <a:alpha val="10000"/>
            </a:srgbClr>
          </a:solidFill>
          <a:ln w="12700">
            <a:solidFill>
              <a:srgbClr val="38BDF8">
                <a:alpha val="20000"/>
              </a:srgbClr>
            </a:solidFill>
            <a:prstDash val="solid"/>
          </a:ln>
        </p:spPr>
      </p:sp>
      <p:pic>
        <p:nvPicPr>
          <p:cNvPr id="32" name="Image 6" descr="preencoded.png"/>
          <p:cNvPicPr>
            <a:picLocks noChangeAspect="1"/>
          </p:cNvPicPr>
          <p:nvPr/>
        </p:nvPicPr>
        <p:blipFill>
          <a:blip r:embed="rId8"/>
          <a:srcRect/>
          <a:stretch/>
        </p:blipFill>
        <p:spPr>
          <a:xfrm>
            <a:off x="7688275" y="3715207"/>
            <a:ext cx="133502" cy="133502"/>
          </a:xfrm>
          <a:prstGeom prst="rect">
            <a:avLst/>
          </a:prstGeom>
        </p:spPr>
      </p:pic>
      <p:sp>
        <p:nvSpPr>
          <p:cNvPr id="33" name="Shape 24"/>
          <p:cNvSpPr/>
          <p:nvPr/>
        </p:nvSpPr>
        <p:spPr>
          <a:xfrm>
            <a:off x="7584034" y="4269334"/>
            <a:ext cx="3914546" cy="333756"/>
          </a:xfrm>
          <a:prstGeom prst="roundRect">
            <a:avLst>
              <a:gd name="adj" fmla="val 46967"/>
            </a:avLst>
          </a:prstGeom>
          <a:solidFill>
            <a:srgbClr val="38BDF8">
              <a:alpha val="10000"/>
            </a:srgbClr>
          </a:solidFill>
          <a:ln w="12700">
            <a:solidFill>
              <a:srgbClr val="38BDF8">
                <a:alpha val="20000"/>
              </a:srgbClr>
            </a:solidFill>
            <a:prstDash val="solid"/>
          </a:ln>
        </p:spPr>
      </p:sp>
      <p:pic>
        <p:nvPicPr>
          <p:cNvPr id="34" name="Image 7" descr="preencoded.png"/>
          <p:cNvPicPr>
            <a:picLocks noChangeAspect="1"/>
          </p:cNvPicPr>
          <p:nvPr/>
        </p:nvPicPr>
        <p:blipFill>
          <a:blip r:embed="rId9"/>
          <a:srcRect t="-1554" b="-1554"/>
          <a:stretch/>
        </p:blipFill>
        <p:spPr>
          <a:xfrm>
            <a:off x="7688275" y="4366260"/>
            <a:ext cx="161849" cy="133502"/>
          </a:xfrm>
          <a:prstGeom prst="rect">
            <a:avLst/>
          </a:prstGeom>
        </p:spPr>
      </p:pic>
      <p:sp>
        <p:nvSpPr>
          <p:cNvPr id="35" name="Shape 25"/>
          <p:cNvSpPr/>
          <p:nvPr/>
        </p:nvSpPr>
        <p:spPr>
          <a:xfrm>
            <a:off x="7584034" y="5724144"/>
            <a:ext cx="3914546" cy="9144"/>
          </a:xfrm>
          <a:prstGeom prst="rect">
            <a:avLst/>
          </a:prstGeom>
          <a:solidFill>
            <a:srgbClr val="374151"/>
          </a:solidFill>
          <a:ln/>
        </p:spPr>
      </p:sp>
      <p:pic>
        <p:nvPicPr>
          <p:cNvPr id="36" name="Image 8" descr="preencoded.png"/>
          <p:cNvPicPr>
            <a:picLocks noChangeAspect="1"/>
          </p:cNvPicPr>
          <p:nvPr/>
        </p:nvPicPr>
        <p:blipFill>
          <a:blip r:embed="rId10"/>
          <a:srcRect t="-43" b="-43"/>
          <a:stretch/>
        </p:blipFill>
        <p:spPr>
          <a:xfrm>
            <a:off x="11363249" y="5886907"/>
            <a:ext cx="133502" cy="152705"/>
          </a:xfrm>
          <a:prstGeom prst="rect">
            <a:avLst/>
          </a:prstGeom>
        </p:spPr>
      </p:pic>
      <p:sp>
        <p:nvSpPr>
          <p:cNvPr id="37" name="Text 26"/>
          <p:cNvSpPr txBox="1"/>
          <p:nvPr/>
        </p:nvSpPr>
        <p:spPr>
          <a:xfrm>
            <a:off x="685800" y="1438351"/>
            <a:ext cx="1548079" cy="219456"/>
          </a:xfrm>
          <a:prstGeom prst="rect">
            <a:avLst/>
          </a:prstGeom>
          <a:noFill/>
          <a:ln/>
        </p:spPr>
        <p:txBody>
          <a:bodyPr wrap="square" lIns="0" tIns="0" rIns="0" bIns="0" rtlCol="0" anchor="ctr"/>
          <a:lstStyle/>
          <a:p>
            <a:pPr marL="0" indent="0" algn="l">
              <a:buNone/>
            </a:pPr>
            <a:r>
              <a:rPr lang="en-US" sz="1300" b="1" dirty="0">
                <a:solidFill>
                  <a:srgbClr val="FFFFFF"/>
                </a:solidFill>
                <a:latin typeface="Space Grotesk" pitchFamily="34" charset="0"/>
                <a:ea typeface="Space Grotesk" pitchFamily="34" charset="-122"/>
                <a:cs typeface="Space Grotesk" pitchFamily="34" charset="-120"/>
              </a:rPr>
              <a:t>Project Summary</a:t>
            </a:r>
            <a:endParaRPr lang="en-US" sz="1300" dirty="0"/>
          </a:p>
        </p:txBody>
      </p:sp>
      <p:sp>
        <p:nvSpPr>
          <p:cNvPr id="38" name="Text 27"/>
          <p:cNvSpPr txBox="1"/>
          <p:nvPr/>
        </p:nvSpPr>
        <p:spPr>
          <a:xfrm>
            <a:off x="685800" y="1781251"/>
            <a:ext cx="6177686" cy="600761"/>
          </a:xfrm>
          <a:prstGeom prst="rect">
            <a:avLst/>
          </a:prstGeom>
          <a:noFill/>
          <a:ln/>
        </p:spPr>
        <p:txBody>
          <a:bodyPr wrap="square" lIns="0" tIns="0" rIns="0" bIns="0" rtlCol="0" anchor="ctr"/>
          <a:lstStyle/>
          <a:p>
            <a:pPr marL="0" indent="0" algn="l">
              <a:buNone/>
            </a:pPr>
            <a:r>
              <a:rPr lang="en-US" sz="1000" dirty="0">
                <a:solidFill>
                  <a:srgbClr val="D1D5DB"/>
                </a:solidFill>
                <a:latin typeface="Inter" pitchFamily="34" charset="0"/>
                <a:ea typeface="Inter" pitchFamily="34" charset="-122"/>
                <a:cs typeface="Inter" pitchFamily="34" charset="-120"/>
              </a:rPr>
              <a:t>This project demonstrates how structured SQL analysis can effectively replace complex ML models for initial threat detection. By focusing on data cleaning, exploratory analysis, and logical reasoning, we transformed raw AWS CloudWatch logs into actionable security intelligence.</a:t>
            </a:r>
            <a:endParaRPr lang="en-US" sz="1000" dirty="0"/>
          </a:p>
        </p:txBody>
      </p:sp>
      <p:pic>
        <p:nvPicPr>
          <p:cNvPr id="39" name="Image 9" descr="preencoded.png"/>
          <p:cNvPicPr>
            <a:picLocks noChangeAspect="1"/>
          </p:cNvPicPr>
          <p:nvPr/>
        </p:nvPicPr>
        <p:blipFill>
          <a:blip r:embed="rId11"/>
          <a:srcRect/>
          <a:stretch/>
        </p:blipFill>
        <p:spPr>
          <a:xfrm>
            <a:off x="619049" y="3300070"/>
            <a:ext cx="171907" cy="171907"/>
          </a:xfrm>
          <a:prstGeom prst="rect">
            <a:avLst/>
          </a:prstGeom>
        </p:spPr>
      </p:pic>
      <p:sp>
        <p:nvSpPr>
          <p:cNvPr id="40" name="Text 28"/>
          <p:cNvSpPr txBox="1"/>
          <p:nvPr/>
        </p:nvSpPr>
        <p:spPr>
          <a:xfrm>
            <a:off x="619049" y="3612794"/>
            <a:ext cx="1700784" cy="171907"/>
          </a:xfrm>
          <a:prstGeom prst="rect">
            <a:avLst/>
          </a:prstGeom>
          <a:noFill/>
          <a:ln/>
        </p:spPr>
        <p:txBody>
          <a:bodyPr wrap="square" lIns="0" tIns="0" rIns="0" bIns="0" rtlCol="0" anchor="ctr"/>
          <a:lstStyle/>
          <a:p>
            <a:pPr marL="0" indent="0" algn="l">
              <a:buNone/>
            </a:pPr>
            <a:r>
              <a:rPr lang="en-US" sz="1000" b="1" dirty="0">
                <a:solidFill>
                  <a:srgbClr val="FFFFFF"/>
                </a:solidFill>
                <a:latin typeface="Space Grotesk" pitchFamily="34" charset="0"/>
                <a:ea typeface="Space Grotesk" pitchFamily="34" charset="-122"/>
                <a:cs typeface="Space Grotesk" pitchFamily="34" charset="-120"/>
              </a:rPr>
              <a:t>Cost-Effective Detection</a:t>
            </a:r>
            <a:endParaRPr lang="en-US" sz="1000" dirty="0"/>
          </a:p>
        </p:txBody>
      </p:sp>
      <p:sp>
        <p:nvSpPr>
          <p:cNvPr id="41" name="Text 29"/>
          <p:cNvSpPr txBox="1"/>
          <p:nvPr/>
        </p:nvSpPr>
        <p:spPr>
          <a:xfrm>
            <a:off x="619049" y="3831336"/>
            <a:ext cx="2991002" cy="457200"/>
          </a:xfrm>
          <a:prstGeom prst="rect">
            <a:avLst/>
          </a:prstGeom>
          <a:noFill/>
          <a:ln/>
        </p:spPr>
        <p:txBody>
          <a:bodyPr wrap="square" lIns="0" tIns="0" rIns="0" bIns="0" rtlCol="0" anchor="ctr"/>
          <a:lstStyle/>
          <a:p>
            <a:pPr marL="0" indent="0" algn="l">
              <a:buNone/>
            </a:pPr>
            <a:r>
              <a:rPr lang="en-US" sz="900" dirty="0">
                <a:solidFill>
                  <a:srgbClr val="9CA3AF"/>
                </a:solidFill>
                <a:latin typeface="Inter" pitchFamily="34" charset="0"/>
                <a:ea typeface="Inter" pitchFamily="34" charset="-122"/>
                <a:cs typeface="Inter" pitchFamily="34" charset="-120"/>
              </a:rPr>
              <a:t>Utilizes existing database infrastructure without requiring expensive third-party security tools or high-compute ML resources.</a:t>
            </a:r>
            <a:endParaRPr lang="en-US" sz="900" dirty="0"/>
          </a:p>
        </p:txBody>
      </p:sp>
      <p:pic>
        <p:nvPicPr>
          <p:cNvPr id="42" name="Image 10" descr="preencoded.png"/>
          <p:cNvPicPr>
            <a:picLocks noChangeAspect="1"/>
          </p:cNvPicPr>
          <p:nvPr/>
        </p:nvPicPr>
        <p:blipFill>
          <a:blip r:embed="rId12"/>
          <a:srcRect l="-1773" r="-1773"/>
          <a:stretch/>
        </p:blipFill>
        <p:spPr>
          <a:xfrm>
            <a:off x="3968496" y="3300070"/>
            <a:ext cx="133502" cy="171907"/>
          </a:xfrm>
          <a:prstGeom prst="rect">
            <a:avLst/>
          </a:prstGeom>
        </p:spPr>
      </p:pic>
      <p:sp>
        <p:nvSpPr>
          <p:cNvPr id="43" name="Text 30"/>
          <p:cNvSpPr txBox="1"/>
          <p:nvPr/>
        </p:nvSpPr>
        <p:spPr>
          <a:xfrm>
            <a:off x="3968496" y="3612794"/>
            <a:ext cx="862279" cy="171907"/>
          </a:xfrm>
          <a:prstGeom prst="rect">
            <a:avLst/>
          </a:prstGeom>
          <a:noFill/>
          <a:ln/>
        </p:spPr>
        <p:txBody>
          <a:bodyPr wrap="square" lIns="0" tIns="0" rIns="0" bIns="0" rtlCol="0" anchor="ctr"/>
          <a:lstStyle/>
          <a:p>
            <a:pPr marL="0" indent="0" algn="l">
              <a:buNone/>
            </a:pPr>
            <a:r>
              <a:rPr lang="en-US" sz="1000" b="1" dirty="0">
                <a:solidFill>
                  <a:srgbClr val="FFFFFF"/>
                </a:solidFill>
                <a:latin typeface="Space Grotesk" pitchFamily="34" charset="0"/>
                <a:ea typeface="Space Grotesk" pitchFamily="34" charset="-122"/>
                <a:cs typeface="Space Grotesk" pitchFamily="34" charset="-120"/>
              </a:rPr>
              <a:t>Auditability</a:t>
            </a:r>
            <a:endParaRPr lang="en-US" sz="1000" dirty="0"/>
          </a:p>
        </p:txBody>
      </p:sp>
      <p:sp>
        <p:nvSpPr>
          <p:cNvPr id="44" name="Text 31"/>
          <p:cNvSpPr txBox="1"/>
          <p:nvPr/>
        </p:nvSpPr>
        <p:spPr>
          <a:xfrm>
            <a:off x="3968496" y="3831336"/>
            <a:ext cx="2667305" cy="457200"/>
          </a:xfrm>
          <a:prstGeom prst="rect">
            <a:avLst/>
          </a:prstGeom>
          <a:noFill/>
          <a:ln/>
        </p:spPr>
        <p:txBody>
          <a:bodyPr wrap="square" lIns="0" tIns="0" rIns="0" bIns="0" rtlCol="0" anchor="ctr"/>
          <a:lstStyle/>
          <a:p>
            <a:pPr marL="0" indent="0" algn="l">
              <a:buNone/>
            </a:pPr>
            <a:r>
              <a:rPr lang="en-US" sz="900" dirty="0">
                <a:solidFill>
                  <a:srgbClr val="9CA3AF"/>
                </a:solidFill>
                <a:latin typeface="Inter" pitchFamily="34" charset="0"/>
                <a:ea typeface="Inter" pitchFamily="34" charset="-122"/>
                <a:cs typeface="Inter" pitchFamily="34" charset="-120"/>
              </a:rPr>
              <a:t>SQL-based logic provides fully transparent and explainable findings, crucial for compliance and security auditing.</a:t>
            </a:r>
            <a:endParaRPr lang="en-US" sz="900" dirty="0"/>
          </a:p>
        </p:txBody>
      </p:sp>
      <p:pic>
        <p:nvPicPr>
          <p:cNvPr id="45" name="Image 11" descr="preencoded.png"/>
          <p:cNvPicPr>
            <a:picLocks noChangeAspect="1"/>
          </p:cNvPicPr>
          <p:nvPr/>
        </p:nvPicPr>
        <p:blipFill>
          <a:blip r:embed="rId13"/>
          <a:srcRect l="-760" r="-760"/>
          <a:stretch/>
        </p:blipFill>
        <p:spPr>
          <a:xfrm>
            <a:off x="619049" y="4946904"/>
            <a:ext cx="152705" cy="171907"/>
          </a:xfrm>
          <a:prstGeom prst="rect">
            <a:avLst/>
          </a:prstGeom>
        </p:spPr>
      </p:pic>
      <p:sp>
        <p:nvSpPr>
          <p:cNvPr id="46" name="Text 32"/>
          <p:cNvSpPr txBox="1"/>
          <p:nvPr/>
        </p:nvSpPr>
        <p:spPr>
          <a:xfrm>
            <a:off x="619049" y="5258714"/>
            <a:ext cx="1586484" cy="171907"/>
          </a:xfrm>
          <a:prstGeom prst="rect">
            <a:avLst/>
          </a:prstGeom>
          <a:noFill/>
          <a:ln/>
        </p:spPr>
        <p:txBody>
          <a:bodyPr wrap="square" lIns="0" tIns="0" rIns="0" bIns="0" rtlCol="0" anchor="ctr"/>
          <a:lstStyle/>
          <a:p>
            <a:pPr marL="0" indent="0" algn="l">
              <a:buNone/>
            </a:pPr>
            <a:r>
              <a:rPr lang="en-US" sz="1000" b="1" dirty="0">
                <a:solidFill>
                  <a:srgbClr val="FFFFFF"/>
                </a:solidFill>
                <a:latin typeface="Space Grotesk" pitchFamily="34" charset="0"/>
                <a:ea typeface="Space Grotesk" pitchFamily="34" charset="-122"/>
                <a:cs typeface="Space Grotesk" pitchFamily="34" charset="-120"/>
              </a:rPr>
              <a:t>Actionable Intelligence</a:t>
            </a:r>
            <a:endParaRPr lang="en-US" sz="1000" dirty="0"/>
          </a:p>
        </p:txBody>
      </p:sp>
      <p:sp>
        <p:nvSpPr>
          <p:cNvPr id="47" name="Text 33"/>
          <p:cNvSpPr txBox="1"/>
          <p:nvPr/>
        </p:nvSpPr>
        <p:spPr>
          <a:xfrm>
            <a:off x="619049" y="5478170"/>
            <a:ext cx="2743200" cy="457200"/>
          </a:xfrm>
          <a:prstGeom prst="rect">
            <a:avLst/>
          </a:prstGeom>
          <a:noFill/>
          <a:ln/>
        </p:spPr>
        <p:txBody>
          <a:bodyPr wrap="square" lIns="0" tIns="0" rIns="0" bIns="0" rtlCol="0" anchor="ctr"/>
          <a:lstStyle/>
          <a:p>
            <a:pPr marL="0" indent="0" algn="l">
              <a:buNone/>
            </a:pPr>
            <a:r>
              <a:rPr lang="en-US" sz="900" dirty="0">
                <a:solidFill>
                  <a:srgbClr val="9CA3AF"/>
                </a:solidFill>
                <a:latin typeface="Inter" pitchFamily="34" charset="0"/>
                <a:ea typeface="Inter" pitchFamily="34" charset="-122"/>
                <a:cs typeface="Inter" pitchFamily="34" charset="-120"/>
              </a:rPr>
              <a:t>Highlights specific geographic hotspots and port behaviors, allowing teams to prioritize monitoring resources effectively.</a:t>
            </a:r>
            <a:endParaRPr lang="en-US" sz="900" dirty="0"/>
          </a:p>
        </p:txBody>
      </p:sp>
      <p:pic>
        <p:nvPicPr>
          <p:cNvPr id="48" name="Image 12" descr="preencoded.png"/>
          <p:cNvPicPr>
            <a:picLocks noChangeAspect="1"/>
          </p:cNvPicPr>
          <p:nvPr/>
        </p:nvPicPr>
        <p:blipFill>
          <a:blip r:embed="rId14"/>
          <a:srcRect/>
          <a:stretch/>
        </p:blipFill>
        <p:spPr>
          <a:xfrm>
            <a:off x="3968496" y="4946904"/>
            <a:ext cx="171907" cy="171907"/>
          </a:xfrm>
          <a:prstGeom prst="rect">
            <a:avLst/>
          </a:prstGeom>
        </p:spPr>
      </p:pic>
      <p:sp>
        <p:nvSpPr>
          <p:cNvPr id="49" name="Text 34"/>
          <p:cNvSpPr txBox="1"/>
          <p:nvPr/>
        </p:nvSpPr>
        <p:spPr>
          <a:xfrm>
            <a:off x="3968496" y="5258714"/>
            <a:ext cx="1100938" cy="171907"/>
          </a:xfrm>
          <a:prstGeom prst="rect">
            <a:avLst/>
          </a:prstGeom>
          <a:noFill/>
          <a:ln/>
        </p:spPr>
        <p:txBody>
          <a:bodyPr wrap="square" lIns="0" tIns="0" rIns="0" bIns="0" rtlCol="0" anchor="ctr"/>
          <a:lstStyle/>
          <a:p>
            <a:pPr marL="0" indent="0" algn="l">
              <a:buNone/>
            </a:pPr>
            <a:r>
              <a:rPr lang="en-US" sz="1000" b="1" dirty="0">
                <a:solidFill>
                  <a:srgbClr val="FFFFFF"/>
                </a:solidFill>
                <a:latin typeface="Space Grotesk" pitchFamily="34" charset="0"/>
                <a:ea typeface="Space Grotesk" pitchFamily="34" charset="-122"/>
                <a:cs typeface="Space Grotesk" pitchFamily="34" charset="-120"/>
              </a:rPr>
              <a:t>Reproducibility</a:t>
            </a:r>
            <a:endParaRPr lang="en-US" sz="1000" dirty="0"/>
          </a:p>
        </p:txBody>
      </p:sp>
      <p:sp>
        <p:nvSpPr>
          <p:cNvPr id="50" name="Text 35"/>
          <p:cNvSpPr txBox="1"/>
          <p:nvPr/>
        </p:nvSpPr>
        <p:spPr>
          <a:xfrm>
            <a:off x="3968496" y="5478170"/>
            <a:ext cx="2791663" cy="305410"/>
          </a:xfrm>
          <a:prstGeom prst="rect">
            <a:avLst/>
          </a:prstGeom>
          <a:noFill/>
          <a:ln/>
        </p:spPr>
        <p:txBody>
          <a:bodyPr wrap="square" lIns="0" tIns="0" rIns="0" bIns="0" rtlCol="0" anchor="ctr"/>
          <a:lstStyle/>
          <a:p>
            <a:pPr marL="0" indent="0" algn="l">
              <a:buNone/>
            </a:pPr>
            <a:r>
              <a:rPr lang="en-US" sz="900" dirty="0">
                <a:solidFill>
                  <a:srgbClr val="9CA3AF"/>
                </a:solidFill>
                <a:latin typeface="Inter" pitchFamily="34" charset="0"/>
                <a:ea typeface="Inter" pitchFamily="34" charset="-122"/>
                <a:cs typeface="Inter" pitchFamily="34" charset="-120"/>
              </a:rPr>
              <a:t>Structured workflow allows for automated daily reporting and consistent threat tracking over time.</a:t>
            </a:r>
            <a:endParaRPr lang="en-US" sz="900" dirty="0"/>
          </a:p>
        </p:txBody>
      </p:sp>
      <p:sp>
        <p:nvSpPr>
          <p:cNvPr id="51" name="Text 36"/>
          <p:cNvSpPr txBox="1"/>
          <p:nvPr/>
        </p:nvSpPr>
        <p:spPr>
          <a:xfrm>
            <a:off x="8078724" y="1485900"/>
            <a:ext cx="2328977" cy="219456"/>
          </a:xfrm>
          <a:prstGeom prst="rect">
            <a:avLst/>
          </a:prstGeom>
          <a:noFill/>
          <a:ln/>
        </p:spPr>
        <p:txBody>
          <a:bodyPr wrap="square" lIns="0" tIns="0" rIns="0" bIns="0" rtlCol="0" anchor="ctr"/>
          <a:lstStyle/>
          <a:p>
            <a:pPr marL="0" indent="0" algn="l">
              <a:buNone/>
            </a:pPr>
            <a:r>
              <a:rPr lang="en-US" sz="1300" b="1" dirty="0">
                <a:solidFill>
                  <a:srgbClr val="FFFFFF"/>
                </a:solidFill>
                <a:latin typeface="Space Grotesk" pitchFamily="34" charset="0"/>
                <a:ea typeface="Space Grotesk" pitchFamily="34" charset="-122"/>
                <a:cs typeface="Space Grotesk" pitchFamily="34" charset="-120"/>
              </a:rPr>
              <a:t>Demonstrated Capabilities</a:t>
            </a:r>
            <a:endParaRPr lang="en-US" sz="1300" dirty="0"/>
          </a:p>
        </p:txBody>
      </p:sp>
      <p:sp>
        <p:nvSpPr>
          <p:cNvPr id="52" name="Text 37"/>
          <p:cNvSpPr txBox="1"/>
          <p:nvPr/>
        </p:nvSpPr>
        <p:spPr>
          <a:xfrm>
            <a:off x="8078724" y="1733702"/>
            <a:ext cx="1629461" cy="143561"/>
          </a:xfrm>
          <a:prstGeom prst="rect">
            <a:avLst/>
          </a:prstGeom>
          <a:noFill/>
          <a:ln/>
        </p:spPr>
        <p:txBody>
          <a:bodyPr wrap="square" lIns="0" tIns="0" rIns="0" bIns="0" rtlCol="0" anchor="ctr"/>
          <a:lstStyle/>
          <a:p>
            <a:pPr marL="0" indent="0" algn="l">
              <a:buNone/>
            </a:pPr>
            <a:r>
              <a:rPr lang="en-US" sz="900" dirty="0">
                <a:solidFill>
                  <a:srgbClr val="9CA3AF"/>
                </a:solidFill>
                <a:latin typeface="Inter" pitchFamily="34" charset="0"/>
                <a:ea typeface="Inter" pitchFamily="34" charset="-122"/>
                <a:cs typeface="Inter" pitchFamily="34" charset="-120"/>
              </a:rPr>
              <a:t>DATA ANALYTICS INTERN</a:t>
            </a:r>
            <a:endParaRPr lang="en-US" sz="900" dirty="0"/>
          </a:p>
        </p:txBody>
      </p:sp>
      <p:sp>
        <p:nvSpPr>
          <p:cNvPr id="53" name="Text 38"/>
          <p:cNvSpPr txBox="1"/>
          <p:nvPr/>
        </p:nvSpPr>
        <p:spPr>
          <a:xfrm>
            <a:off x="7802575" y="2247595"/>
            <a:ext cx="1754734" cy="152705"/>
          </a:xfrm>
          <a:prstGeom prst="rect">
            <a:avLst/>
          </a:prstGeom>
          <a:noFill/>
          <a:ln/>
        </p:spPr>
        <p:txBody>
          <a:bodyPr wrap="square" lIns="0" tIns="0" rIns="0" bIns="0" rtlCol="0" anchor="ctr"/>
          <a:lstStyle/>
          <a:p>
            <a:pPr marL="0" indent="0" algn="l">
              <a:buNone/>
            </a:pPr>
            <a:r>
              <a:rPr lang="en-US" sz="1000" dirty="0">
                <a:solidFill>
                  <a:srgbClr val="E0F2FE"/>
                </a:solidFill>
                <a:latin typeface="Inter" pitchFamily="34" charset="0"/>
                <a:ea typeface="Inter" pitchFamily="34" charset="-122"/>
                <a:cs typeface="Inter" pitchFamily="34" charset="-120"/>
              </a:rPr>
              <a:t>Advanced SQL Proficiency</a:t>
            </a:r>
            <a:endParaRPr lang="en-US" sz="1000" dirty="0"/>
          </a:p>
        </p:txBody>
      </p:sp>
      <p:sp>
        <p:nvSpPr>
          <p:cNvPr id="54" name="Text 39"/>
          <p:cNvSpPr txBox="1"/>
          <p:nvPr/>
        </p:nvSpPr>
        <p:spPr>
          <a:xfrm>
            <a:off x="7888529" y="2546604"/>
            <a:ext cx="3182112" cy="295351"/>
          </a:xfrm>
          <a:prstGeom prst="rect">
            <a:avLst/>
          </a:prstGeom>
          <a:noFill/>
          <a:ln/>
        </p:spPr>
        <p:txBody>
          <a:bodyPr wrap="square" lIns="0" tIns="0" rIns="0" bIns="0" rtlCol="0" anchor="ctr"/>
          <a:lstStyle/>
          <a:p>
            <a:pPr marL="0" indent="0" algn="l">
              <a:buNone/>
            </a:pPr>
            <a:r>
              <a:rPr lang="en-US" sz="900" dirty="0">
                <a:solidFill>
                  <a:srgbClr val="9CA3AF"/>
                </a:solidFill>
                <a:latin typeface="Inter" pitchFamily="34" charset="0"/>
                <a:ea typeface="Inter" pitchFamily="34" charset="-122"/>
                <a:cs typeface="Inter" pitchFamily="34" charset="-120"/>
              </a:rPr>
              <a:t>Complex joins, aggregations, window functions, and data cleaning.</a:t>
            </a:r>
            <a:endParaRPr lang="en-US" sz="900" dirty="0"/>
          </a:p>
        </p:txBody>
      </p:sp>
      <p:sp>
        <p:nvSpPr>
          <p:cNvPr id="55" name="Text 40"/>
          <p:cNvSpPr txBox="1"/>
          <p:nvPr/>
        </p:nvSpPr>
        <p:spPr>
          <a:xfrm>
            <a:off x="7821778" y="3052267"/>
            <a:ext cx="1288390" cy="152705"/>
          </a:xfrm>
          <a:prstGeom prst="rect">
            <a:avLst/>
          </a:prstGeom>
          <a:noFill/>
          <a:ln/>
        </p:spPr>
        <p:txBody>
          <a:bodyPr wrap="square" lIns="0" tIns="0" rIns="0" bIns="0" rtlCol="0" anchor="ctr"/>
          <a:lstStyle/>
          <a:p>
            <a:pPr marL="0" indent="0" algn="l">
              <a:buNone/>
            </a:pPr>
            <a:r>
              <a:rPr lang="en-US" sz="1000" dirty="0">
                <a:solidFill>
                  <a:srgbClr val="E0F2FE"/>
                </a:solidFill>
                <a:latin typeface="Inter" pitchFamily="34" charset="0"/>
                <a:ea typeface="Inter" pitchFamily="34" charset="-122"/>
                <a:cs typeface="Inter" pitchFamily="34" charset="-120"/>
              </a:rPr>
              <a:t>Analytical Thinking</a:t>
            </a:r>
            <a:endParaRPr lang="en-US" sz="1000" dirty="0"/>
          </a:p>
        </p:txBody>
      </p:sp>
      <p:sp>
        <p:nvSpPr>
          <p:cNvPr id="56" name="Text 41"/>
          <p:cNvSpPr txBox="1"/>
          <p:nvPr/>
        </p:nvSpPr>
        <p:spPr>
          <a:xfrm>
            <a:off x="7888529" y="3351276"/>
            <a:ext cx="3686861" cy="143561"/>
          </a:xfrm>
          <a:prstGeom prst="rect">
            <a:avLst/>
          </a:prstGeom>
          <a:noFill/>
          <a:ln/>
        </p:spPr>
        <p:txBody>
          <a:bodyPr wrap="square" lIns="0" tIns="0" rIns="0" bIns="0" rtlCol="0" anchor="ctr"/>
          <a:lstStyle/>
          <a:p>
            <a:pPr marL="0" indent="0" algn="l">
              <a:buNone/>
            </a:pPr>
            <a:r>
              <a:rPr lang="en-US" sz="900" dirty="0">
                <a:solidFill>
                  <a:srgbClr val="9CA3AF"/>
                </a:solidFill>
                <a:latin typeface="Inter" pitchFamily="34" charset="0"/>
                <a:ea typeface="Inter" pitchFamily="34" charset="-122"/>
                <a:cs typeface="Inter" pitchFamily="34" charset="-120"/>
              </a:rPr>
              <a:t>Translating raw operational data into meaningful business insights.</a:t>
            </a:r>
            <a:endParaRPr lang="en-US" sz="900" dirty="0"/>
          </a:p>
        </p:txBody>
      </p:sp>
      <p:sp>
        <p:nvSpPr>
          <p:cNvPr id="57" name="Text 42"/>
          <p:cNvSpPr txBox="1"/>
          <p:nvPr/>
        </p:nvSpPr>
        <p:spPr>
          <a:xfrm>
            <a:off x="7821778" y="3703320"/>
            <a:ext cx="1307592" cy="152705"/>
          </a:xfrm>
          <a:prstGeom prst="rect">
            <a:avLst/>
          </a:prstGeom>
          <a:noFill/>
          <a:ln/>
        </p:spPr>
        <p:txBody>
          <a:bodyPr wrap="square" lIns="0" tIns="0" rIns="0" bIns="0" rtlCol="0" anchor="ctr"/>
          <a:lstStyle/>
          <a:p>
            <a:pPr marL="0" indent="0" algn="l">
              <a:buNone/>
            </a:pPr>
            <a:r>
              <a:rPr lang="en-US" sz="1000" dirty="0">
                <a:solidFill>
                  <a:srgbClr val="E0F2FE"/>
                </a:solidFill>
                <a:latin typeface="Inter" pitchFamily="34" charset="0"/>
                <a:ea typeface="Inter" pitchFamily="34" charset="-122"/>
                <a:cs typeface="Inter" pitchFamily="34" charset="-120"/>
              </a:rPr>
              <a:t>Domain Application</a:t>
            </a:r>
            <a:endParaRPr lang="en-US" sz="1000" dirty="0"/>
          </a:p>
        </p:txBody>
      </p:sp>
      <p:sp>
        <p:nvSpPr>
          <p:cNvPr id="58" name="Text 43"/>
          <p:cNvSpPr txBox="1"/>
          <p:nvPr/>
        </p:nvSpPr>
        <p:spPr>
          <a:xfrm>
            <a:off x="7888529" y="4002329"/>
            <a:ext cx="3286354" cy="143561"/>
          </a:xfrm>
          <a:prstGeom prst="rect">
            <a:avLst/>
          </a:prstGeom>
          <a:noFill/>
          <a:ln/>
        </p:spPr>
        <p:txBody>
          <a:bodyPr wrap="square" lIns="0" tIns="0" rIns="0" bIns="0" rtlCol="0" anchor="ctr"/>
          <a:lstStyle/>
          <a:p>
            <a:pPr marL="0" indent="0" algn="l">
              <a:buNone/>
            </a:pPr>
            <a:r>
              <a:rPr lang="en-US" sz="900" dirty="0">
                <a:solidFill>
                  <a:srgbClr val="9CA3AF"/>
                </a:solidFill>
                <a:latin typeface="Inter" pitchFamily="34" charset="0"/>
                <a:ea typeface="Inter" pitchFamily="34" charset="-122"/>
                <a:cs typeface="Inter" pitchFamily="34" charset="-120"/>
              </a:rPr>
              <a:t>Applying data skills to real-world cybersecurity challenges.</a:t>
            </a:r>
            <a:endParaRPr lang="en-US" sz="900" dirty="0"/>
          </a:p>
        </p:txBody>
      </p:sp>
      <p:sp>
        <p:nvSpPr>
          <p:cNvPr id="59" name="Text 44"/>
          <p:cNvSpPr txBox="1"/>
          <p:nvPr/>
        </p:nvSpPr>
        <p:spPr>
          <a:xfrm>
            <a:off x="7850124" y="4355287"/>
            <a:ext cx="1707185" cy="152705"/>
          </a:xfrm>
          <a:prstGeom prst="rect">
            <a:avLst/>
          </a:prstGeom>
          <a:noFill/>
          <a:ln/>
        </p:spPr>
        <p:txBody>
          <a:bodyPr wrap="square" lIns="0" tIns="0" rIns="0" bIns="0" rtlCol="0" anchor="ctr"/>
          <a:lstStyle/>
          <a:p>
            <a:pPr marL="0" indent="0" algn="l">
              <a:buNone/>
            </a:pPr>
            <a:r>
              <a:rPr lang="en-US" sz="1000" dirty="0">
                <a:solidFill>
                  <a:srgbClr val="E0F2FE"/>
                </a:solidFill>
                <a:latin typeface="Inter" pitchFamily="34" charset="0"/>
                <a:ea typeface="Inter" pitchFamily="34" charset="-122"/>
                <a:cs typeface="Inter" pitchFamily="34" charset="-120"/>
              </a:rPr>
              <a:t>Technical Communication</a:t>
            </a:r>
            <a:endParaRPr lang="en-US" sz="1000" dirty="0"/>
          </a:p>
        </p:txBody>
      </p:sp>
      <p:sp>
        <p:nvSpPr>
          <p:cNvPr id="60" name="Text 45"/>
          <p:cNvSpPr txBox="1"/>
          <p:nvPr/>
        </p:nvSpPr>
        <p:spPr>
          <a:xfrm>
            <a:off x="7888529" y="4654296"/>
            <a:ext cx="2943454" cy="143561"/>
          </a:xfrm>
          <a:prstGeom prst="rect">
            <a:avLst/>
          </a:prstGeom>
          <a:noFill/>
          <a:ln/>
        </p:spPr>
        <p:txBody>
          <a:bodyPr wrap="square" lIns="0" tIns="0" rIns="0" bIns="0" rtlCol="0" anchor="ctr"/>
          <a:lstStyle/>
          <a:p>
            <a:pPr marL="0" indent="0" algn="l">
              <a:buNone/>
            </a:pPr>
            <a:r>
              <a:rPr lang="en-US" sz="900" dirty="0">
                <a:solidFill>
                  <a:srgbClr val="9CA3AF"/>
                </a:solidFill>
                <a:latin typeface="Inter" pitchFamily="34" charset="0"/>
                <a:ea typeface="Inter" pitchFamily="34" charset="-122"/>
                <a:cs typeface="Inter" pitchFamily="34" charset="-120"/>
              </a:rPr>
              <a:t>Presenting technical findings clearly to stakeholders.</a:t>
            </a:r>
            <a:endParaRPr lang="en-US" sz="900" dirty="0"/>
          </a:p>
        </p:txBody>
      </p:sp>
      <p:sp>
        <p:nvSpPr>
          <p:cNvPr id="61" name="Text 46"/>
          <p:cNvSpPr txBox="1"/>
          <p:nvPr/>
        </p:nvSpPr>
        <p:spPr>
          <a:xfrm>
            <a:off x="7584034" y="5886907"/>
            <a:ext cx="1239012" cy="143561"/>
          </a:xfrm>
          <a:prstGeom prst="rect">
            <a:avLst/>
          </a:prstGeom>
          <a:noFill/>
          <a:ln/>
        </p:spPr>
        <p:txBody>
          <a:bodyPr wrap="square" lIns="0" tIns="0" rIns="0" bIns="0" rtlCol="0" anchor="ctr"/>
          <a:lstStyle/>
          <a:p>
            <a:pPr marL="0" indent="0" algn="l">
              <a:buNone/>
            </a:pPr>
            <a:r>
              <a:rPr lang="en-US" sz="900" dirty="0">
                <a:solidFill>
                  <a:srgbClr val="9CA3AF"/>
                </a:solidFill>
                <a:latin typeface="Inter" pitchFamily="34" charset="0"/>
                <a:ea typeface="Inter" pitchFamily="34" charset="-122"/>
                <a:cs typeface="Inter" pitchFamily="34" charset="-120"/>
              </a:rPr>
              <a:t>Ready for Next Steps</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120"/>
          </a:solidFill>
          <a:ln/>
        </p:spPr>
      </p:sp>
      <p:sp>
        <p:nvSpPr>
          <p:cNvPr id="3" name="Shape 1"/>
          <p:cNvSpPr/>
          <p:nvPr/>
        </p:nvSpPr>
        <p:spPr>
          <a:xfrm>
            <a:off x="0" y="0"/>
            <a:ext cx="12191695" cy="6858000"/>
          </a:xfrm>
          <a:prstGeom prst="rect">
            <a:avLst/>
          </a:prstGeom>
          <a:solidFill>
            <a:srgbClr val="0B1120"/>
          </a:solidFill>
          <a:ln/>
        </p:spPr>
      </p:sp>
      <p:sp>
        <p:nvSpPr>
          <p:cNvPr id="4" name="Shape 2"/>
          <p:cNvSpPr/>
          <p:nvPr/>
        </p:nvSpPr>
        <p:spPr>
          <a:xfrm>
            <a:off x="1218895" y="0"/>
            <a:ext cx="9144" cy="6858000"/>
          </a:xfrm>
          <a:prstGeom prst="rect">
            <a:avLst/>
          </a:prstGeom>
          <a:solidFill>
            <a:srgbClr val="FFFFFF">
              <a:alpha val="3000"/>
            </a:srgbClr>
          </a:solidFill>
          <a:ln/>
        </p:spPr>
      </p:sp>
      <p:sp>
        <p:nvSpPr>
          <p:cNvPr id="5" name="Shape 3"/>
          <p:cNvSpPr/>
          <p:nvPr/>
        </p:nvSpPr>
        <p:spPr>
          <a:xfrm>
            <a:off x="2438705" y="0"/>
            <a:ext cx="9144" cy="6858000"/>
          </a:xfrm>
          <a:prstGeom prst="rect">
            <a:avLst/>
          </a:prstGeom>
          <a:solidFill>
            <a:srgbClr val="FFFFFF">
              <a:alpha val="3000"/>
            </a:srgbClr>
          </a:solidFill>
          <a:ln/>
        </p:spPr>
      </p:sp>
      <p:sp>
        <p:nvSpPr>
          <p:cNvPr id="6" name="Shape 4"/>
          <p:cNvSpPr/>
          <p:nvPr/>
        </p:nvSpPr>
        <p:spPr>
          <a:xfrm>
            <a:off x="3657600" y="0"/>
            <a:ext cx="9144" cy="6858000"/>
          </a:xfrm>
          <a:prstGeom prst="rect">
            <a:avLst/>
          </a:prstGeom>
          <a:solidFill>
            <a:srgbClr val="FFFFFF">
              <a:alpha val="3000"/>
            </a:srgbClr>
          </a:solidFill>
          <a:ln/>
        </p:spPr>
      </p:sp>
      <p:sp>
        <p:nvSpPr>
          <p:cNvPr id="7" name="Shape 5"/>
          <p:cNvSpPr/>
          <p:nvPr/>
        </p:nvSpPr>
        <p:spPr>
          <a:xfrm>
            <a:off x="4876495" y="0"/>
            <a:ext cx="9144" cy="6858000"/>
          </a:xfrm>
          <a:prstGeom prst="rect">
            <a:avLst/>
          </a:prstGeom>
          <a:solidFill>
            <a:srgbClr val="FFFFFF">
              <a:alpha val="3000"/>
            </a:srgbClr>
          </a:solidFill>
          <a:ln/>
        </p:spPr>
      </p:sp>
      <p:sp>
        <p:nvSpPr>
          <p:cNvPr id="8" name="Shape 6"/>
          <p:cNvSpPr/>
          <p:nvPr/>
        </p:nvSpPr>
        <p:spPr>
          <a:xfrm>
            <a:off x="6096305" y="0"/>
            <a:ext cx="9144" cy="6858000"/>
          </a:xfrm>
          <a:prstGeom prst="rect">
            <a:avLst/>
          </a:prstGeom>
          <a:solidFill>
            <a:srgbClr val="FFFFFF">
              <a:alpha val="3000"/>
            </a:srgbClr>
          </a:solidFill>
          <a:ln/>
        </p:spPr>
      </p:sp>
      <p:sp>
        <p:nvSpPr>
          <p:cNvPr id="9" name="Shape 7"/>
          <p:cNvSpPr/>
          <p:nvPr/>
        </p:nvSpPr>
        <p:spPr>
          <a:xfrm>
            <a:off x="7315200" y="0"/>
            <a:ext cx="9144" cy="6858000"/>
          </a:xfrm>
          <a:prstGeom prst="rect">
            <a:avLst/>
          </a:prstGeom>
          <a:solidFill>
            <a:srgbClr val="FFFFFF">
              <a:alpha val="3000"/>
            </a:srgbClr>
          </a:solidFill>
          <a:ln/>
        </p:spPr>
      </p:sp>
      <p:sp>
        <p:nvSpPr>
          <p:cNvPr id="10" name="Shape 8"/>
          <p:cNvSpPr/>
          <p:nvPr/>
        </p:nvSpPr>
        <p:spPr>
          <a:xfrm>
            <a:off x="8534095" y="0"/>
            <a:ext cx="9144" cy="6858000"/>
          </a:xfrm>
          <a:prstGeom prst="rect">
            <a:avLst/>
          </a:prstGeom>
          <a:solidFill>
            <a:srgbClr val="FFFFFF">
              <a:alpha val="3000"/>
            </a:srgbClr>
          </a:solidFill>
          <a:ln/>
        </p:spPr>
      </p:sp>
      <p:sp>
        <p:nvSpPr>
          <p:cNvPr id="11" name="Shape 9"/>
          <p:cNvSpPr/>
          <p:nvPr/>
        </p:nvSpPr>
        <p:spPr>
          <a:xfrm>
            <a:off x="9753905" y="0"/>
            <a:ext cx="9144" cy="6858000"/>
          </a:xfrm>
          <a:prstGeom prst="rect">
            <a:avLst/>
          </a:prstGeom>
          <a:solidFill>
            <a:srgbClr val="FFFFFF">
              <a:alpha val="3000"/>
            </a:srgbClr>
          </a:solidFill>
          <a:ln/>
        </p:spPr>
      </p:sp>
      <p:sp>
        <p:nvSpPr>
          <p:cNvPr id="12" name="Shape 10"/>
          <p:cNvSpPr/>
          <p:nvPr/>
        </p:nvSpPr>
        <p:spPr>
          <a:xfrm>
            <a:off x="10972800" y="0"/>
            <a:ext cx="9144" cy="6858000"/>
          </a:xfrm>
          <a:prstGeom prst="rect">
            <a:avLst/>
          </a:prstGeom>
          <a:solidFill>
            <a:srgbClr val="FFFFFF">
              <a:alpha val="3000"/>
            </a:srgbClr>
          </a:solidFill>
          <a:ln/>
        </p:spPr>
      </p:sp>
      <p:sp>
        <p:nvSpPr>
          <p:cNvPr id="13" name="Shape 11"/>
          <p:cNvSpPr/>
          <p:nvPr/>
        </p:nvSpPr>
        <p:spPr>
          <a:xfrm>
            <a:off x="0" y="685800"/>
            <a:ext cx="12191695" cy="9144"/>
          </a:xfrm>
          <a:prstGeom prst="rect">
            <a:avLst/>
          </a:prstGeom>
          <a:solidFill>
            <a:srgbClr val="FFFFFF">
              <a:alpha val="3000"/>
            </a:srgbClr>
          </a:solidFill>
          <a:ln/>
        </p:spPr>
      </p:sp>
      <p:sp>
        <p:nvSpPr>
          <p:cNvPr id="14" name="Shape 12"/>
          <p:cNvSpPr/>
          <p:nvPr/>
        </p:nvSpPr>
        <p:spPr>
          <a:xfrm>
            <a:off x="0" y="1371600"/>
            <a:ext cx="12191695" cy="9144"/>
          </a:xfrm>
          <a:prstGeom prst="rect">
            <a:avLst/>
          </a:prstGeom>
          <a:solidFill>
            <a:srgbClr val="FFFFFF">
              <a:alpha val="3000"/>
            </a:srgbClr>
          </a:solidFill>
          <a:ln/>
        </p:spPr>
      </p:sp>
      <p:sp>
        <p:nvSpPr>
          <p:cNvPr id="15" name="Shape 13"/>
          <p:cNvSpPr/>
          <p:nvPr/>
        </p:nvSpPr>
        <p:spPr>
          <a:xfrm>
            <a:off x="0" y="2057400"/>
            <a:ext cx="12191695" cy="9144"/>
          </a:xfrm>
          <a:prstGeom prst="rect">
            <a:avLst/>
          </a:prstGeom>
          <a:solidFill>
            <a:srgbClr val="FFFFFF">
              <a:alpha val="3000"/>
            </a:srgbClr>
          </a:solidFill>
          <a:ln/>
        </p:spPr>
      </p:sp>
      <p:sp>
        <p:nvSpPr>
          <p:cNvPr id="16" name="Shape 14"/>
          <p:cNvSpPr/>
          <p:nvPr/>
        </p:nvSpPr>
        <p:spPr>
          <a:xfrm>
            <a:off x="0" y="2743200"/>
            <a:ext cx="12191695" cy="9144"/>
          </a:xfrm>
          <a:prstGeom prst="rect">
            <a:avLst/>
          </a:prstGeom>
          <a:solidFill>
            <a:srgbClr val="FFFFFF">
              <a:alpha val="3000"/>
            </a:srgbClr>
          </a:solidFill>
          <a:ln/>
        </p:spPr>
      </p:sp>
      <p:sp>
        <p:nvSpPr>
          <p:cNvPr id="17" name="Shape 15"/>
          <p:cNvSpPr/>
          <p:nvPr/>
        </p:nvSpPr>
        <p:spPr>
          <a:xfrm>
            <a:off x="0" y="3429000"/>
            <a:ext cx="12191695" cy="9144"/>
          </a:xfrm>
          <a:prstGeom prst="rect">
            <a:avLst/>
          </a:prstGeom>
          <a:solidFill>
            <a:srgbClr val="FFFFFF">
              <a:alpha val="3000"/>
            </a:srgbClr>
          </a:solidFill>
          <a:ln/>
        </p:spPr>
      </p:sp>
      <p:sp>
        <p:nvSpPr>
          <p:cNvPr id="18" name="Shape 16"/>
          <p:cNvSpPr/>
          <p:nvPr/>
        </p:nvSpPr>
        <p:spPr>
          <a:xfrm>
            <a:off x="0" y="4114800"/>
            <a:ext cx="12191695" cy="9144"/>
          </a:xfrm>
          <a:prstGeom prst="rect">
            <a:avLst/>
          </a:prstGeom>
          <a:solidFill>
            <a:srgbClr val="FFFFFF">
              <a:alpha val="3000"/>
            </a:srgbClr>
          </a:solidFill>
          <a:ln/>
        </p:spPr>
      </p:sp>
      <p:sp>
        <p:nvSpPr>
          <p:cNvPr id="19" name="Shape 17"/>
          <p:cNvSpPr/>
          <p:nvPr/>
        </p:nvSpPr>
        <p:spPr>
          <a:xfrm>
            <a:off x="0" y="4800600"/>
            <a:ext cx="12191695" cy="9144"/>
          </a:xfrm>
          <a:prstGeom prst="rect">
            <a:avLst/>
          </a:prstGeom>
          <a:solidFill>
            <a:srgbClr val="FFFFFF">
              <a:alpha val="3000"/>
            </a:srgbClr>
          </a:solidFill>
          <a:ln/>
        </p:spPr>
      </p:sp>
      <p:sp>
        <p:nvSpPr>
          <p:cNvPr id="20" name="Shape 18"/>
          <p:cNvSpPr/>
          <p:nvPr/>
        </p:nvSpPr>
        <p:spPr>
          <a:xfrm>
            <a:off x="0" y="5486400"/>
            <a:ext cx="12191695" cy="9144"/>
          </a:xfrm>
          <a:prstGeom prst="rect">
            <a:avLst/>
          </a:prstGeom>
          <a:solidFill>
            <a:srgbClr val="FFFFFF">
              <a:alpha val="3000"/>
            </a:srgbClr>
          </a:solidFill>
          <a:ln/>
        </p:spPr>
      </p:sp>
      <p:sp>
        <p:nvSpPr>
          <p:cNvPr id="21" name="Shape 19"/>
          <p:cNvSpPr/>
          <p:nvPr/>
        </p:nvSpPr>
        <p:spPr>
          <a:xfrm>
            <a:off x="0" y="6172200"/>
            <a:ext cx="12191695" cy="9144"/>
          </a:xfrm>
          <a:prstGeom prst="rect">
            <a:avLst/>
          </a:prstGeom>
          <a:solidFill>
            <a:srgbClr val="FFFFFF">
              <a:alpha val="3000"/>
            </a:srgbClr>
          </a:solidFill>
          <a:ln/>
        </p:spPr>
      </p:sp>
      <p:sp>
        <p:nvSpPr>
          <p:cNvPr id="22" name="Shape 20"/>
          <p:cNvSpPr/>
          <p:nvPr/>
        </p:nvSpPr>
        <p:spPr>
          <a:xfrm>
            <a:off x="3047695" y="1714500"/>
            <a:ext cx="3657600" cy="3657600"/>
          </a:xfrm>
          <a:prstGeom prst="roundRect">
            <a:avLst>
              <a:gd name="adj" fmla="val 25000"/>
            </a:avLst>
          </a:prstGeom>
          <a:solidFill>
            <a:srgbClr val="1E3A8A">
              <a:alpha val="10000"/>
            </a:srgbClr>
          </a:solidFill>
          <a:ln/>
        </p:spPr>
      </p:sp>
      <p:sp>
        <p:nvSpPr>
          <p:cNvPr id="23" name="Shape 21"/>
          <p:cNvSpPr/>
          <p:nvPr/>
        </p:nvSpPr>
        <p:spPr>
          <a:xfrm>
            <a:off x="0" y="6400800"/>
            <a:ext cx="12191695" cy="457200"/>
          </a:xfrm>
          <a:prstGeom prst="rect">
            <a:avLst/>
          </a:prstGeom>
          <a:solidFill>
            <a:srgbClr val="111827">
              <a:alpha val="50000"/>
            </a:srgbClr>
          </a:solidFill>
          <a:ln/>
        </p:spPr>
      </p:sp>
      <p:sp>
        <p:nvSpPr>
          <p:cNvPr id="24" name="Shape 22"/>
          <p:cNvSpPr/>
          <p:nvPr/>
        </p:nvSpPr>
        <p:spPr>
          <a:xfrm>
            <a:off x="0" y="6400800"/>
            <a:ext cx="12191695" cy="9144"/>
          </a:xfrm>
          <a:prstGeom prst="rect">
            <a:avLst/>
          </a:prstGeom>
          <a:solidFill>
            <a:srgbClr val="1F2937"/>
          </a:solidFill>
          <a:ln/>
        </p:spPr>
      </p:sp>
      <p:sp>
        <p:nvSpPr>
          <p:cNvPr id="25" name="Shape 23"/>
          <p:cNvSpPr/>
          <p:nvPr/>
        </p:nvSpPr>
        <p:spPr>
          <a:xfrm>
            <a:off x="457200" y="6596482"/>
            <a:ext cx="75895" cy="75895"/>
          </a:xfrm>
          <a:prstGeom prst="ellipse">
            <a:avLst/>
          </a:prstGeom>
          <a:solidFill>
            <a:srgbClr val="38BDF8"/>
          </a:solidFill>
          <a:ln/>
        </p:spPr>
      </p:sp>
      <p:sp>
        <p:nvSpPr>
          <p:cNvPr id="26" name="Text 24"/>
          <p:cNvSpPr txBox="1"/>
          <p:nvPr/>
        </p:nvSpPr>
        <p:spPr>
          <a:xfrm>
            <a:off x="609905" y="6567221"/>
            <a:ext cx="1257300" cy="133502"/>
          </a:xfrm>
          <a:prstGeom prst="rect">
            <a:avLst/>
          </a:prstGeom>
          <a:noFill/>
          <a:ln/>
        </p:spPr>
        <p:txBody>
          <a:bodyPr wrap="square" lIns="0" tIns="0" rIns="0" bIns="0" rtlCol="0" anchor="ctr"/>
          <a:lstStyle/>
          <a:p>
            <a:pPr marL="0" indent="0" algn="l">
              <a:buNone/>
            </a:pPr>
            <a:r>
              <a:rPr lang="en-US" sz="900" b="1" dirty="0">
                <a:solidFill>
                  <a:srgbClr val="FFFFFF"/>
                </a:solidFill>
                <a:latin typeface="ui-monospace" pitchFamily="34" charset="0"/>
                <a:ea typeface="ui-monospace" pitchFamily="34" charset="-122"/>
                <a:cs typeface="ui-monospace" pitchFamily="34" charset="-120"/>
              </a:rPr>
              <a:t>SESSION COMPLETED</a:t>
            </a:r>
            <a:endParaRPr lang="en-US" sz="900" dirty="0"/>
          </a:p>
        </p:txBody>
      </p:sp>
      <p:sp>
        <p:nvSpPr>
          <p:cNvPr id="27" name="Text 25"/>
          <p:cNvSpPr txBox="1"/>
          <p:nvPr/>
        </p:nvSpPr>
        <p:spPr>
          <a:xfrm>
            <a:off x="9471355" y="6567221"/>
            <a:ext cx="2352751" cy="133502"/>
          </a:xfrm>
          <a:prstGeom prst="rect">
            <a:avLst/>
          </a:prstGeom>
          <a:noFill/>
          <a:ln/>
        </p:spPr>
        <p:txBody>
          <a:bodyPr wrap="square" lIns="0" tIns="0" rIns="0" bIns="0" rtlCol="0" anchor="ctr"/>
          <a:lstStyle/>
          <a:p>
            <a:pPr marL="0" indent="0" algn="l">
              <a:buNone/>
            </a:pPr>
            <a:r>
              <a:rPr lang="en-US" sz="900" dirty="0">
                <a:solidFill>
                  <a:srgbClr val="4B5563"/>
                </a:solidFill>
                <a:latin typeface="ui-monospace" pitchFamily="34" charset="0"/>
                <a:ea typeface="ui-monospace" pitchFamily="34" charset="-122"/>
                <a:cs typeface="ui-monospace" pitchFamily="34" charset="-120"/>
              </a:rPr>
              <a:t>2026 CYBERSECURITY PROJECT REPORT</a:t>
            </a:r>
            <a:endParaRPr lang="en-US" sz="900" dirty="0"/>
          </a:p>
        </p:txBody>
      </p:sp>
      <p:sp>
        <p:nvSpPr>
          <p:cNvPr id="28" name="Shape 26"/>
          <p:cNvSpPr/>
          <p:nvPr/>
        </p:nvSpPr>
        <p:spPr>
          <a:xfrm>
            <a:off x="5745412" y="2220346"/>
            <a:ext cx="952805" cy="952805"/>
          </a:xfrm>
          <a:prstGeom prst="ellipse">
            <a:avLst/>
          </a:prstGeom>
          <a:solidFill>
            <a:srgbClr val="0F172A">
              <a:alpha val="80000"/>
            </a:srgbClr>
          </a:solidFill>
          <a:ln w="12700">
            <a:solidFill>
              <a:srgbClr val="38BDF8"/>
            </a:solidFill>
            <a:prstDash val="solid"/>
          </a:ln>
          <a:effectLst>
            <a:outerShdw blurRad="292100" dist="12700" dir="16200000" algn="bl" rotWithShape="0">
              <a:srgbClr val="38BDF8">
                <a:alpha val="20000"/>
              </a:srgbClr>
            </a:outerShdw>
          </a:effectLst>
        </p:spPr>
      </p:sp>
      <p:pic>
        <p:nvPicPr>
          <p:cNvPr id="29" name="Image 0" descr="preencoded.png"/>
          <p:cNvPicPr>
            <a:picLocks noChangeAspect="1"/>
          </p:cNvPicPr>
          <p:nvPr/>
        </p:nvPicPr>
        <p:blipFill>
          <a:blip r:embed="rId3"/>
          <a:srcRect/>
          <a:stretch/>
        </p:blipFill>
        <p:spPr>
          <a:xfrm>
            <a:off x="6049908" y="2524841"/>
            <a:ext cx="342900" cy="342900"/>
          </a:xfrm>
          <a:prstGeom prst="rect">
            <a:avLst/>
          </a:prstGeom>
        </p:spPr>
      </p:pic>
      <p:sp>
        <p:nvSpPr>
          <p:cNvPr id="40" name="Text 32"/>
          <p:cNvSpPr txBox="1"/>
          <p:nvPr/>
        </p:nvSpPr>
        <p:spPr>
          <a:xfrm>
            <a:off x="4740250" y="3592788"/>
            <a:ext cx="3143707" cy="734263"/>
          </a:xfrm>
          <a:prstGeom prst="rect">
            <a:avLst/>
          </a:prstGeom>
          <a:noFill/>
          <a:ln/>
        </p:spPr>
        <p:txBody>
          <a:bodyPr wrap="square" lIns="0" tIns="0" rIns="0" bIns="0" rtlCol="0" anchor="ctr"/>
          <a:lstStyle/>
          <a:p>
            <a:pPr marL="0" indent="0" algn="ctr">
              <a:buNone/>
            </a:pPr>
            <a:r>
              <a:rPr lang="en-US" sz="4500" b="1" dirty="0">
                <a:solidFill>
                  <a:srgbClr val="FFFFFF"/>
                </a:solidFill>
                <a:latin typeface="Space Grotesk" pitchFamily="34" charset="0"/>
                <a:ea typeface="Space Grotesk" pitchFamily="34" charset="-122"/>
                <a:cs typeface="Space Grotesk" pitchFamily="34" charset="-120"/>
              </a:rPr>
              <a:t>Thank You</a:t>
            </a:r>
            <a:endParaRPr lang="en-US" sz="4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33</TotalTime>
  <Words>1539</Words>
  <Application>Microsoft Office PowerPoint</Application>
  <PresentationFormat>Widescreen</PresentationFormat>
  <Paragraphs>305</Paragraphs>
  <Slides>14</Slides>
  <Notes>14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Courier New</vt:lpstr>
      <vt:lpstr>Inter</vt:lpstr>
      <vt:lpstr>Space Grotesk</vt:lpstr>
      <vt:lpstr>ui-monospace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Generated by Gen-Spark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Multi-page HTML Content</dc:title>
  <dc:subject>PptxGenJS Presentation</dc:subject>
  <dc:creator>Visual Extract to PPTX Converter</dc:creator>
  <cp:lastModifiedBy>Bindas Pratik</cp:lastModifiedBy>
  <cp:revision>10</cp:revision>
  <dcterms:created xsi:type="dcterms:W3CDTF">2026-01-11T11:40:41Z</dcterms:created>
  <dcterms:modified xsi:type="dcterms:W3CDTF">2026-01-11T13:46:46Z</dcterms:modified>
</cp:coreProperties>
</file>